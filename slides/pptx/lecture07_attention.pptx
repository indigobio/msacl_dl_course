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3985706"/>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39950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lang="en-US" dirty="0"/>
              <a:t>Sequence Model intuition</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828800"/>
            <a:ext cx="9144000" cy="3291840"/>
          </a:xfrm>
          <a:prstGeom prst="rect">
            <a:avLst/>
          </a:prstGeom>
        </p:spPr>
      </p:pic>
      <p:sp>
        <p:nvSpPr>
          <p:cNvPr id="6" name="Rectangle 5"/>
          <p:cNvSpPr/>
          <p:nvPr/>
        </p:nvSpPr>
        <p:spPr>
          <a:xfrm>
            <a:off x="586635" y="494385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pic>
        <p:nvPicPr>
          <p:cNvPr id="5" name="Content Placeholder 4">
            <a:extLst>
              <a:ext uri="{FF2B5EF4-FFF2-40B4-BE49-F238E27FC236}">
                <a16:creationId xmlns:a16="http://schemas.microsoft.com/office/drawing/2014/main" id="{EA00C68C-D623-1CAB-1513-81677C0118DF}"/>
              </a:ext>
            </a:extLst>
          </p:cNvPr>
          <p:cNvPicPr>
            <a:picLocks noGrp="1" noChangeAspect="1"/>
          </p:cNvPicPr>
          <p:nvPr>
            <p:ph idx="1"/>
          </p:nvPr>
        </p:nvPicPr>
        <p:blipFill>
          <a:blip r:embed="rId2"/>
          <a:stretch>
            <a:fillRect/>
          </a:stretch>
        </p:blipFill>
        <p:spPr>
          <a:xfrm>
            <a:off x="1552446" y="1615440"/>
            <a:ext cx="7793988" cy="4922519"/>
          </a:xfrm>
          <a:prstGeom prst="rect">
            <a:avLst/>
          </a:prstGeom>
        </p:spPr>
      </p:pic>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lang="en-US" dirty="0"/>
              <a:t>Self-Attention - QKV</a:t>
            </a:r>
          </a:p>
        </p:txBody>
      </p:sp>
      <p:sp>
        <p:nvSpPr>
          <p:cNvPr id="6" name="Rounded Rectangle 5">
            <a:extLst>
              <a:ext uri="{FF2B5EF4-FFF2-40B4-BE49-F238E27FC236}">
                <a16:creationId xmlns:a16="http://schemas.microsoft.com/office/drawing/2014/main" id="{084DC98F-3671-8BEB-2CD1-A44C4777665B}"/>
              </a:ext>
            </a:extLst>
          </p:cNvPr>
          <p:cNvSpPr/>
          <p:nvPr/>
        </p:nvSpPr>
        <p:spPr>
          <a:xfrm>
            <a:off x="7525265" y="2570205"/>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FB7CD2EB-C228-A35E-6AF6-0A398EA29A2E}"/>
              </a:ext>
            </a:extLst>
          </p:cNvPr>
          <p:cNvSpPr/>
          <p:nvPr/>
        </p:nvSpPr>
        <p:spPr>
          <a:xfrm>
            <a:off x="7525265" y="3948600"/>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75A6296-8F29-06E8-32D9-4E1727FE3DD0}"/>
              </a:ext>
            </a:extLst>
          </p:cNvPr>
          <p:cNvSpPr/>
          <p:nvPr/>
        </p:nvSpPr>
        <p:spPr>
          <a:xfrm>
            <a:off x="7525265" y="5326996"/>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3080A5-9E0D-CEFE-281E-E686B35E719C}"/>
              </a:ext>
            </a:extLst>
          </p:cNvPr>
          <p:cNvSpPr txBox="1"/>
          <p:nvPr/>
        </p:nvSpPr>
        <p:spPr>
          <a:xfrm>
            <a:off x="6590750" y="6537959"/>
            <a:ext cx="4490653" cy="307777"/>
          </a:xfrm>
          <a:prstGeom prst="rect">
            <a:avLst/>
          </a:prstGeom>
          <a:noFill/>
        </p:spPr>
        <p:txBody>
          <a:bodyPr wrap="none" rtlCol="0">
            <a:spAutoFit/>
          </a:bodyPr>
          <a:lstStyle/>
          <a:p>
            <a:r>
              <a:rPr lang="en-US" sz="1400" i="1" dirty="0">
                <a:solidFill>
                  <a:schemeClr val="accent6">
                    <a:lumMod val="75000"/>
                  </a:schemeClr>
                </a:solidFill>
              </a:rPr>
              <a:t>cc https://</a:t>
            </a:r>
            <a:r>
              <a:rPr lang="en-US" sz="1400" i="1" dirty="0" err="1">
                <a:solidFill>
                  <a:schemeClr val="accent6">
                    <a:lumMod val="75000"/>
                  </a:schemeClr>
                </a:solidFill>
              </a:rPr>
              <a:t>jalammar.github.io</a:t>
            </a:r>
            <a:r>
              <a:rPr lang="en-US" sz="1400" i="1" dirty="0">
                <a:solidFill>
                  <a:schemeClr val="accent6">
                    <a:lumMod val="75000"/>
                  </a:schemeClr>
                </a:solidFill>
              </a:rPr>
              <a:t>/illustrated-transformer/</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lang="en-US" dirty="0"/>
              <a:t>Self-Attention - Heap Map</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lang="en-US" dirty="0"/>
              <a:t>Self-Attention - Heap Map</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625718"/>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
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morning, the first hour of Segment 3 — we leave images behind and pick up SEQUENCES: chromatograms in time, QC across runs, peptides as strings of amino acids.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motivating idea with two MS-anchored pictures. Left: SAGK and GKAS have identical amino-acid composition — identical mass — yet they are different molecules with different MS/MS fragment ladders; the ORDER is the identity. Right: a QC value creeping up across runs is only "drift" because run number is time; shuffle the runs and the trend — the thing you'd flag — disappears. The teaching point: for this data the arrangement is not incidental, it is the signal. Lab-1's MLP and Lab-2's CNN both ignore global order (a CNN only sees local windows); the rest of this hour is architecture that reads a sequence as a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for any sequence model: cut the input into TOKENS from a fixed vocabulary and give each an integer ID. For text the tokens are (roughly) words; for a peptide the natural tokens are amino acids — ACDEFG becomes six tokens A,C,D,E,F,G with IDs 1–6. The analogy to carry all hour: a peptide is a sentence and amino acids are its words. The 💬 pair prompt is a genuine hands-on beat (rule 8): tokenizing ACDEFG is trivial, but the real question is what the vocabulary should be once you allow modifications — the clean answer is that each modified residue simply gets its OWN token ID (phospho-S is a different "word" than S), which is exactly how protein language models like ESM handle it, and how the peptide-sequencing transformers we build in Lecture 8 treat residues. Harvest two or three vocabularies; there is no single right answer.</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integer ID (K = 12) says nothing about chemistry — 12 is not "more" than 3. The embedding layer replaces each ID with a short vector of coordinates, and those coordinates are LEARNED during training (they are weights, tuned by the same gradient descent from Lecture 2). The payoff, shown in the picture: residues that behave alike end up near each other — acidic D and E in one corner, basic K/R/H in another, the hydrophobic set clustered — because the model discovers that placing them near each other helps it predict. "Words → coordinates where similar things sit near each other." Two dimensions here for drawing; real embeddings use tens to hundreds. This is the input to attention: attention works on these coordinate vectors, not on raw IDs.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move, before any mechanics. Where an RNN routes information step-by-step, self-attention lets every token attend directly to every other token in one shot. The cartoon: the query token "it" reaches every token — near and far — and pulls back a blend of what's relevant. Two things this buys, which we cash out at the end of the hour: it is parallel (all pairs computed together, GPU-friendly) and long-range (token 1 to token 4 is one hop, not a walk down the chain). Now the obvious question — HOW does a token decide what's relevant? That is the query/key/value lookup, next.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0.60 on "peptide", 0.10–0.15 on the rest (0.15, 0.10, 0.15) — so "it" is attending mostly to "peptide". That is coreference resolution falling out of attention: the model links the pronoun to its referent. This is exactly the query-vs-keys step from the lookup slide, drawn. Next slide the room reads a heat map on a peptide (Quiz 7 Q1).</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Q1 (same "read the darkest cell" skill, now on a peptide; it assesses the heat-map-reading outcome). The five weights are A 0.05, C 0.05, D 0.35, E 0.45, K 0.10 — they sum to 1. (a) K attends MOST to E (0.45, the darkest cell), with D (0.35) a close second. (b) Chemically sensible because K (lysine) is positively charged (basic) while D and E are negatively charged (acidic) — opposite charges attract, the makings of a salt bridge — so a model trained on real sequences plausibly learns K to "look at" the acidic residues. These numbers are identical to the Quiz 7 Q1 figure and key. Take one answer from the floor, then have them fill Q1(a) and (b).</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and chemistry have many at once — in a peptide one head might learn charge complementarity (the K↔E pairing from Q1), another might track sequence distance or hydrophobic neighbors. "Scaled" just means the scores are divided by a constant before softmax to keep them well-behaved — a detail, not a new idea. This is a real published diagram; hand-drawn mechanics were ours, canonical architecture is sourced.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7 outcomes, and each was already a you-do this hour that maps to a Quiz 7 item: Q1 the heat-map read (which residue K attends to most, and why), and Q2 the full attention head (scores = query·key, softmax to weights, output = Σ weight×value = 6.63). The query/key/value roles are defined rigorously on the lookup slide and then exercised inside Q2, so there is no separate role-match item. There is no end-of-class quiz block — they've done both across the hour. Have them keep the sheet; it's the on-ramp to Lecture 8. Then the closing bridge on the last slide.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Sequence models and attention: order, and looking things up</a:t>
            </a:r>
          </a:p>
          <a:p>
            <a:pPr>
              <a:spcBef>
                <a:spcPts val="1600"/>
              </a:spcBef>
            </a:pPr>
            <a:r>
              <a:rPr sz="2200" b="0" i="0">
                <a:solidFill>
                  <a:srgbClr val="0E7C7B"/>
                </a:solidFill>
                <a:latin typeface="Avenir Next"/>
              </a:rPr>
              <a:t>Why order matters · RNNs in pictures · 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Why order matters — sequence data, and RNN/LSTM in pictures (and their limits)</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Tokens &amp; embeddings — a peptide is a sentence; words become coordinates</a:t>
            </a:r>
            <a:r>
              <a:rPr sz="2100" b="0" i="0">
                <a:solidFill>
                  <a:srgbClr val="8A9099"/>
                </a:solidFill>
                <a:latin typeface="Menlo"/>
              </a:rPr>
              <a:t>   · 13 min</a:t>
            </a:r>
          </a:p>
          <a:p>
            <a:pPr>
              <a:spcAft>
                <a:spcPts val="1800"/>
              </a:spcAft>
            </a:pPr>
            <a:r>
              <a:rPr sz="2600" b="1" i="0">
                <a:solidFill>
                  <a:srgbClr val="0E7C7B"/>
                </a:solidFill>
                <a:latin typeface="Avenir Next"/>
              </a:rPr>
              <a:t>•  </a:t>
            </a:r>
            <a:r>
              <a:rPr sz="2600" b="0" i="0">
                <a:solidFill>
                  <a:srgbClr val="1B2025"/>
                </a:solidFill>
                <a:latin typeface="Avenir Next"/>
              </a:rPr>
              <a:t>Self-attention — a soft lookup: query / key / value, heat maps, one full attention head by hand</a:t>
            </a:r>
            <a:r>
              <a:rPr sz="2100" b="0" i="0">
                <a:solidFill>
                  <a:srgbClr val="8A9099"/>
                </a:solidFill>
                <a:latin typeface="Menlo"/>
              </a:rPr>
              <a:t>   · 23 min</a:t>
            </a:r>
          </a:p>
          <a:p>
            <a:pPr>
              <a:spcAft>
                <a:spcPts val="1800"/>
              </a:spcAft>
            </a:pPr>
            <a:r>
              <a:rPr sz="2600" b="1" i="0">
                <a:solidFill>
                  <a:srgbClr val="0E7C7B"/>
                </a:solidFill>
                <a:latin typeface="Avenir Next"/>
              </a:rPr>
              <a:t>•  </a:t>
            </a:r>
            <a:r>
              <a:rPr sz="2600" b="0" i="0">
                <a:solidFill>
                  <a:srgbClr val="1B2025"/>
                </a:solidFill>
                <a:latin typeface="Avenir Next"/>
              </a:rPr>
              <a:t>Why attention won — parallel + long-range — setting up the transformer</a:t>
            </a:r>
            <a:r>
              <a:rPr sz="2100" b="0" i="0">
                <a:solidFill>
                  <a:srgbClr val="8A9099"/>
                </a:solidFill>
                <a:latin typeface="Menlo"/>
              </a:rPr>
              <a:t>   · 7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5" name="Picture 4" descr="fig_seq_order.png"/>
          <p:cNvPicPr>
            <a:picLocks noChangeAspect="1"/>
          </p:cNvPicPr>
          <p:nvPr/>
        </p:nvPicPr>
        <p:blipFill>
          <a:blip r:embed="rId2"/>
          <a:stretch>
            <a:fillRect/>
          </a:stretch>
        </p:blipFill>
        <p:spPr>
          <a:xfrm>
            <a:off x="2311941" y="1828800"/>
            <a:ext cx="7537637"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same four residues in a different order are a different peptide — same mass, different sequence, different fragmentation. And a QC trace only means 'drifting' because the runs are in time order.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2"/>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2"/>
          <a:stretch>
            <a:fillRect/>
          </a:stretch>
        </p:blipFill>
        <p:spPr>
          <a:xfrm>
            <a:off x="2868413" y="1828800"/>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The LSTM adds gates (the σ boxes) that learn what to keep, forget, and output, so memory survives longer than a plain RNN. But two problems remain: it is SEQUENTIAL (step t waits for step t−1 — no parallelism), and long-range memory still fades over many steps. 🙋 Show of hands (10 sec): for a 500-residue protein, which bites harder — SLOW or FORGETFUL? Hold that thought — attention fixes both.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peptide is a sentence; amino acids are the words</a:t>
            </a:r>
          </a:p>
        </p:txBody>
      </p:sp>
      <p:pic>
        <p:nvPicPr>
          <p:cNvPr id="5" name="Picture 4" descr="fig_tokenize.png"/>
          <p:cNvPicPr>
            <a:picLocks noChangeAspect="1"/>
          </p:cNvPicPr>
          <p:nvPr/>
        </p:nvPicPr>
        <p:blipFill>
          <a:blip r:embed="rId2"/>
          <a:stretch>
            <a:fillRect/>
          </a:stretch>
        </p:blipFill>
        <p:spPr>
          <a:xfrm>
            <a:off x="1768825" y="1828800"/>
            <a:ext cx="8623869"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Two minutes: tokenize ACDEFG into tokens — then, what could the vocabulary be for MODIFIED peptides (phospho-S, oxidised-M, a fixed N-terminus)? Shout out your best vocab.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Embedding: each token becomes coordinates</a:t>
            </a:r>
          </a:p>
        </p:txBody>
      </p:sp>
      <p:pic>
        <p:nvPicPr>
          <p:cNvPr id="5" name="Picture 4" descr="fig_embedding.png"/>
          <p:cNvPicPr>
            <a:picLocks noChangeAspect="1"/>
          </p:cNvPicPr>
          <p:nvPr/>
        </p:nvPicPr>
        <p:blipFill>
          <a:blip r:embed="rId2"/>
          <a:stretch>
            <a:fillRect/>
          </a:stretch>
        </p:blipFill>
        <p:spPr>
          <a:xfrm>
            <a:off x="2671823"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token ID is just a name — it carries no meaning. The EMBEDDING maps each token to a point in space, and the model LEARNS those coordinates so that chemically similar residues land near each other: the acidic pair D/E together, the basic K/R/H together, the hydrophobic cluster together. Meaning becomes geometry.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token looks at every other, and decides what's relevant</a:t>
            </a:r>
          </a:p>
        </p:txBody>
      </p:sp>
      <p:pic>
        <p:nvPicPr>
          <p:cNvPr id="5" name="Picture 4" descr="fig_selfattn_alltoall.png"/>
          <p:cNvPicPr>
            <a:picLocks noChangeAspect="1"/>
          </p:cNvPicPr>
          <p:nvPr/>
        </p:nvPicPr>
        <p:blipFill>
          <a:blip r:embed="rId2"/>
          <a:stretch>
            <a:fillRect/>
          </a:stretch>
        </p:blipFill>
        <p:spPr>
          <a:xfrm>
            <a:off x="1472184" y="1828800"/>
            <a:ext cx="9217152"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No passing a memory down a chain. Every token sends its question to EVERY token at once and gathers what's relevant back. Here 'it' looks at all four tokens directly — including the far-away 'peptide' — in a single step. That's self-attention: all pairs, in parallel.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2"/>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5" name="Picture 4" descr="fig_attn_heatmap_ido.png"/>
          <p:cNvPicPr>
            <a:picLocks noChangeAspect="1"/>
          </p:cNvPicPr>
          <p:nvPr/>
        </p:nvPicPr>
        <p:blipFill>
          <a:blip r:embed="rId2"/>
          <a:stretch>
            <a:fillRect/>
          </a:stretch>
        </p:blipFill>
        <p:spPr>
          <a:xfrm>
            <a:off x="2780000" y="1828800"/>
            <a:ext cx="6601520"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row is one query token's attention over all key tokens; darker = more; every row sums to 1. Read the 'it' row (ringed): its darkest cell is 'peptide' (0.60). The model has learned that 'it' refers back to 'peptide' — coreference, straight off the picture.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residue does K attend to most?</a:t>
            </a:r>
          </a:p>
        </p:txBody>
      </p:sp>
      <p:pic>
        <p:nvPicPr>
          <p:cNvPr id="5" name="Picture 4" descr="fig_attn_heatmap_youdo.png"/>
          <p:cNvPicPr>
            <a:picLocks noChangeAspect="1"/>
          </p:cNvPicPr>
          <p:nvPr/>
        </p:nvPicPr>
        <p:blipFill>
          <a:blip r:embed="rId2"/>
          <a:stretch>
            <a:fillRect/>
          </a:stretch>
        </p:blipFill>
        <p:spPr>
          <a:xfrm>
            <a:off x="1785247"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Q1. A peptide A-C-D-E-K, tokenized one residue at a time; the row shows how much the last token K attends to each residue (weights sum to 1). (a) Which does K attend to most? (b) Why is that chemically sensible? Worked answer in the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2"/>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2"/>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2"/>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2"/>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2"/>
          <a:stretch>
            <a:fillRect/>
          </a:stretch>
        </p:blipFill>
        <p:spPr>
          <a:xfrm>
            <a:off x="1891145" y="1828800"/>
            <a:ext cx="8379229" cy="3291840"/>
          </a:xfrm>
          <a:prstGeom prst="rect">
            <a:avLst/>
          </a:prstGeom>
        </p:spPr>
      </p:pic>
      <p:sp>
        <p:nvSpPr>
          <p:cNvPr id="6" name="Rectangle 5"/>
          <p:cNvSpPr/>
          <p:nvPr/>
        </p:nvSpPr>
        <p:spPr>
          <a:xfrm>
            <a:off x="548640" y="521208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Same two problems from the LSTM slide — both solved.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322320"/>
          </a:xfrm>
          <a:prstGeom prst="rect">
            <a:avLst/>
          </a:prstGeom>
          <a:noFill/>
        </p:spPr>
        <p:txBody>
          <a:bodyPr wrap="square" anchor="t">
            <a:spAutoFit/>
          </a:bodyPr>
          <a:lstStyle/>
          <a:p>
            <a:pPr>
              <a:spcAft>
                <a:spcPts val="1800"/>
              </a:spcAft>
            </a:pPr>
            <a:r>
              <a:rPr sz="1900" b="1" i="0">
                <a:solidFill>
                  <a:srgbClr val="0E7C7B"/>
                </a:solidFill>
                <a:latin typeface="Avenir Next"/>
              </a:rPr>
              <a:t>•  </a:t>
            </a:r>
            <a:r>
              <a:rPr sz="1900" b="0" i="0">
                <a:solidFill>
                  <a:srgbClr val="1B2025"/>
                </a:solidFill>
                <a:latin typeface="Avenir Next"/>
              </a:rPr>
              <a:t>Say why order matters for sequence data, and what RNNs/LSTMs did — a memory passed along the sequence — and their two limits (slow, forgetful)</a:t>
            </a:r>
          </a:p>
          <a:p>
            <a:pPr>
              <a:spcAft>
                <a:spcPts val="1800"/>
              </a:spcAft>
            </a:pPr>
            <a:r>
              <a:rPr sz="1900" b="1" i="0">
                <a:solidFill>
                  <a:srgbClr val="0E7C7B"/>
                </a:solidFill>
                <a:latin typeface="Avenir Next"/>
              </a:rPr>
              <a:t>•  </a:t>
            </a:r>
            <a:r>
              <a:rPr sz="1900" b="0" i="0">
                <a:solidFill>
                  <a:srgbClr val="1B2025"/>
                </a:solidFill>
                <a:latin typeface="Avenir Next"/>
              </a:rPr>
              <a:t>Explain tokens and embeddings — a peptide is a sentence; each token becomes learned coordinates where similar things sit near each other</a:t>
            </a:r>
          </a:p>
          <a:p>
            <a:pPr>
              <a:spcAft>
                <a:spcPts val="1800"/>
              </a:spcAft>
            </a:pPr>
            <a:r>
              <a:rPr sz="1900" b="1" i="0">
                <a:solidFill>
                  <a:srgbClr val="0E7C7B"/>
                </a:solidFill>
                <a:latin typeface="Avenir Next"/>
              </a:rPr>
              <a:t>•  </a:t>
            </a:r>
            <a:r>
              <a:rPr sz="1900" b="0" i="0">
                <a:solidFill>
                  <a:srgbClr val="1B2025"/>
                </a:solidFill>
                <a:latin typeface="Avenir Next"/>
              </a:rPr>
              <a:t>Define query, key and value rigorously — three learned projections, where query·key is a relevance score — and read an attention heat map (Quiz 7 Q1)</a:t>
            </a:r>
          </a:p>
          <a:p>
            <a:pPr>
              <a:spcAft>
                <a:spcPts val="1800"/>
              </a:spcAft>
            </a:pPr>
            <a:r>
              <a:rPr sz="1900" b="1" i="0">
                <a:solidFill>
                  <a:srgbClr val="0E7C7B"/>
                </a:solidFill>
                <a:latin typeface="Avenir Next"/>
              </a:rPr>
              <a:t>•  </a:t>
            </a:r>
            <a:r>
              <a:rPr sz="1900" b="0" i="0">
                <a:solidFill>
                  <a:srgbClr val="1B2025"/>
                </a:solidFill>
                <a:latin typeface="Avenir Next"/>
              </a:rPr>
              <a:t>Run one attention head by hand — dot-product scores → softmax → weighted sum of the values (Quiz 7 Q2)</a:t>
            </a:r>
          </a:p>
        </p:txBody>
      </p:sp>
      <p:sp>
        <p:nvSpPr>
          <p:cNvPr id="6" name="Rectangle 5"/>
          <p:cNvSpPr/>
          <p:nvPr/>
        </p:nvSpPr>
        <p:spPr>
          <a:xfrm>
            <a:off x="548640" y="53797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both items on Quiz 7 live — the heat-map read (Q1) and one full attention head, scores → softmax → weighted values (Q2). The query/key/value roles you exercised inside Q2 are exactly what Lecture 8 assembles into the full transformer.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
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91" r:id="rId41"/>
    <p:sldId id="283" r:id="rId14"/>
    <p:sldId id="290" r:id="rId40"/>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4.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3.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15.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tic-tac-toe and a ball in flight, AlphaGo, a two-armed bandit — across thirteen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and its you-do (Q5), the tour's spoken place-a-new-tool beat, and the five you-dos (hallucination → Q3, discounted return → Q5, explore vs exploit → Q4, formulate your own RL problem → Q1, prompting/RAG/fine-tuning → Q2). TIMING (revised 2026-09-14): the RL stop is now thirteen slides / ~34 min — the mechanics on classic examples, plus RLHF opened up over three slides — so the taught content runs roughly 16 minutes past the hour BY DESIGN. Decide live what to drop, in this order. CUT FIRST: explore vs exploit + its you-do (~6 min, costs Quiz 13 Q4). CUT SECOND: delayed reward and its you-do (~5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 If anyone compares this with the previous slide's bars, that is the teaching point: there “sample” was 0.55 because the probability was spread over the ENTIRE vocabulary (including the 0.10 “others” bar); here we hand softmax only three candidates, so the same word takes 0.665. Softmax always normalises over exactly the set you give it — both numbers are right.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tic-tac-toe and a ball in flight, AlphaGo, a two-armed bandit — deliberately NOT on mass-spec ones, because the mechanics land more cleanly when they are not entangled with chemistry. The MS anchor is saved for the closing you-do, where the room formulates a problem from their OWN lab (Quiz 13 Q1). Thirteen slides in a deliberate order. THE LOOP gives the four words. THE ANATOMY adds the two it leaves out, STATE and POLICY, on a gridworld episode, and makes 'there is no label, only a reward' concrete. THE REQUIREMENT is the Markov property — the state must be enough on its own — with a tic-tac-toe board as the good case and one photo of a ball as the broken one — rising or falling? — fixed by adding the velocity. Then HOW RL DIFFERS from supervised learning: reward not label, delayed not immediate, non-i.i.d. data, exploration, return as the goal. ALPHAGO is the famous example and sets up the next problem. DELAYED REWARD is credit assignment and the discounted return, then its you-do (Quiz 13 Q5, γ = 0.5).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with the roles filled in for LANGUAGE (revised 2026-10-05). The STATE is the CONTEXT — the prompt plus every token the model has written so far. The AGENT is the LLM, and the policy is literally its next-token distribution. Each ACTION is ONE next token, which is appended to the context — so the action changes the state, exactly as a stone changes the Go board. The ENVIRONMENT is therefore the context plus the REWARD MODEL: the context is the world the model acts on, and the reward model is the judge that scores the FINISHED answer. Notice the reward comes only at the end of a long sequence of token-actions — the delayed reward of two slides back, in a new costume. Where do humans come in? Not in this loop — people supply the comparisons that TRAIN the reward model, which is the next slide. That is why RLHF is 'RL where the reward comes from human preferences': humans shape the judge, and the judge scores every answer. Leave them with the obvious question — how does a model learn to score answers like a person? — for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a gridworld, tic-tac-toe, a ball in flight and bandits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Revised 2026-10-05 at the instructor's request: plainer examples. Intuitive only — the Markov property in words and pictures, no MDP formalism. THE DEFINITION, one sentence to say aloud: a state is MARKOV if knowing it is enough — the future depends on where you are now, not on how you got here. LEFT, the clean good case: TIC-TAC-TOE. Two games reach the same board by different move orders — X top-left, O top-right, X centre, or X centre, O top-right, X top-left. Ask the room: does O's best move differ between them? No — on both boards X threatens the diagonal, so O must block the bottom-right (the red box). Same board, same best move: the BOARD is a Markov state. RIGHT, the clean failure: ONE PHOTO OF A BALL in flight. From the position alone you cannot tell whether it is rising or falling — the same picture fits both futures — so a single snapshot is NOT Markov. Add the velocity (or simply the previous frame) and it is: position plus velocity predicts the next position. That is exactly why DeepMind's Atari agent stacked the last four screen frames as its state. THE TAKEAWAY, on the footer: Markov is a property of the STATE YOU CHOOSE, not of the world — the ball's physics is perfectly well behaved; the snapshot just leaves information out. So when an RL system fails because its state is not Markov, the fix is to enrich the state (add velocity, add history), never to swap the algorithm. Why not a stock price as the failure? Under the textbook random-walk model tomorrow's price depends only on today's, i.e. it IS Markov — a confusing example. This is the property Quiz 13 Q1(f) asks them to check on their own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 the previous slide put a reward model in the loop; this one shows where it comes from, as three pictures (revised 2026-10-05: diagrams, not text). STEP 1, HUMANS COMPARE: the LLM writes two answers to the same prompt, A and B, and a person simply picks the better one — A ≻ B. They do not write the ideal answer or give a score out of ten; comparing two things is far easier and more consistent than scoring one. Example to say aloud: 'QC failed on this run — report the cortisol result?' — answer A says repeat the QC, answer B says go ahead if it looks reasonable; the rater picks A. STEP 2, TRAIN THE REWARD MODEL: thousands of those comparisons train a second network that takes (prompt, answer) and returns one number, learning only that the preferred answer should score higher — score(A) 0.8 &gt; score(B) 0.2. Now the reward is automatic: no human in the loop for every answer. STEP 3, TUNE THE LLM: the LLM writes, the reward model scores, the LLM is nudged toward higher-scoring answers — the RL loop from the last slide — repeated over millions of answers. THE LEASH (dashed): the tuned model is penalised for drifting too far from the original, otherwise it learns to game the reward model and stops writing sensible English. The next slide is what this buys and what it breaks.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13 Q5, straight after the delayed-reward do-it-together (γ = 0.9 → 0.81). Worked answer: (a) G = 0 + 0.5×0 + 0.5^2×1 = 0.25 × 1 = 0.25 (compare γ = 0.9, worked in class, which gives 0.9^2 = 0.81). (b) A small γ makes the agent myopic — it heavily discounts anything more than a step or two away, so it chases immediate reward and barely credits the early moves that set up a late win. For a long episode — a method development, or a game of Go — you want γ near 1.</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2026-10-05): what makes RL different from the supervised learning the room has done all course — read the table row by row, each row is something that makes RL harder. FEEDBACK: supervised learning is told the right answer for every example (resistant / susceptible from the lab); RL only gets a number saying how good the outcome was, never which action was right. TIMING: a supervised prediction is graded immediately; in RL the reward can arrive long after the action that earned it — AlphaGo's win comes ~200 moves later. That is the credit-assignment problem, and the very next slide is about it. DATA: supervised learning assumes i.i.d. data — independent and identically distributed, every example drawn separately from one fixed pool, so the order does not matter and the test set looks like the training set. RL breaks both halves: the agent's own actions decide what it sees next, so consecutive states are strongly correlated (one move leads to the next), and as the policy improves it visits different states, so the data distribution keeps shifting under it. EXPLORATION: a supervised model never has to choose what data to collect; an RL agent must keep trying actions it is unsure about, or it never discovers a better one — the explore-vs-exploit slides two on. GOAL: supervised learning matches labels; RL maximises the total future reward, the return. The pair prompt sends them back to their own Quiz 13 Q1 problem: which row will bite hardest there?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 Id="rId5"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 Softmax normalises over whatever candidate set you hand it — here just these three, so they sum to 1 on their own; the previous slide's bars spread the same 1.0 across the whole vocabulary.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13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13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13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8" name="Picture 7" descr="fig_markov.png"/>
          <p:cNvPicPr>
            <a:picLocks noChangeAspect="1"/>
          </p:cNvPicPr>
          <p:nvPr/>
        </p:nvPicPr>
        <p:blipFill>
          <a:blip r:embed="rId5"/>
          <a:stretch>
            <a:fillRect/>
          </a:stretch>
        </p:blipFill>
        <p:spPr>
          <a:xfrm>
            <a:off x="2091786" y="1828800"/>
            <a:ext cx="8008122" cy="364941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state is MARKOV when the future depends only on it, not on the path that got you there. A tic-tac-toe BOARD qualifies: two move orders, same board, same best move. One PHOTO of a ball does not: rising or falling? Add the velocity and it is. Markov is a property of the STATE YOU CHOOSE.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13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13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is next → Quiz 13, Q5.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13 · YOUR TURN (YOU-DO = Q5)</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how much credit does step 1 get?</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Q5. Same gridworld, same three steps (rewards 0, 0, 1) — now at γ = 0.5. (a) Compute step 1’s return G. (b) One sentence: what does a small γ make the agent do? Worked answer in the notes.</a:t>
            </a:r>
          </a:p>
        </p:txBody>
      </p:sp>
      <p:sp>
        <p:nvSpPr>
          <p:cNvPr id="7" name="Rounded Rectangle 6"/>
          <p:cNvSpPr/>
          <p:nvPr/>
        </p:nvSpPr>
        <p:spPr>
          <a:xfrm>
            <a:off x="5486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1</a:t>
            </a:r>
          </a:p>
          <a:p>
            <a:pPr algn="ctr">
              <a:spcAft>
                <a:spcPts val="0"/>
              </a:spcAft>
            </a:pPr>
            <a:r>
              <a:rPr sz="1600" b="0">
                <a:solidFill>
                  <a:srgbClr val="0E7C7B"/>
                </a:solidFill>
                <a:latin typeface="Menlo"/>
              </a:rPr>
              <a:t>r₁ = 0</a:t>
            </a:r>
          </a:p>
        </p:txBody>
      </p:sp>
      <p:sp>
        <p:nvSpPr>
          <p:cNvPr id="9" name="TextBox 8"/>
          <p:cNvSpPr txBox="1"/>
          <p:nvPr/>
        </p:nvSpPr>
        <p:spPr>
          <a:xfrm>
            <a:off x="28486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0" name="Rounded Rectangle 9"/>
          <p:cNvSpPr/>
          <p:nvPr/>
        </p:nvSpPr>
        <p:spPr>
          <a:xfrm>
            <a:off x="46564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564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2</a:t>
            </a:r>
          </a:p>
          <a:p>
            <a:pPr algn="ctr">
              <a:spcAft>
                <a:spcPts val="0"/>
              </a:spcAft>
            </a:pPr>
            <a:r>
              <a:rPr sz="1600" b="0">
                <a:solidFill>
                  <a:srgbClr val="0E7C7B"/>
                </a:solidFill>
                <a:latin typeface="Menlo"/>
              </a:rPr>
              <a:t>r₂ = 0</a:t>
            </a:r>
          </a:p>
        </p:txBody>
      </p:sp>
      <p:sp>
        <p:nvSpPr>
          <p:cNvPr id="12" name="TextBox 11"/>
          <p:cNvSpPr txBox="1"/>
          <p:nvPr/>
        </p:nvSpPr>
        <p:spPr>
          <a:xfrm>
            <a:off x="69564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3" name="Rounded Rectangle 12"/>
          <p:cNvSpPr/>
          <p:nvPr/>
        </p:nvSpPr>
        <p:spPr>
          <a:xfrm>
            <a:off x="8764240" y="1888800"/>
            <a:ext cx="2300000" cy="72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642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3 · goal</a:t>
            </a:r>
          </a:p>
          <a:p>
            <a:pPr algn="ctr">
              <a:spcAft>
                <a:spcPts val="0"/>
              </a:spcAft>
            </a:pPr>
            <a:r>
              <a:rPr sz="1600" b="0">
                <a:solidFill>
                  <a:srgbClr val="0E7C7B"/>
                </a:solidFill>
                <a:latin typeface="Menlo"/>
              </a:rPr>
              <a:t>r₃ = 1</a:t>
            </a:r>
          </a:p>
        </p:txBody>
      </p:sp>
      <p:sp>
        <p:nvSpPr>
          <p:cNvPr id="15" name="TextBox 14"/>
          <p:cNvSpPr txBox="1"/>
          <p:nvPr/>
        </p:nvSpPr>
        <p:spPr>
          <a:xfrm>
            <a:off x="548640" y="2788800"/>
            <a:ext cx="10515600" cy="520000"/>
          </a:xfrm>
          <a:prstGeom prst="rect">
            <a:avLst/>
          </a:prstGeom>
          <a:noFill/>
        </p:spPr>
        <p:txBody>
          <a:bodyPr wrap="square" lIns="45720" rIns="45720" tIns="27432" bIns="27432" anchor="t">
            <a:spAutoFit/>
          </a:bodyPr>
          <a:lstStyle/>
          <a:p>
            <a:pPr algn="ctr">
              <a:spcAft>
                <a:spcPts val="400"/>
              </a:spcAft>
            </a:pPr>
            <a:r>
              <a:rPr sz="1900" b="1">
                <a:solidFill>
                  <a:srgbClr val="0E7C7B"/>
                </a:solidFill>
                <a:latin typeface="Menlo"/>
              </a:rPr>
              <a:t>G  =  r₁  +  γ·r₂  +  γ²·r₃</a:t>
            </a:r>
          </a:p>
        </p:txBody>
      </p:sp>
      <p:sp>
        <p:nvSpPr>
          <p:cNvPr id="16" name="TextBox 15"/>
          <p:cNvSpPr txBox="1"/>
          <p:nvPr/>
        </p:nvSpPr>
        <p:spPr>
          <a:xfrm>
            <a:off x="548640" y="3408800"/>
            <a:ext cx="10515600" cy="1700000"/>
          </a:xfrm>
          <a:prstGeom prst="rect">
            <a:avLst/>
          </a:prstGeom>
          <a:noFill/>
        </p:spPr>
        <p:txBody>
          <a:bodyPr wrap="square" lIns="45720" rIns="45720" tIns="27432" bIns="27432" anchor="t">
            <a:spAutoFit/>
          </a:bodyPr>
          <a:lstStyle/>
          <a:p>
            <a:pPr algn="l">
              <a:spcAft>
                <a:spcPts val="1000"/>
              </a:spcAft>
            </a:pPr>
            <a:r>
              <a:rPr sz="1700" b="1">
                <a:solidFill>
                  <a:srgbClr val="0E7C7B"/>
                </a:solidFill>
                <a:latin typeface="Avenir Next"/>
              </a:rPr>
              <a:t>(a)  </a:t>
            </a:r>
            <a:r>
              <a:rPr sz="1700" b="0">
                <a:solidFill>
                  <a:srgbClr val="1B2025"/>
                </a:solidFill>
                <a:latin typeface="Avenir Next"/>
              </a:rPr>
              <a:t>With γ = 0.5, how much credit does step 1 get?   G =</a:t>
            </a:r>
            <a:r>
              <a:rPr sz="1700" b="1">
                <a:solidFill>
                  <a:srgbClr val="0E7C7B"/>
                </a:solidFill>
                <a:latin typeface="Avenir Next"/>
              </a:rPr>
              <a:t>  ________</a:t>
            </a:r>
          </a:p>
          <a:p>
            <a:pPr algn="l">
              <a:spcAft>
                <a:spcPts val="1000"/>
              </a:spcAft>
            </a:pPr>
            <a:r>
              <a:rPr sz="1700" b="1">
                <a:solidFill>
                  <a:srgbClr val="0E7C7B"/>
                </a:solidFill>
                <a:latin typeface="Avenir Next"/>
              </a:rPr>
              <a:t>(b)  </a:t>
            </a:r>
            <a:r>
              <a:rPr sz="1700" b="0">
                <a:solidFill>
                  <a:srgbClr val="1B2025"/>
                </a:solidFill>
                <a:latin typeface="Avenir Next"/>
              </a:rPr>
              <a:t>One sentence: what does a SMALL γ make the agent do?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13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13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13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7" name="Picture 6" descr="fig_rlhf.png"/>
          <p:cNvPicPr>
            <a:picLocks noChangeAspect="1"/>
          </p:cNvPicPr>
          <p:nvPr/>
        </p:nvPicPr>
        <p:blipFill>
          <a:blip r:embed="rId4"/>
          <a:stretch>
            <a:fillRect/>
          </a:stretch>
        </p:blipFill>
        <p:spPr>
          <a:xfrm>
            <a:off x="1484672" y="1828800"/>
            <a:ext cx="9222351"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makes sense. STATE = the context (prompt + tokens so far); AGENT = the LLM; ACTION = one next token, appended to the context. ENVIRONMENT = that context + a REWARD MODEL, which scores the finished answer — so the reward is delayed, just like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13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8" name="Picture 7" descr="fig_rlhf_pipeline.png"/>
          <p:cNvPicPr>
            <a:picLocks noChangeAspect="1"/>
          </p:cNvPicPr>
          <p:nvPr/>
        </p:nvPicPr>
        <p:blipFill>
          <a:blip r:embed="rId4"/>
          <a:stretch>
            <a:fillRect/>
          </a:stretch>
        </p:blipFill>
        <p:spPr>
          <a:xfrm>
            <a:off x="887586" y="1828800"/>
            <a:ext cx="10416522" cy="3980600"/>
          </a:xfrm>
          <a:prstGeom prst="rect">
            <a:avLst/>
          </a:prstGeom>
        </p:spPr>
      </p:pic>
      <p:sp>
        <p:nvSpPr>
          <p:cNvPr id="6" name="Rectangle 5"/>
          <p:cNvSpPr/>
          <p:nvPr/>
        </p:nvSpPr>
        <p:spPr>
          <a:xfrm>
            <a:off x="548640" y="5869400"/>
            <a:ext cx="10515600" cy="7600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People compare two answers → a reward model learns to score like them → the LLM is tuned to score higher, on a leash to the original.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12 OF 13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13 OF 13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13 · HOW RL DIFFERS FROM SUPERVISED LEARNING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How RL differs from supervised learning</a:t>
            </a:r>
          </a:p>
        </p:txBody>
      </p:sp>
      <p:graphicFrame>
        <p:nvGraphicFramePr>
          <p:cNvPr id="5" name="Table 4"/>
          <p:cNvGraphicFramePr>
            <a:graphicFrameLocks noGrp="1"/>
          </p:cNvGraphicFramePr>
          <p:nvPr/>
        </p:nvGraphicFramePr>
        <p:xfrm>
          <a:off x="548640" y="1783080"/>
          <a:ext cx="11094720" cy="3200000"/>
        </p:xfrm>
        <a:graphic>
          <a:graphicData uri="http://schemas.openxmlformats.org/drawingml/2006/table">
            <a:tbl>
              <a:tblPr firstRow="1">
                <a:tableStyleId>{5C22544A-7EE6-4342-B048-85BDC9FD1C3A}</a:tableStyleId>
              </a:tblPr>
              <a:tblGrid>
                <a:gridCol w="1700000"/>
                <a:gridCol w="4300000"/>
                <a:gridCol w="5094720"/>
              </a:tblGrid>
              <a:tr h="533333">
                <a:tc>
                  <a:txBody>
                    <a:bodyPr wrap="square"/>
                    <a:lstStyle/>
                    <a:p>
                      <a:pPr algn="l"/>
                      <a:r>
                        <a:rPr sz="1300" b="0">
                          <a:solidFill>
                            <a:srgbClr val="1B2025"/>
                          </a:solidFill>
                          <a:latin typeface="Avenir Next"/>
                        </a:rPr>
                        <a:t/>
                      </a:r>
                    </a:p>
                  </a:txBody>
                  <a:tcPr marL="73152" marR="73152" marT="36576" marB="36576" anchor="ctr">
                    <a:solidFill>
                      <a:srgbClr val="FFFFFF"/>
                    </a:solidFill>
                  </a:tcPr>
                </a:tc>
                <a:tc>
                  <a:txBody>
                    <a:bodyPr wrap="square"/>
                    <a:lstStyle/>
                    <a:p>
                      <a:pPr algn="ctr"/>
                      <a:r>
                        <a:rPr sz="1400" b="1">
                          <a:solidFill>
                            <a:srgbClr val="3D444C"/>
                          </a:solidFill>
                          <a:latin typeface="Avenir Next"/>
                        </a:rPr>
                        <a:t>Supervised learning</a:t>
                      </a:r>
                    </a:p>
                  </a:txBody>
                  <a:tcPr marL="73152" marR="73152" marT="36576" marB="36576" anchor="ctr">
                    <a:solidFill>
                      <a:srgbClr val="F1F1EC"/>
                    </a:solidFill>
                  </a:tcPr>
                </a:tc>
                <a:tc>
                  <a:txBody>
                    <a:bodyPr wrap="square"/>
                    <a:lstStyle/>
                    <a:p>
                      <a:pPr algn="ctr"/>
                      <a:r>
                        <a:rPr sz="1400" b="1">
                          <a:solidFill>
                            <a:srgbClr val="FFFFFF"/>
                          </a:solidFill>
                          <a:latin typeface="Avenir Next"/>
                        </a:rPr>
                        <a:t>Reinforcement learning</a:t>
                      </a:r>
                    </a:p>
                  </a:txBody>
                  <a:tcPr marL="73152" marR="73152" marT="36576" marB="36576" anchor="ctr">
                    <a:solidFill>
                      <a:srgbClr val="0E7C7B"/>
                    </a:solidFill>
                  </a:tcPr>
                </a:tc>
              </a:tr>
              <a:tr h="533333">
                <a:tc>
                  <a:txBody>
                    <a:bodyPr wrap="square"/>
                    <a:lstStyle/>
                    <a:p>
                      <a:pPr algn="l"/>
                      <a:r>
                        <a:rPr sz="1300" b="1">
                          <a:solidFill>
                            <a:srgbClr val="1B2025"/>
                          </a:solidFill>
                          <a:latin typeface="Avenir Next"/>
                        </a:rPr>
                        <a:t>Feedback</a:t>
                      </a:r>
                    </a:p>
                  </a:txBody>
                  <a:tcPr marL="73152" marR="73152" marT="36576" marB="36576" anchor="ctr">
                    <a:solidFill>
                      <a:srgbClr val="FFFFFF"/>
                    </a:solidFill>
                  </a:tcPr>
                </a:tc>
                <a:tc>
                  <a:txBody>
                    <a:bodyPr wrap="square"/>
                    <a:lstStyle/>
                    <a:p>
                      <a:pPr algn="l"/>
                      <a:r>
                        <a:rPr sz="1300" b="0">
                          <a:solidFill>
                            <a:srgbClr val="3D444C"/>
                          </a:solidFill>
                          <a:latin typeface="Avenir Next"/>
                        </a:rPr>
                        <a:t>the right answer (a label) for every example</a:t>
                      </a:r>
                    </a:p>
                  </a:txBody>
                  <a:tcPr marL="73152" marR="73152" marT="36576" marB="36576" anchor="ctr">
                    <a:solidFill>
                      <a:srgbClr val="F1F1EC"/>
                    </a:solidFill>
                  </a:tcPr>
                </a:tc>
                <a:tc>
                  <a:txBody>
                    <a:bodyPr wrap="square"/>
                    <a:lstStyle/>
                    <a:p>
                      <a:pPr algn="l"/>
                      <a:r>
                        <a:rPr sz="1300" b="1">
                          <a:solidFill>
                            <a:srgbClr val="1B2025"/>
                          </a:solidFill>
                          <a:latin typeface="Avenir Next"/>
                        </a:rPr>
                        <a:t>a score (reward) — how good, never what was right</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Timing</a:t>
                      </a:r>
                    </a:p>
                  </a:txBody>
                  <a:tcPr marL="73152" marR="73152" marT="36576" marB="36576" anchor="ctr">
                    <a:solidFill>
                      <a:srgbClr val="FFFFFF"/>
                    </a:solidFill>
                  </a:tcPr>
                </a:tc>
                <a:tc>
                  <a:txBody>
                    <a:bodyPr wrap="square"/>
                    <a:lstStyle/>
                    <a:p>
                      <a:pPr algn="l"/>
                      <a:r>
                        <a:rPr sz="1300" b="0">
                          <a:solidFill>
                            <a:srgbClr val="3D444C"/>
                          </a:solidFill>
                          <a:latin typeface="Avenir Next"/>
                        </a:rPr>
                        <a:t>immediate — each prediction is graded at once</a:t>
                      </a:r>
                    </a:p>
                  </a:txBody>
                  <a:tcPr marL="73152" marR="73152" marT="36576" marB="36576" anchor="ctr">
                    <a:solidFill>
                      <a:srgbClr val="F1F1EC"/>
                    </a:solidFill>
                  </a:tcPr>
                </a:tc>
                <a:tc>
                  <a:txBody>
                    <a:bodyPr wrap="square"/>
                    <a:lstStyle/>
                    <a:p>
                      <a:pPr algn="l"/>
                      <a:r>
                        <a:rPr sz="1300" b="1">
                          <a:solidFill>
                            <a:srgbClr val="1B2025"/>
                          </a:solidFill>
                          <a:latin typeface="Avenir Next"/>
                        </a:rPr>
                        <a:t>delayed — Go’s win arrives ~200 moves later</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Data</a:t>
                      </a:r>
                    </a:p>
                  </a:txBody>
                  <a:tcPr marL="73152" marR="73152" marT="36576" marB="36576" anchor="ctr">
                    <a:solidFill>
                      <a:srgbClr val="FFFFFF"/>
                    </a:solidFill>
                  </a:tcPr>
                </a:tc>
                <a:tc>
                  <a:txBody>
                    <a:bodyPr wrap="square"/>
                    <a:lstStyle/>
                    <a:p>
                      <a:pPr algn="l"/>
                      <a:r>
                        <a:rPr sz="1300" b="0">
                          <a:solidFill>
                            <a:srgbClr val="3D444C"/>
                          </a:solidFill>
                          <a:latin typeface="Avenir Next"/>
                        </a:rPr>
                        <a:t>a fixed dataset; examples i.i.d.</a:t>
                      </a:r>
                    </a:p>
                  </a:txBody>
                  <a:tcPr marL="73152" marR="73152" marT="36576" marB="36576" anchor="ctr">
                    <a:solidFill>
                      <a:srgbClr val="F1F1EC"/>
                    </a:solidFill>
                  </a:tcPr>
                </a:tc>
                <a:tc>
                  <a:txBody>
                    <a:bodyPr wrap="square"/>
                    <a:lstStyle/>
                    <a:p>
                      <a:pPr algn="l"/>
                      <a:r>
                        <a:rPr sz="1300" b="1">
                          <a:solidFill>
                            <a:srgbClr val="1B2025"/>
                          </a:solidFill>
                          <a:latin typeface="Avenir Next"/>
                        </a:rPr>
                        <a:t>made by the agent’s own actions — correlated, and it shifts as the policy changes</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Exploration</a:t>
                      </a:r>
                    </a:p>
                  </a:txBody>
                  <a:tcPr marL="73152" marR="73152" marT="36576" marB="36576" anchor="ctr">
                    <a:solidFill>
                      <a:srgbClr val="FFFFFF"/>
                    </a:solidFill>
                  </a:tcPr>
                </a:tc>
                <a:tc>
                  <a:txBody>
                    <a:bodyPr wrap="square"/>
                    <a:lstStyle/>
                    <a:p>
                      <a:pPr algn="l"/>
                      <a:r>
                        <a:rPr sz="1300" b="0">
                          <a:solidFill>
                            <a:srgbClr val="3D444C"/>
                          </a:solidFill>
                          <a:latin typeface="Avenir Next"/>
                        </a:rPr>
                        <a:t>not needed — the data are given</a:t>
                      </a:r>
                    </a:p>
                  </a:txBody>
                  <a:tcPr marL="73152" marR="73152" marT="36576" marB="36576" anchor="ctr">
                    <a:solidFill>
                      <a:srgbClr val="F1F1EC"/>
                    </a:solidFill>
                  </a:tcPr>
                </a:tc>
                <a:tc>
                  <a:txBody>
                    <a:bodyPr wrap="square"/>
                    <a:lstStyle/>
                    <a:p>
                      <a:pPr algn="l"/>
                      <a:r>
                        <a:rPr sz="1300" b="1">
                          <a:solidFill>
                            <a:srgbClr val="1B2025"/>
                          </a:solidFill>
                          <a:latin typeface="Avenir Next"/>
                        </a:rPr>
                        <a:t>essential — try new actions, or never learn they’re better</a:t>
                      </a:r>
                    </a:p>
                  </a:txBody>
                  <a:tcPr marL="73152" marR="73152" marT="36576" marB="36576" anchor="ctr">
                    <a:solidFill>
                      <a:srgbClr val="E3F0EF"/>
                    </a:solidFill>
                  </a:tcPr>
                </a:tc>
              </a:tr>
              <a:tr h="533335">
                <a:tc>
                  <a:txBody>
                    <a:bodyPr wrap="square"/>
                    <a:lstStyle/>
                    <a:p>
                      <a:pPr algn="l"/>
                      <a:r>
                        <a:rPr sz="1300" b="1">
                          <a:solidFill>
                            <a:srgbClr val="1B2025"/>
                          </a:solidFill>
                          <a:latin typeface="Avenir Next"/>
                        </a:rPr>
                        <a:t>Goal</a:t>
                      </a:r>
                    </a:p>
                  </a:txBody>
                  <a:tcPr marL="73152" marR="73152" marT="36576" marB="36576" anchor="ctr">
                    <a:solidFill>
                      <a:srgbClr val="FFFFFF"/>
                    </a:solidFill>
                  </a:tcPr>
                </a:tc>
                <a:tc>
                  <a:txBody>
                    <a:bodyPr wrap="square"/>
                    <a:lstStyle/>
                    <a:p>
                      <a:pPr algn="l"/>
                      <a:r>
                        <a:rPr sz="1300" b="0">
                          <a:solidFill>
                            <a:srgbClr val="3D444C"/>
                          </a:solidFill>
                          <a:latin typeface="Avenir Next"/>
                        </a:rPr>
                        <a:t>match the labels</a:t>
                      </a:r>
                    </a:p>
                  </a:txBody>
                  <a:tcPr marL="73152" marR="73152" marT="36576" marB="36576" anchor="ctr">
                    <a:solidFill>
                      <a:srgbClr val="F1F1EC"/>
                    </a:solidFill>
                  </a:tcPr>
                </a:tc>
                <a:tc>
                  <a:txBody>
                    <a:bodyPr wrap="square"/>
                    <a:lstStyle/>
                    <a:p>
                      <a:pPr algn="l"/>
                      <a:r>
                        <a:rPr sz="1300" b="1">
                          <a:solidFill>
                            <a:srgbClr val="1B2025"/>
                          </a:solidFill>
                          <a:latin typeface="Avenir Next"/>
                        </a:rPr>
                        <a:t>maximise the total future reward (the return)</a:t>
                      </a:r>
                    </a:p>
                  </a:txBody>
                  <a:tcPr marL="73152" marR="73152" marT="36576" marB="36576" anchor="ctr">
                    <a:solidFill>
                      <a:srgbClr val="E3F0EF"/>
                    </a:solidFill>
                  </a:tcPr>
                </a:tc>
              </a:tr>
            </a:tbl>
          </a:graphicData>
        </a:graphic>
      </p:graphicFrame>
      <p:sp>
        <p:nvSpPr>
          <p:cNvPr id="6" name="TextBox 5"/>
          <p:cNvSpPr txBox="1"/>
          <p:nvPr/>
        </p:nvSpPr>
        <p:spPr>
          <a:xfrm>
            <a:off x="548640" y="5043080"/>
            <a:ext cx="11094720" cy="380000"/>
          </a:xfrm>
          <a:prstGeom prst="rect">
            <a:avLst/>
          </a:prstGeom>
          <a:noFill/>
        </p:spPr>
        <p:txBody>
          <a:bodyPr wrap="square">
            <a:spAutoFit/>
          </a:bodyPr>
          <a:lstStyle/>
          <a:p>
            <a:r>
              <a:rPr sz="1200" b="1">
                <a:solidFill>
                  <a:srgbClr val="8A9099"/>
                </a:solidFill>
                <a:latin typeface="Avenir Next"/>
              </a:rPr>
              <a:t>i.i.d. </a:t>
            </a:r>
            <a:r>
              <a:rPr sz="1200" b="0">
                <a:solidFill>
                  <a:srgbClr val="8A9099"/>
                </a:solidFill>
                <a:latin typeface="Avenir Next"/>
              </a:rPr>
              <a:t>= independent and identically distributed: every example drawn separately from one fixed pool, so order doesn’t matter.</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Think of your own Quiz 13 Q1 problem: which row will bite hardest — the delayed reward, the non-i.i.d. data, or the need to explore? Next: the delayed reward, and how to credit early moves.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
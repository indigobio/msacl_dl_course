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2.webp" ContentType="image/webp"/>
  <Override PartName="/ppt/media/image5.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38"/>
  </p:notesMasterIdLst>
  <p:sldIdLst>
    <p:sldId id="256" r:id="rId2"/>
    <p:sldId id="257" r:id="rId3"/>
    <p:sldId id="258" r:id="rId4"/>
    <p:sldId id="259" r:id="rId5"/>
    <p:sldId id="260" r:id="rId6"/>
    <p:sldId id="261" r:id="rId7"/>
    <p:sldId id="288" r:id="rId8"/>
    <p:sldId id="262" r:id="rId9"/>
    <p:sldId id="263" r:id="rId10"/>
    <p:sldId id="264" r:id="rId11"/>
    <p:sldId id="265" r:id="rId12"/>
    <p:sldId id="266" r:id="rId13"/>
    <p:sldId id="267" r:id="rId14"/>
    <p:sldId id="268" r:id="rId15"/>
    <p:sldId id="269" r:id="rId16"/>
    <p:sldId id="270" r:id="rId17"/>
    <p:sldId id="271" r:id="rId18"/>
    <p:sldId id="289" r:id="rId19"/>
    <p:sldId id="290" r:id="rId20"/>
    <p:sldId id="291" r:id="rId21"/>
    <p:sldId id="272" r:id="rId22"/>
    <p:sldId id="273" r:id="rId23"/>
    <p:sldId id="274" r:id="rId24"/>
    <p:sldId id="279" r:id="rId25"/>
    <p:sldId id="275" r:id="rId26"/>
    <p:sldId id="276" r:id="rId27"/>
    <p:sldId id="277" r:id="rId28"/>
    <p:sldId id="278" r:id="rId29"/>
    <p:sldId id="280" r:id="rId30"/>
    <p:sldId id="281" r:id="rId31"/>
    <p:sldId id="282" r:id="rId32"/>
    <p:sldId id="292" r:id="rId33"/>
    <p:sldId id="283" r:id="rId34"/>
    <p:sldId id="284" r:id="rId35"/>
    <p:sldId id="285" r:id="rId36"/>
    <p:sldId id="287"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86"/>
    <p:restoredTop sz="94669"/>
  </p:normalViewPr>
  <p:slideViewPr>
    <p:cSldViewPr snapToGrid="0" snapToObjects="1">
      <p:cViewPr varScale="1">
        <p:scale>
          <a:sx n="135" d="100"/>
          <a:sy n="135" d="100"/>
        </p:scale>
        <p:origin x="8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607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Sunday afternoon, hour two, straight after Lecture 4. Energy check. The promise of the hour: by the end you compute a convolution by hand, and you see why the exact same machinery reads a MALDI-TOF spectrum and even finds chromatographic peaks. Nothing here needs more than multiply-and-add — no calculus, no new math. This hour is interactive the same way Lectures 1, 2 and 4 were: each worked example (I-do) is followed by one you do yourself (you-do), and every you-do IS a Quiz 5 item. Hand out Quiz 5 now, blank; the room fills it in across the hour, so by the recap they have worked the whole sheet. The grids on Quiz 5 are the same drill as the grids on screen, new numbers.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is deliberate: mechanics in 2D first with real numbers (easier to see on a grid), then transfer to the 1D data this room actually works with, then the architecture story and the detection reframe. Signpost the four stops so people can pace themselves. Quiz 5 reuses exactly these grids: the convolution maps (Q1), the max-pool (Q2), the output-size count (Q3), the peak-as-detection item (Q4), and the channel arithmetic (Q5). Keep it moving — the convolution block is the biggest, and every mechanic in it has a matching quiz item. Timing note: the channels block (slides 17–20) added about five minutes to the convolution stop, hence 31 min, and the last stop is trimmed 16 → 11 min to pay for it (the LeNet→VGG row at ~3 min and the segmentation slide are the compressible pieces). If channels have to go, drop slide 20 (the you-do) first and set Quiz 5 Q5 as homework.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motivating example is a plain photo — the classic doorway to CNNs. Wire every pixel of a modest 100x100x3 image to each of 1,000 neurons and layer one alone is 30 MILLION weights; the waste is not just memory, every one of those weights needs training data to pin down. Callback to Lab 1: our MLP was fine there because 189 metabolite features have no spatial order — but pixels do, and so do spectrum bins. On the right is the fix in one picture: a single 3x3 filter is 9 shared weights slid across the whole image (local windows + weight sharing). Three observations about images make this work, and each restates verbatim for spectra over the next three slides.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Hung-yi Lee's beak detector, told on the image itself. The consequence: connect each detector neuron to a small window instead of to everything, so far fewer weights. Then land the mass-spec beat via the callout — a peak is every bit as local in a spectrum as a beak is in the photo; you would never need the whole 6,000-bin trace to decide whether a peak sits at one m/z.</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weight sharing — the single most important idea of the hour, and exactly what "convolution" will mean mechanically in a minute. One beak detector reused at every position instead of one detector per location. The callout lands the same move for spectra: one peak-shape detector for all 6,000 bins, because a Gaussian peak looks the same wherever it sits on the m/z axis. Say the phrase "weight sharing" out loud and promise them they will see it happen on the grid two slides from now.</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Subsampling the pixels does not change the object: keep one pixel in twenty and it is still obviously a bird, but the next layer has far less to process. This is the license for pooling later in the hour. Wrap the whole "why" section here: three properties of the data map to three design moves — local windows, shared weights, and pooling — and each held just as well for spectra (the three mass-spec callouts). Now we compute all three by hand on a numeric grid.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Grids straight from the reference deck's CNN section (Hung-yi Lee, slides ~150-170). The image is 0/1 for arithmetic comfort; the filter is a diagonal detector, +1 down the diagonal and -1 off it, so it will "light up" wherever the image has a diagonal streak. State the rule on screen BEFORE any exercise asks for a number (rule 3): overlay, multiply the nine matching cells, add. Emphasize the punchline that WE do not choose these weights in practice — training discovers them; we fix them here only so the arithmetic is doable by hand. Next slide we compute the very first cell, every product out loud.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only full dot product we do out loud. Walk the nine products slowly: six are zero, and the three surviving 1·1 terms are exactly the diagonal matching, so the cell is 3 — a strong match. Point out that this 3 is just a neuron's weighted sum from Lecture 1, only arranged spatially over a window instead of over a feature vector. Every number here is exact and reproducible from the rule on the previous slide. Next: slide the same nine weights one step to the right.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worked cell, so the you-do that follows is genuine practice, not a first attempt. The key idea to name: nothing about the filter changed — the same nine weights moved one column over. That reuse is weight sharing made concrete (Property 2). The value −3 says "no diagonal here." Stride is simply how far the window jumps each step; stride 1 means one cell. Keep momentum — don't recompute every term aloud a third time; the room is about to do it themselves.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completed 3×3 map: the three 3's lie exactly where the image has diagonal streaks, and everything off-diagonal is −3. Read a feature map as a picture of "where did my detector fire." Contrast with the dense layer from slide 3: nine shared weights replaced thousands. Then the point that makes deep CNNs possible — a feature map is just another image, so the next layer convolves on top of it, building patterns of patterns. That is the Lecture 1 hierarchy, now with a mechanism.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Stride 2 halves the number of window positions in each direction, so the map goes from 3×3 to 2×2 — a quarter of the outputs, cheaper for the next layer. Same nine weights, fewer stops. Stride is a resolution/cost dial, and in Lab 2 they will turn it themselves in the hyperparameter play. Note the stride-2 map is literally a subsample of the stride-1 map — the same cell values at every other position — which is why the you-do's stride-2 map needs no new arithmetic at all.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5 Q1 (same overlay-multiply-add drill, a different image and a simpler filter, so it is real practice and it assesses the by-hand convolution outcome). By now the full stride-1 map and the stride-2 map have both been worked on the board, so every rule this needs is already shown. The filter is [[1,0,1],[0,1,0],[1,0,1]] — the four corners plus the centre of each window, so each cell just counts how many of those five positions are 1: cell(r,c) = I(r,c) + I(r,c+2) + I(r+2,c) + I(r+2,c+2) + I(r+1,c+1), 1-indexed, the convention the quiz uses. (a) Stride 1, the whole 3×3 map — row 1: 1+0+1+1+1 = 4, 1+1+0+0+1 = 3, 0+0+1+0+0 = 1; row 2: 0+1+0+0+0 = 1, 1+0+1+1+1 = 4, 1+1+0+1+0 = 3; row 3: 1+1+1+1+1 = 5, 0+0+0+0+0 = 0, 1+0+1+1+1 = 4. So the map is [[4,3,1],[1,4,3],[5,0,4]]. (b) Stride 2 jumps the window by two, so its 2×2 map is exactly the four corners of the stride-1 map — output positions (1,1), (1,3), (3,1), (3,3) — giving [[4,1],[5,4]]: nothing new to compute, which is the point to land. Every number matches the Quiz 5 key exactly. Give the room ~3 minutes on the nine cells, take one row from volunteers, then ask who spotted that stride 2 needed no new arithmetic.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idea, one slide: add a ring of zeros so the output size matches the input and the border pixels are not shortchanged. In spectra terms, without padding the peaks at the very start and very end of your m/z range get fewer looks than peaks in the middle, and the signal shrinks a little at every layer. The count on the right, (5 − 3 + 2·1)/1 + 1 = 5, is the output-size formula we make general on the very next slide — so the number is bookkeeping, not magic.</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diagram makes all four letters concrete before the formula runs: n is the plain input width (padding not counted), p is the ring added on each side, k is the filter window's own width, and s is how far the window jumps between stops. Then verify the formula against the three maps we just built by hand — it should feel like bookkeeping, not math. This is the only formula of the hour, and the next slide has the room run it once themselves (Quiz 5 Q3) before we move on to pooling.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5 Q3 (the same (n − k + 2p)/s + 1 formula, new numbers, so it is real practice and it assesses the output-size outcome). Answer: with padding, (7 − 3 + 2·1)/1 + 1 = (7 − 3 + 2) + 1 = 6 + 1 = 7 — padding 1 with a 3×3 filter keeps the length unchanged. Without padding, (7 − 3 + 0)/1 + 1 = 4 + 1 = 5, so the map shrinks by two. Both numbers match the Quiz 5 key. Ask a pair for the padded length before revealing, then have them fill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genuine convolutions of the sparrow photo with the kernels named under each panel — not illustrations. Vertical branches blaze in the vertical-edge map and fade in the horizontal one; the Laplacian lights up fine texture and speckles; the all-ones kernel smooths instead of detecting. Define "channels" as the depth axis of the stack — every filter contributes one map, so a conv layer with 32 filters turns one image into a 32-channel stack. The punchline: nobody hand-picks these in a real CNN; gradient descent rediscovers edge- and blob-like filters in layer 1 because they are useful, and deeper layers combine them. Same story on spectra: layer-1 kernels become peak-shape and baseline-slope detectors. That is c_out — one map per filter. The next two slides make both channel axes exact: what a filter does when the INPUT has several channels, and the bookkeeping that ties c_in and c_out together.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I-DO for the channel mechanic. The numbers are the canonical worked example from Dive into Deep Learning §7.4 (fig. 7.4.1, CC BY-SA 4.0), so anyone who reads the book afterwards meets the same figure. Setup: the input is 2 channels of 3×3; there is ONE filter, but it has 2 slices — one per input channel — so it is 2×2×2 = 8 weights. Take the SAME top-left 2×2 window from both channels (highlighted amber): channel 1 gives 0·0 + 1·1 + 3·2 + 4·3 = 19, channel 2 gives 1·1 + 2·2 + 4·3 + 5·4 = 37, and the two partials ADD: 19 + 37 = 56 — one number, one cell of ONE map. The other three cells are the same drill, giving [[56,72],[104,120]]. The misconception to kill out loud: a filter is not 'one per channel', and the channels are not combined at the end — the sum across channels happens inside every single output cell. So a filter's DEPTH is forced by the data (it must equal c_in); what you choose is how MANY filters. MS anchor: channels are co-recorded traces on a shared axis — 3 MRM transitions of one analyte, sample + internal standard, or one channel per selected m/z image in imaging MS; a single MALDI-TOF spectrum is in_channels=1, which is exactly Lab 2. Next slide: run several filters and the maps stack.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input, same drill, three different filters — filter 2 is filter 1 + 1 and filter 3 is filter 1 + 2, following d2l §7.4 so the numbers check against the book. Each filter is still 2 slices deep (c_in = 2) and each produces ONE map: map 1 = [[56,72],[104,120]] (the one we just computed by hand), map 2 = [[76,100],[148,172]], map 3 = [[96,128],[192,224]]. Three filters → a 3 × 2 × 2 output, which is itself a 3-channel image for the next layer — that is how depth grows through a CNN (VGG's 64→128→256→512 two slides from now is exactly this dial). Land the two rules and the one count: kernel tensor c_out × c_in × k × k, so 3×2×2×2 = 24 weights plus one bias per filter. Then the chaining rule they will need in Lab 2: this layer's out_channels IS the next layer's in_channels — Conv1d(1, 8, 15) then Conv1d(8, 16, 15). Both numbers on the slide are needed for the you-do next, so do not skip the formula. If someone asks about 1×1 convolutions (d2l §7.4.3): a 1×1 filter has no spatial reach at all, it only MIXES channels — c_out × c_in weights, a dense layer applied at every position. Answer it, but don't teach it.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5 Q5 (the same two-channel drill, new numbers, so it is real practice and it assesses the channels outcome). Everything it needs is on the two previous slides: the per-channel partial sums that add, and the kernel-tensor count c_out × c_in × k × k. Answers — (a) channel 1: 1·1 + 2·2 + 0·0 + 3·1 = 8; channel 2: 2·0 + 1·1 + 1·2 + 0·0 = 3; the cell is 8 + 3 = 11. (b) kernel tensor 5×2×3×3 = 90 weights + 5 biases = 95 parameters; the layer emits 5 maps, so the next layer declares in_channels=5. (c) three co-recorded transitions on one retention-time axis = 3 input channels, so in_channels=3 — while out_channels stays your choice, because it is just the number of filters. Every number matches the Quiz 5 key exactly. Give the room ~2 minutes on (a), take the two partials from volunteers, then read (b) and (c) together.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Pooling has no weights — nothing to learn, purely mechanical. Read the four colour-coded 2×2 windows and keep the maximum of each: 3, 5, 6, 3. Two gifts: the next layer is cheaper (half the size each way), and the network tolerates tiny shifts — a peak drifting one bin left does not change the pooled answer, which is exactly why calibration jitter doesn't wreck CNNs on spectra. Every number here is exact; the next slide hands the room a different 4×4 to pool (Quiz 5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5 Q2 (same 2×2 max-pool drill, different map). Answer, block by block: top-left {1,3,4,2} → 4; top-right {2,0,1,5} → 5; bottom-left {0,1,2,3} → 3; bottom-right {6,2,1,4} → 6. So the pooled map is [[4,5],[3,6]] — matches the Quiz 5 key exactly. Ask for one block from the room, then have them fill Q2. Note this is max pooling; average pooling would take the mean of each block instead, but max is the default and the one on the sheet.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the composition: conv (their 5×5 grid) makes pattern maps, pooling shrinks them, repeat to build patterns of patterns, then flatten to a vector and feed the fully connected head — which is exactly the MLP from Lab 1. A CNN is a learned feature extractor bolted onto their old friend. The output labels are susceptible/resistant on purpose: this is the exact shape of Lab 2 on MALDI-TOF spectra, next hour.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Fast beat, ~60 seconds, part of the architecture story; do not walk every block. One point: there is nothing new here. Conv (their 5×5 grid), pooling (their max-pool), a fully connected head (Lab 1) — repeated sixteen layers deep, channels doubling as the maps shrink. The uniform all-3×3 design is why VGG became the "just stack more" poster child, and its ≈138M weights is the cliffhanger's setup: stacking further stopped working — the next slide is why, and the fix.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transfer beat: everything we computed on the 2D grid works on a 1D signal by dropping a dimension. The filter is now a short segment of a few weights; slide it along the m/z axis, and the feature map is a new signal that spikes where the pattern lives. Chromatograms are the identical story on a retention-time axis. Say it plainly: your data was never really "images" — it was signals all along, and a 1D CNN reads them directly. This is the exact model they build next hour in Lab 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Demystification moment: read each line of nn.Conv1d and point back to the slide where that concept was computed by hand. in_channels=1 is one raw spectrum and out_channels=8 is eight filters making eight maps — both computed by hand on the channel slides (17–20), so this line should read as bookkeeping now; kernel_size=15 is the window; padding=7 keeps the length, which the output-size formula confirms: (6000 − 15 + 14)/1 + 1 = 6000. Then MaxPool1d(2) halves it. In Lab 2 they fill these arguments in themselves, choosing the kernel size with exactly this arithmetic.</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pair prompt from the session plan (a hands-on beat that keeps the ~8-10 minute cadence). Harvest two or three answers and write good ones on the whiteboard — they seed Discussion D2 after Lab 2. The teaching point: the dimensionality of the convolution matches the dimensionality of the signal — a single spectrum or chromatogram is 1D; an imaging-MS slide or an LC×MS heatmap is genuinely 2D. No single right answer; the goal is that they can classify their own data.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it as a cliffhanger. LeNet reads bank-check digits in 1998; AlexNet in 2012 halves the ImageNet error overnight and launches the modern field; VGG pushes the "just stack more 3×3 convs" idea to 19 layers. Then the twist: beyond roughly 20 layers, extra depth made things WORSE even on training data — not overfitting, something else. Let the room answer the "why" themselves: Lecture 4's vanishing gradients, the whisper-down-the-lane problem. Wait for someone to say it before advancing to VGG's size and then the fix.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payoff of the Lecture 4 setup, so make the callback explicit: vanishing gradients came from multiplying many small per-layer slopes down a deep chain, so the earliest layers barely learned. The residual block adds a skip connection — the identity path around the two conv layers — so at the '+' the block's output is x plus a learned tweak. Two consequences: the gradient can flow straight back along that identity highway without being multiplied down to nothing, and each block only has to learn a small correction rather than a full transformation. ResNet, 2015, went 152 layers deep and beat human ImageNet accuracy. Plant a flag: this same skip connection reappears inside transformers on Monday.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~12 minutes. Classification answers "what is this?" — but a lot of lab work is "where are the things, and how many?" That is object detection, and for this room it is peak picking in disguise. The next three slides build detection at a high altitude (boxes + scores), reframe a chromatogram as an image whose objects are peaks (the you-do, Quiz 5 Q4), and show a real published system, PeakOnly, doing exactly this.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at altitude — no anchor boxes, no non-max suppression, no detection loss. The message is small and important: detection is just a change of OUTPUT HEAD on the same convolutional machinery. The backbone that turns pixels into feature maps is exactly what we built; the new part predicts, for each location, a bounding box and a confidence score. Names they will meet: YOLO (fast, one pass over a grid of positions) and Faster R-CNN (propose regions, then verify). Then bring it home to their world on the next slide.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reframe of the segment, worked as the I-do for Quiz 5 Q4. Read the two boxed peaks like a detector: the box is the retention-time window that brackets the peak — the very integration bounds a technician draws by hand — and the score is the model's confidence that the boxed region is a real peak rather than noise or an artifact. Someone in this room integrates peaks by hand every week; speak to them. Next slide the room states the mapping themselves (Q4), then we show a real system that does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5 Q4 — a DECIDE beat, not "restate the mapping." The scores are the given data; each box = that peak's RT integration window (stated on the I-do slide before this). Answers: (a) integrate the 0.95 box — a confident, genuine peak; the 0.30 box is a low-confidence shoulder/noise the model is unsure is real, so flag-for-review or drop it. (b) threshold 0.5 keeps only the 0.95 peak (0.30 &lt; 0.5 is dropped) → 1 clean peak; threshold 0.2 keeps BOTH (0.30 ≥ 0.2) → the dubious bump gets integrated too. (c) lowering the threshold catches more real peaks (higher sensitivity/recall) but admits more false ones (lower specificity/ precision) — the exact threshold trade-off from Lectures 4 and 10, and the SCORE is the dial that lets you choose. Have a pair make the 0.5-vs-0.2 call before revealing, then fill Q4.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Melnikov et al., Analytical Chemistry 2020 — full citation on the reading list handout. The pipeline is precisely the detection reframe made real: take a candidate region of interest from raw LC-MS, one CNN decides peak vs. noise (the score), a second CNN finds the boundaries (the box), then integrate and report the area. Lineage if asked: </a:t>
            </a:r>
            <a:r>
              <a:rPr dirty="0" err="1"/>
              <a:t>PeakOnly</a:t>
            </a:r>
            <a:r>
              <a:rPr dirty="0"/>
              <a:t> (2020) → EVA (2021) → </a:t>
            </a:r>
            <a:r>
              <a:rPr dirty="0" err="1"/>
              <a:t>NeatMS</a:t>
            </a:r>
            <a:r>
              <a:rPr dirty="0"/>
              <a:t> (2022) → RL-based peak pickers (2026) — active, publishable territory. The dataset callout is real: our prepared slice is 3.8 MB, and the capstone's Track B uses it.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the last minutes to the quiz-and-bridge: they finish Quiz 5 while Colab loads, and the walkthrough doubles as the Lab 2 opener. Sell Lab 2 hard — it is the same code skeleton as Lab 1 with a new superpower: the CNN reads the raw spectrum directly and should beat the MLP that needed hand-engineered features. Everything today — convolution, pooling, output size, the knobs from Lecture 4 — is now put to work on real DRIAMS resistance data. Then Colab is up and Lab 2 begins.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webp"/></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2 · LECTURE 5</a:t>
            </a:r>
          </a:p>
        </p:txBody>
      </p:sp>
      <p:sp>
        <p:nvSpPr>
          <p:cNvPr id="4" name="TextBox 3"/>
          <p:cNvSpPr txBox="1"/>
          <p:nvPr/>
        </p:nvSpPr>
        <p:spPr>
          <a:xfrm>
            <a:off x="548640" y="1945640"/>
            <a:ext cx="11064240" cy="2509520"/>
          </a:xfrm>
          <a:prstGeom prst="rect">
            <a:avLst/>
          </a:prstGeom>
          <a:noFill/>
        </p:spPr>
        <p:txBody>
          <a:bodyPr wrap="square" anchor="ctr">
            <a:spAutoFit/>
          </a:bodyPr>
          <a:lstStyle/>
          <a:p>
            <a:r>
              <a:rPr sz="4400" b="1" i="0">
                <a:solidFill>
                  <a:srgbClr val="1B2025"/>
                </a:solidFill>
                <a:latin typeface="Avenir Next"/>
              </a:rPr>
              <a:t>Convolutional networks: seeing patterns in images and spectra</a:t>
            </a:r>
          </a:p>
          <a:p>
            <a:pPr>
              <a:spcBef>
                <a:spcPts val="1600"/>
              </a:spcBef>
            </a:pPr>
            <a:r>
              <a:rPr sz="2200" b="0" i="0">
                <a:solidFill>
                  <a:srgbClr val="0E7C7B"/>
                </a:solidFill>
                <a:latin typeface="Avenir Next"/>
              </a:rPr>
              <a:t>Filters, feature maps, pooling — computed by hand · then peaks as objects</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5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stops, one idea</a:t>
            </a:r>
          </a:p>
        </p:txBody>
      </p:sp>
      <p:sp>
        <p:nvSpPr>
          <p:cNvPr id="5" name="TextBox 4"/>
          <p:cNvSpPr txBox="1"/>
          <p:nvPr/>
        </p:nvSpPr>
        <p:spPr>
          <a:xfrm>
            <a:off x="548640" y="1920240"/>
            <a:ext cx="10789920" cy="3108543"/>
          </a:xfrm>
          <a:prstGeom prst="rect">
            <a:avLst/>
          </a:prstGeom>
          <a:noFill/>
        </p:spPr>
        <p:txBody>
          <a:bodyPr wrap="square" anchor="t">
            <a:spAutoFit/>
          </a:bodyPr>
          <a:lstStyle/>
          <a:p>
            <a:pPr>
              <a:spcAft>
                <a:spcPts val="1800"/>
              </a:spcAft>
            </a:pPr>
            <a:r>
              <a:rPr sz="2600" b="1" i="0" dirty="0">
                <a:solidFill>
                  <a:srgbClr val="0E7C7B"/>
                </a:solidFill>
                <a:latin typeface="Avenir Next"/>
              </a:rPr>
              <a:t>• </a:t>
            </a:r>
            <a:r>
              <a:rPr lang="en-US" sz="2600" b="1" i="0" dirty="0">
                <a:solidFill>
                  <a:srgbClr val="0E7C7B"/>
                </a:solidFill>
                <a:latin typeface="Avenir Next"/>
              </a:rPr>
              <a:t>Why:</a:t>
            </a:r>
            <a:r>
              <a:rPr sz="2600" b="0" i="0" dirty="0">
                <a:solidFill>
                  <a:srgbClr val="1B2025"/>
                </a:solidFill>
                <a:latin typeface="Avenir Next"/>
              </a:rPr>
              <a:t> three properties of the data</a:t>
            </a:r>
            <a:r>
              <a:rPr sz="2100" b="0" i="0" dirty="0">
                <a:solidFill>
                  <a:srgbClr val="8A9099"/>
                </a:solidFill>
                <a:latin typeface="Menlo"/>
              </a:rPr>
              <a:t>   · 8 min</a:t>
            </a:r>
          </a:p>
          <a:p>
            <a:pPr>
              <a:spcAft>
                <a:spcPts val="1800"/>
              </a:spcAft>
            </a:pPr>
            <a:r>
              <a:rPr sz="2600" b="1" i="0" dirty="0">
                <a:solidFill>
                  <a:srgbClr val="0E7C7B"/>
                </a:solidFill>
                <a:latin typeface="Avenir Next"/>
              </a:rPr>
              <a:t>•  </a:t>
            </a:r>
            <a:r>
              <a:rPr lang="en-US" sz="2600" b="1" dirty="0">
                <a:solidFill>
                  <a:srgbClr val="0E7C7B"/>
                </a:solidFill>
                <a:latin typeface="Avenir Next"/>
              </a:rPr>
              <a:t>How: </a:t>
            </a:r>
            <a:r>
              <a:rPr sz="2600" b="0" i="0" dirty="0">
                <a:solidFill>
                  <a:srgbClr val="1B2025"/>
                </a:solidFill>
                <a:latin typeface="Avenir Next"/>
              </a:rPr>
              <a:t>Convolution by hand — filters, stride, padding, output size, channels, pooling</a:t>
            </a:r>
            <a:r>
              <a:rPr sz="2100" b="0" i="0" dirty="0">
                <a:solidFill>
                  <a:srgbClr val="8A9099"/>
                </a:solidFill>
                <a:latin typeface="Menlo"/>
              </a:rPr>
              <a:t>   · 31 min</a:t>
            </a:r>
          </a:p>
          <a:p>
            <a:pPr>
              <a:spcAft>
                <a:spcPts val="1800"/>
              </a:spcAft>
            </a:pPr>
            <a:r>
              <a:rPr sz="2600" b="1" i="0" dirty="0">
                <a:solidFill>
                  <a:srgbClr val="0E7C7B"/>
                </a:solidFill>
                <a:latin typeface="Avenir Next"/>
              </a:rPr>
              <a:t>•</a:t>
            </a:r>
            <a:r>
              <a:rPr lang="en-US" sz="2600" b="1" i="0" dirty="0">
                <a:solidFill>
                  <a:srgbClr val="0E7C7B"/>
                </a:solidFill>
                <a:latin typeface="Avenir Next"/>
              </a:rPr>
              <a:t> Adaptation:</a:t>
            </a:r>
            <a:r>
              <a:rPr sz="2600" b="1" i="0" dirty="0">
                <a:solidFill>
                  <a:srgbClr val="0E7C7B"/>
                </a:solidFill>
                <a:latin typeface="Avenir Next"/>
              </a:rPr>
              <a:t> </a:t>
            </a:r>
            <a:r>
              <a:rPr sz="2600" b="0" i="0" dirty="0">
                <a:solidFill>
                  <a:srgbClr val="1B2025"/>
                </a:solidFill>
                <a:latin typeface="Avenir Next"/>
              </a:rPr>
              <a:t>The same trick in 1D — spectra and chromatograms</a:t>
            </a:r>
            <a:r>
              <a:rPr sz="2100" b="0" i="0" dirty="0">
                <a:solidFill>
                  <a:srgbClr val="8A9099"/>
                </a:solidFill>
                <a:latin typeface="Menlo"/>
              </a:rPr>
              <a:t>   · 6 min</a:t>
            </a:r>
          </a:p>
          <a:p>
            <a:pPr>
              <a:spcAft>
                <a:spcPts val="1800"/>
              </a:spcAft>
            </a:pPr>
            <a:r>
              <a:rPr sz="2600" b="1" i="0" dirty="0">
                <a:solidFill>
                  <a:srgbClr val="0E7C7B"/>
                </a:solidFill>
                <a:latin typeface="Avenir Next"/>
              </a:rPr>
              <a:t>•</a:t>
            </a:r>
            <a:r>
              <a:rPr lang="en-US" sz="2600" b="1" i="0" dirty="0">
                <a:solidFill>
                  <a:srgbClr val="0E7C7B"/>
                </a:solidFill>
                <a:latin typeface="Avenir Next"/>
              </a:rPr>
              <a:t> Application: </a:t>
            </a:r>
            <a:r>
              <a:rPr lang="en-US" sz="2600" dirty="0">
                <a:solidFill>
                  <a:srgbClr val="1B2025"/>
                </a:solidFill>
                <a:latin typeface="Avenir Next"/>
              </a:rPr>
              <a:t>Object</a:t>
            </a:r>
            <a:r>
              <a:rPr lang="en-US" sz="2600" b="1" i="0" dirty="0">
                <a:solidFill>
                  <a:srgbClr val="0E7C7B"/>
                </a:solidFill>
                <a:latin typeface="Avenir Next"/>
              </a:rPr>
              <a:t> </a:t>
            </a:r>
            <a:r>
              <a:rPr sz="2600" b="0" i="0" dirty="0">
                <a:solidFill>
                  <a:srgbClr val="1B2025"/>
                </a:solidFill>
                <a:latin typeface="Avenir Next"/>
              </a:rPr>
              <a:t>detection</a:t>
            </a:r>
            <a:r>
              <a:rPr sz="2100" b="0" i="0" dirty="0">
                <a:solidFill>
                  <a:srgbClr val="8A9099"/>
                </a:solidFill>
                <a:latin typeface="Menlo"/>
              </a:rPr>
              <a:t>   · 11 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CNN · 1 OF 4 · THE PROBLEM</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 fully connected layer doesn't scale to images — or spectra</a:t>
            </a:r>
          </a:p>
        </p:txBody>
      </p:sp>
      <p:pic>
        <p:nvPicPr>
          <p:cNvPr id="5" name="Picture 4" descr="fig_dense_explosion.png"/>
          <p:cNvPicPr>
            <a:picLocks noChangeAspect="1"/>
          </p:cNvPicPr>
          <p:nvPr/>
        </p:nvPicPr>
        <p:blipFill>
          <a:blip r:embed="rId3"/>
          <a:stretch>
            <a:fillRect/>
          </a:stretch>
        </p:blipFill>
        <p:spPr>
          <a:xfrm>
            <a:off x="1330630" y="1828800"/>
            <a:ext cx="9500259" cy="3657600"/>
          </a:xfrm>
          <a:prstGeom prst="rect">
            <a:avLst/>
          </a:prstGeom>
        </p:spPr>
      </p:pic>
      <p:sp>
        <p:nvSpPr>
          <p:cNvPr id="6" name="Rectangle 5"/>
          <p:cNvSpPr/>
          <p:nvPr/>
        </p:nvSpPr>
        <p:spPr>
          <a:xfrm>
            <a:off x="548640" y="5577840"/>
            <a:ext cx="1051560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200" b="1" i="0" dirty="0">
                <a:solidFill>
                  <a:srgbClr val="0E7C7B"/>
                </a:solidFill>
                <a:latin typeface="Menlo"/>
              </a:rPr>
              <a:t>MATH </a:t>
            </a:r>
            <a:r>
              <a:rPr sz="1200" b="1" i="0" dirty="0">
                <a:solidFill>
                  <a:srgbClr val="0E7C7B"/>
                </a:solidFill>
                <a:latin typeface="Menlo"/>
              </a:rPr>
              <a:t>· </a:t>
            </a:r>
            <a:r>
              <a:rPr sz="1700" b="0" i="0" dirty="0">
                <a:solidFill>
                  <a:srgbClr val="3D444C"/>
                </a:solidFill>
                <a:latin typeface="Avenir Next"/>
              </a:rPr>
              <a:t>Same problem in 1D: feed a 6,000-bin spectrum straight into a dense layer and it is millions of weights — and the network must relearn 'what a peak looks like' separately at every m/z position. A convolution reuses ONE small detector everywhere.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CNN · 2 OF 4</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Property 1 — patterns are local</a:t>
            </a:r>
          </a:p>
        </p:txBody>
      </p:sp>
      <p:pic>
        <p:nvPicPr>
          <p:cNvPr id="5" name="Picture 4" descr="sparrow.jpg"/>
          <p:cNvPicPr>
            <a:picLocks noChangeAspect="1"/>
          </p:cNvPicPr>
          <p:nvPr/>
        </p:nvPicPr>
        <p:blipFill>
          <a:blip r:embed="rId3"/>
          <a:stretch>
            <a:fillRect/>
          </a:stretch>
        </p:blipFill>
        <p:spPr>
          <a:xfrm>
            <a:off x="1044681" y="1965960"/>
            <a:ext cx="4402878" cy="2926080"/>
          </a:xfrm>
          <a:prstGeom prst="rect">
            <a:avLst/>
          </a:prstGeom>
        </p:spPr>
      </p:pic>
      <p:sp>
        <p:nvSpPr>
          <p:cNvPr id="6" name="Rounded Rectangle 5"/>
          <p:cNvSpPr/>
          <p:nvPr/>
        </p:nvSpPr>
        <p:spPr>
          <a:xfrm>
            <a:off x="3686407" y="3077870"/>
            <a:ext cx="704460" cy="468172"/>
          </a:xfrm>
          <a:prstGeom prst="roundRect">
            <a:avLst/>
          </a:prstGeom>
          <a:no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65544" y="2668219"/>
            <a:ext cx="1737360" cy="310896"/>
          </a:xfrm>
          <a:prstGeom prst="roundRect">
            <a:avLst/>
          </a:prstGeom>
          <a:solidFill>
            <a:srgbClr val="FFFFFF"/>
          </a:solidFill>
          <a:ln w="9525">
            <a:solidFill>
              <a:srgbClr val="E09E2F"/>
            </a:solid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200" b="1" i="0">
                <a:solidFill>
                  <a:srgbClr val="A9721A"/>
                </a:solidFill>
                <a:latin typeface="Menlo"/>
              </a:rPr>
              <a:t>the beak lives here</a:t>
            </a:r>
          </a:p>
        </p:txBody>
      </p:sp>
      <p:sp>
        <p:nvSpPr>
          <p:cNvPr id="8" name="TextBox 7"/>
          <p:cNvSpPr txBox="1"/>
          <p:nvPr/>
        </p:nvSpPr>
        <p:spPr>
          <a:xfrm>
            <a:off x="548640" y="4946904"/>
            <a:ext cx="5394960" cy="411480"/>
          </a:xfrm>
          <a:prstGeom prst="rect">
            <a:avLst/>
          </a:prstGeom>
          <a:noFill/>
        </p:spPr>
        <p:txBody>
          <a:bodyPr wrap="square" anchor="t">
            <a:spAutoFit/>
          </a:bodyPr>
          <a:lstStyle/>
          <a:p>
            <a:pPr algn="ctr"/>
            <a:r>
              <a:rPr sz="1200" b="0" i="1">
                <a:solidFill>
                  <a:srgbClr val="8A9099"/>
                </a:solidFill>
                <a:latin typeface="Avenir Next"/>
              </a:rPr>
              <a:t>a beak detector only needs this window · photo: M. Pennington, geograph.org.uk, CC BY-SA 2.0</a:t>
            </a:r>
          </a:p>
        </p:txBody>
      </p:sp>
      <p:sp>
        <p:nvSpPr>
          <p:cNvPr id="9" name="TextBox 8"/>
          <p:cNvSpPr txBox="1"/>
          <p:nvPr/>
        </p:nvSpPr>
        <p:spPr>
          <a:xfrm>
            <a:off x="6309360" y="2011680"/>
            <a:ext cx="5394960" cy="3328416"/>
          </a:xfrm>
          <a:prstGeom prst="rect">
            <a:avLst/>
          </a:prstGeom>
          <a:noFill/>
        </p:spPr>
        <p:txBody>
          <a:bodyPr wrap="square" anchor="t">
            <a:spAutoFit/>
          </a:bodyPr>
          <a:lstStyle/>
          <a:p>
            <a:pPr>
              <a:spcAft>
                <a:spcPts val="1200"/>
              </a:spcAft>
            </a:pPr>
            <a:r>
              <a:rPr sz="2200" b="0" i="0" dirty="0">
                <a:solidFill>
                  <a:srgbClr val="1B2025"/>
                </a:solidFill>
                <a:latin typeface="Avenir Next"/>
              </a:rPr>
              <a:t>To recognize a beak, a neuron doesn't need the whole bird — a small window is enough.</a:t>
            </a:r>
          </a:p>
          <a:p>
            <a:pPr>
              <a:spcAft>
                <a:spcPts val="1200"/>
              </a:spcAft>
            </a:pPr>
            <a:r>
              <a:rPr sz="2200" b="0" i="0" dirty="0">
                <a:solidFill>
                  <a:srgbClr val="1B2025"/>
                </a:solidFill>
                <a:latin typeface="Avenir Next"/>
              </a:rPr>
              <a:t>So connect neurons to windows, not to every pixel.</a:t>
            </a:r>
          </a:p>
        </p:txBody>
      </p:sp>
      <p:sp>
        <p:nvSpPr>
          <p:cNvPr id="10" name="Rectangle 9"/>
          <p:cNvSpPr/>
          <p:nvPr/>
        </p:nvSpPr>
        <p:spPr>
          <a:xfrm>
            <a:off x="6309360" y="5394960"/>
            <a:ext cx="539496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0E7C7B"/>
                </a:solidFill>
                <a:latin typeface="Menlo"/>
              </a:rPr>
              <a:t>MASS SPEC · </a:t>
            </a:r>
            <a:r>
              <a:rPr sz="1700" b="0" i="0" dirty="0">
                <a:solidFill>
                  <a:srgbClr val="3D444C"/>
                </a:solidFill>
                <a:latin typeface="Avenir Next"/>
              </a:rPr>
              <a:t>A peak lives in a narrow m/z window — the rest of the spectrum is baseline.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WHY CNN · 3 OF 4</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Property 2 — the same pattern appears anywhere</a:t>
            </a:r>
          </a:p>
        </p:txBody>
      </p:sp>
      <p:pic>
        <p:nvPicPr>
          <p:cNvPr id="5" name="Picture 4" descr="sparrows_two.jpg"/>
          <p:cNvPicPr>
            <a:picLocks noChangeAspect="1"/>
          </p:cNvPicPr>
          <p:nvPr/>
        </p:nvPicPr>
        <p:blipFill>
          <a:blip r:embed="rId3"/>
          <a:stretch>
            <a:fillRect/>
          </a:stretch>
        </p:blipFill>
        <p:spPr>
          <a:xfrm>
            <a:off x="1503541" y="1965960"/>
            <a:ext cx="3485157" cy="2926080"/>
          </a:xfrm>
          <a:prstGeom prst="rect">
            <a:avLst/>
          </a:prstGeom>
        </p:spPr>
      </p:pic>
      <p:sp>
        <p:nvSpPr>
          <p:cNvPr id="6" name="Rounded Rectangle 5"/>
          <p:cNvSpPr/>
          <p:nvPr/>
        </p:nvSpPr>
        <p:spPr>
          <a:xfrm>
            <a:off x="2897603" y="2609697"/>
            <a:ext cx="453070" cy="321868"/>
          </a:xfrm>
          <a:prstGeom prst="roundRect">
            <a:avLst/>
          </a:prstGeom>
          <a:no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315822" y="2375611"/>
            <a:ext cx="1737360" cy="310896"/>
          </a:xfrm>
          <a:prstGeom prst="roundRect">
            <a:avLst/>
          </a:prstGeom>
          <a:solidFill>
            <a:srgbClr val="FFFFFF"/>
          </a:solidFill>
          <a:ln w="9525">
            <a:solidFill>
              <a:srgbClr val="E09E2F"/>
            </a:solid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200" b="1" i="0">
                <a:solidFill>
                  <a:srgbClr val="A9721A"/>
                </a:solidFill>
                <a:latin typeface="Menlo"/>
              </a:rPr>
              <a:t>a beak here…</a:t>
            </a:r>
          </a:p>
        </p:txBody>
      </p:sp>
      <p:sp>
        <p:nvSpPr>
          <p:cNvPr id="8" name="Rounded Rectangle 7"/>
          <p:cNvSpPr/>
          <p:nvPr/>
        </p:nvSpPr>
        <p:spPr>
          <a:xfrm>
            <a:off x="2688494" y="3516782"/>
            <a:ext cx="487921" cy="351129"/>
          </a:xfrm>
          <a:prstGeom prst="roundRect">
            <a:avLst/>
          </a:prstGeom>
          <a:no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573244" y="3955694"/>
            <a:ext cx="1737360" cy="310896"/>
          </a:xfrm>
          <a:prstGeom prst="roundRect">
            <a:avLst/>
          </a:prstGeom>
          <a:solidFill>
            <a:srgbClr val="FFFFFF"/>
          </a:solidFill>
          <a:ln w="9525">
            <a:solidFill>
              <a:srgbClr val="E09E2F"/>
            </a:solidFill>
          </a:ln>
          <a:effectLst/>
        </p:spPr>
        <p:style>
          <a:lnRef idx="1">
            <a:schemeClr val="accent1"/>
          </a:lnRef>
          <a:fillRef idx="3">
            <a:schemeClr val="accent1"/>
          </a:fillRef>
          <a:effectRef idx="2">
            <a:schemeClr val="accent1"/>
          </a:effectRef>
          <a:fontRef idx="minor">
            <a:schemeClr val="lt1"/>
          </a:fontRef>
        </p:style>
        <p:txBody>
          <a:bodyPr wrap="none" tIns="18288" bIns="18288" rtlCol="0" anchor="ctr"/>
          <a:lstStyle/>
          <a:p>
            <a:pPr algn="ctr"/>
            <a:r>
              <a:rPr sz="1200" b="1" i="0">
                <a:solidFill>
                  <a:srgbClr val="A9721A"/>
                </a:solidFill>
                <a:latin typeface="Menlo"/>
              </a:rPr>
              <a:t>…and here</a:t>
            </a:r>
          </a:p>
        </p:txBody>
      </p:sp>
      <p:sp>
        <p:nvSpPr>
          <p:cNvPr id="10" name="TextBox 9"/>
          <p:cNvSpPr txBox="1"/>
          <p:nvPr/>
        </p:nvSpPr>
        <p:spPr>
          <a:xfrm>
            <a:off x="548640" y="4946904"/>
            <a:ext cx="5394960" cy="411480"/>
          </a:xfrm>
          <a:prstGeom prst="rect">
            <a:avLst/>
          </a:prstGeom>
          <a:noFill/>
        </p:spPr>
        <p:txBody>
          <a:bodyPr wrap="square" anchor="t">
            <a:spAutoFit/>
          </a:bodyPr>
          <a:lstStyle/>
          <a:p>
            <a:pPr algn="ctr"/>
            <a:r>
              <a:rPr sz="1200" b="0" i="1">
                <a:solidFill>
                  <a:srgbClr val="8A9099"/>
                </a:solidFill>
                <a:latin typeface="Avenir Next"/>
              </a:rPr>
              <a:t>one detector could handle both · photo: hedera.baltica, CC BY-SA 2.0</a:t>
            </a:r>
          </a:p>
        </p:txBody>
      </p:sp>
      <p:sp>
        <p:nvSpPr>
          <p:cNvPr id="11" name="TextBox 10"/>
          <p:cNvSpPr txBox="1"/>
          <p:nvPr/>
        </p:nvSpPr>
        <p:spPr>
          <a:xfrm>
            <a:off x="6309360" y="2011680"/>
            <a:ext cx="5394960" cy="3328416"/>
          </a:xfrm>
          <a:prstGeom prst="rect">
            <a:avLst/>
          </a:prstGeom>
          <a:noFill/>
        </p:spPr>
        <p:txBody>
          <a:bodyPr wrap="square" anchor="t">
            <a:spAutoFit/>
          </a:bodyPr>
          <a:lstStyle/>
          <a:p>
            <a:pPr>
              <a:spcAft>
                <a:spcPts val="1200"/>
              </a:spcAft>
            </a:pPr>
            <a:r>
              <a:rPr sz="2200" b="0" i="0" dirty="0">
                <a:solidFill>
                  <a:srgbClr val="1B2025"/>
                </a:solidFill>
                <a:latin typeface="Avenir Next"/>
              </a:rPr>
              <a:t>An upper-left beak detector and a lower-right one do almost the same job.</a:t>
            </a:r>
          </a:p>
          <a:p>
            <a:pPr>
              <a:spcAft>
                <a:spcPts val="1200"/>
              </a:spcAft>
            </a:pPr>
            <a:r>
              <a:rPr sz="2200" b="0" i="0" dirty="0">
                <a:solidFill>
                  <a:srgbClr val="1B2025"/>
                </a:solidFill>
                <a:latin typeface="Avenir Next"/>
              </a:rPr>
              <a:t>So make them share one set of weights — one detector, slid everywhere.</a:t>
            </a:r>
          </a:p>
        </p:txBody>
      </p:sp>
      <p:sp>
        <p:nvSpPr>
          <p:cNvPr id="12" name="Rectangle 11"/>
          <p:cNvSpPr/>
          <p:nvPr/>
        </p:nvSpPr>
        <p:spPr>
          <a:xfrm>
            <a:off x="6309360" y="5394960"/>
            <a:ext cx="539496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0E7C7B"/>
                </a:solidFill>
                <a:latin typeface="Menlo"/>
              </a:rPr>
              <a:t>MASS SPEC · </a:t>
            </a:r>
            <a:r>
              <a:rPr sz="1700" b="0" i="0" dirty="0">
                <a:solidFill>
                  <a:srgbClr val="3D444C"/>
                </a:solidFill>
                <a:latin typeface="Avenir Next"/>
              </a:rPr>
              <a:t>A Gaussian peak at m/z 300 looks like one at m/z 4,800 — one detector, slid along the whole axis.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WHY CNN · 4 OF 4</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Property 3 — downsampling doesn't change what it is</a:t>
            </a:r>
          </a:p>
        </p:txBody>
      </p:sp>
      <p:pic>
        <p:nvPicPr>
          <p:cNvPr id="5" name="Picture 4" descr="sparrow.jpg"/>
          <p:cNvPicPr>
            <a:picLocks noChangeAspect="1"/>
          </p:cNvPicPr>
          <p:nvPr/>
        </p:nvPicPr>
        <p:blipFill>
          <a:blip r:embed="rId3"/>
          <a:stretch>
            <a:fillRect/>
          </a:stretch>
        </p:blipFill>
        <p:spPr>
          <a:xfrm>
            <a:off x="1044681" y="1965960"/>
            <a:ext cx="4402878" cy="2926080"/>
          </a:xfrm>
          <a:prstGeom prst="rect">
            <a:avLst/>
          </a:prstGeom>
        </p:spPr>
      </p:pic>
      <p:sp>
        <p:nvSpPr>
          <p:cNvPr id="6" name="TextBox 5"/>
          <p:cNvSpPr txBox="1"/>
          <p:nvPr/>
        </p:nvSpPr>
        <p:spPr>
          <a:xfrm>
            <a:off x="548640" y="4946904"/>
            <a:ext cx="5394960" cy="411480"/>
          </a:xfrm>
          <a:prstGeom prst="rect">
            <a:avLst/>
          </a:prstGeom>
          <a:noFill/>
        </p:spPr>
        <p:txBody>
          <a:bodyPr wrap="square" anchor="t">
            <a:spAutoFit/>
          </a:bodyPr>
          <a:lstStyle/>
          <a:p>
            <a:pPr algn="ctr"/>
            <a:r>
              <a:rPr sz="1200" b="0" i="1">
                <a:solidFill>
                  <a:srgbClr val="8A9099"/>
                </a:solidFill>
                <a:latin typeface="Avenir Next"/>
              </a:rPr>
              <a:t>full resolution · 960 × 638 px</a:t>
            </a:r>
          </a:p>
        </p:txBody>
      </p:sp>
      <p:pic>
        <p:nvPicPr>
          <p:cNvPr id="7" name="Picture 6" descr="sparrow_48.jpg"/>
          <p:cNvPicPr>
            <a:picLocks noChangeAspect="1"/>
          </p:cNvPicPr>
          <p:nvPr/>
        </p:nvPicPr>
        <p:blipFill>
          <a:blip r:embed="rId4"/>
          <a:stretch>
            <a:fillRect/>
          </a:stretch>
        </p:blipFill>
        <p:spPr>
          <a:xfrm>
            <a:off x="6812280" y="1965960"/>
            <a:ext cx="4389120" cy="2926080"/>
          </a:xfrm>
          <a:prstGeom prst="rect">
            <a:avLst/>
          </a:prstGeom>
        </p:spPr>
      </p:pic>
      <p:sp>
        <p:nvSpPr>
          <p:cNvPr id="8" name="TextBox 7"/>
          <p:cNvSpPr txBox="1"/>
          <p:nvPr/>
        </p:nvSpPr>
        <p:spPr>
          <a:xfrm>
            <a:off x="6309360" y="4946904"/>
            <a:ext cx="5394960" cy="411480"/>
          </a:xfrm>
          <a:prstGeom prst="rect">
            <a:avLst/>
          </a:prstGeom>
          <a:noFill/>
        </p:spPr>
        <p:txBody>
          <a:bodyPr wrap="square" anchor="t">
            <a:spAutoFit/>
          </a:bodyPr>
          <a:lstStyle/>
          <a:p>
            <a:pPr algn="ctr"/>
            <a:r>
              <a:rPr sz="1200" b="0" i="1">
                <a:solidFill>
                  <a:srgbClr val="8A9099"/>
                </a:solidFill>
                <a:latin typeface="Avenir Next"/>
              </a:rPr>
              <a:t>kept 1 pixel in 20 · 48 × 32 px — still a bird</a:t>
            </a:r>
          </a:p>
        </p:txBody>
      </p:sp>
      <p:sp>
        <p:nvSpPr>
          <p:cNvPr id="9" name="Rectangle 8"/>
          <p:cNvSpPr/>
          <p:nvPr/>
        </p:nvSpPr>
        <p:spPr>
          <a:xfrm>
            <a:off x="548640" y="5669280"/>
            <a:ext cx="10515600" cy="914400"/>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Downsample a spectrum from 6,000 bins to 1,500: it is still unmistakably itself. This is the license for pooling — coming up on the grid.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A1C9-A8C3-33DE-4E99-F775FBCFEEB5}"/>
              </a:ext>
            </a:extLst>
          </p:cNvPr>
          <p:cNvSpPr>
            <a:spLocks noGrp="1"/>
          </p:cNvSpPr>
          <p:nvPr>
            <p:ph type="title"/>
          </p:nvPr>
        </p:nvSpPr>
        <p:spPr>
          <a:xfrm>
            <a:off x="548640" y="731520"/>
            <a:ext cx="11091672" cy="727166"/>
          </a:xfrm>
        </p:spPr>
        <p:txBody>
          <a:bodyPr/>
          <a:lstStyle/>
          <a:p>
            <a:r>
              <a:rPr lang="en-US" dirty="0"/>
              <a:t>CNN General Architecture</a:t>
            </a:r>
          </a:p>
        </p:txBody>
      </p:sp>
      <p:sp>
        <p:nvSpPr>
          <p:cNvPr id="3" name="Content Placeholder 2">
            <a:extLst>
              <a:ext uri="{FF2B5EF4-FFF2-40B4-BE49-F238E27FC236}">
                <a16:creationId xmlns:a16="http://schemas.microsoft.com/office/drawing/2014/main" id="{0A39512D-E922-3C05-282D-9AD75BE5D731}"/>
              </a:ext>
            </a:extLst>
          </p:cNvPr>
          <p:cNvSpPr>
            <a:spLocks noGrp="1"/>
          </p:cNvSpPr>
          <p:nvPr>
            <p:ph idx="1"/>
          </p:nvPr>
        </p:nvSpPr>
        <p:spPr>
          <a:xfrm>
            <a:off x="548640" y="1504406"/>
            <a:ext cx="11091672" cy="4850674"/>
          </a:xfrm>
        </p:spPr>
        <p:txBody>
          <a:bodyPr/>
          <a:lstStyle/>
          <a:p>
            <a:endParaRPr lang="en-US" dirty="0"/>
          </a:p>
        </p:txBody>
      </p:sp>
      <p:sp>
        <p:nvSpPr>
          <p:cNvPr id="4" name="Text Placeholder 3">
            <a:extLst>
              <a:ext uri="{FF2B5EF4-FFF2-40B4-BE49-F238E27FC236}">
                <a16:creationId xmlns:a16="http://schemas.microsoft.com/office/drawing/2014/main" id="{50428502-C889-828F-50D5-FCA154BA0585}"/>
              </a:ext>
            </a:extLst>
          </p:cNvPr>
          <p:cNvSpPr>
            <a:spLocks noGrp="1"/>
          </p:cNvSpPr>
          <p:nvPr>
            <p:ph type="body" sz="quarter" idx="13"/>
          </p:nvPr>
        </p:nvSpPr>
        <p:spPr/>
        <p:txBody>
          <a:bodyPr/>
          <a:lstStyle/>
          <a:p>
            <a:r>
              <a:rPr sz="1300" b="1" i="0">
                <a:solidFill>
                  <a:srgbClr val="8A9099"/>
                </a:solidFill>
                <a:latin typeface="Menlo"/>
              </a:rPr>
              <a:t>CNN ARCHITECTURE · THE OVERVIEW</a:t>
            </a:r>
          </a:p>
        </p:txBody>
      </p:sp>
      <p:sp>
        <p:nvSpPr>
          <p:cNvPr id="5" name="object 3">
            <a:extLst>
              <a:ext uri="{FF2B5EF4-FFF2-40B4-BE49-F238E27FC236}">
                <a16:creationId xmlns:a16="http://schemas.microsoft.com/office/drawing/2014/main" id="{71E7CEA5-D9FA-E93F-5C42-70E49E54AF9B}"/>
              </a:ext>
            </a:extLst>
          </p:cNvPr>
          <p:cNvSpPr/>
          <p:nvPr/>
        </p:nvSpPr>
        <p:spPr>
          <a:xfrm>
            <a:off x="3118619" y="2407080"/>
            <a:ext cx="1615744" cy="3042123"/>
          </a:xfrm>
          <a:prstGeom prst="rect">
            <a:avLst/>
          </a:prstGeom>
          <a:blipFill>
            <a:blip r:embed="rId2" cstate="print"/>
            <a:stretch>
              <a:fillRect/>
            </a:stretch>
          </a:blipFill>
        </p:spPr>
        <p:txBody>
          <a:bodyPr wrap="square" lIns="0" tIns="0" rIns="0" bIns="0" rtlCol="0"/>
          <a:lstStyle/>
          <a:p>
            <a:endParaRPr/>
          </a:p>
        </p:txBody>
      </p:sp>
      <p:sp>
        <p:nvSpPr>
          <p:cNvPr id="6" name="object 4">
            <a:extLst>
              <a:ext uri="{FF2B5EF4-FFF2-40B4-BE49-F238E27FC236}">
                <a16:creationId xmlns:a16="http://schemas.microsoft.com/office/drawing/2014/main" id="{C1BDDE21-4335-1D55-8AF7-E1109D7BC225}"/>
              </a:ext>
            </a:extLst>
          </p:cNvPr>
          <p:cNvSpPr/>
          <p:nvPr/>
        </p:nvSpPr>
        <p:spPr>
          <a:xfrm>
            <a:off x="2366772" y="3711592"/>
            <a:ext cx="3025140" cy="947927"/>
          </a:xfrm>
          <a:prstGeom prst="rect">
            <a:avLst/>
          </a:prstGeom>
          <a:blipFill>
            <a:blip r:embed="rId3" cstate="print"/>
            <a:stretch>
              <a:fillRect/>
            </a:stretch>
          </a:blipFill>
        </p:spPr>
        <p:txBody>
          <a:bodyPr wrap="square" lIns="0" tIns="0" rIns="0" bIns="0" rtlCol="0"/>
          <a:lstStyle/>
          <a:p>
            <a:endParaRPr/>
          </a:p>
        </p:txBody>
      </p:sp>
      <p:sp>
        <p:nvSpPr>
          <p:cNvPr id="7" name="object 5">
            <a:extLst>
              <a:ext uri="{FF2B5EF4-FFF2-40B4-BE49-F238E27FC236}">
                <a16:creationId xmlns:a16="http://schemas.microsoft.com/office/drawing/2014/main" id="{5FCBA93A-B0E5-C049-D631-86F3E4B1145F}"/>
              </a:ext>
            </a:extLst>
          </p:cNvPr>
          <p:cNvSpPr/>
          <p:nvPr/>
        </p:nvSpPr>
        <p:spPr>
          <a:xfrm>
            <a:off x="2295144" y="3664348"/>
            <a:ext cx="3165348" cy="1124712"/>
          </a:xfrm>
          <a:prstGeom prst="rect">
            <a:avLst/>
          </a:prstGeom>
          <a:blipFill>
            <a:blip r:embed="rId4" cstate="print"/>
            <a:stretch>
              <a:fillRect/>
            </a:stretch>
          </a:blipFill>
        </p:spPr>
        <p:txBody>
          <a:bodyPr wrap="square" lIns="0" tIns="0" rIns="0" bIns="0" rtlCol="0"/>
          <a:lstStyle/>
          <a:p>
            <a:endParaRPr/>
          </a:p>
        </p:txBody>
      </p:sp>
      <p:sp>
        <p:nvSpPr>
          <p:cNvPr id="8" name="object 6">
            <a:extLst>
              <a:ext uri="{FF2B5EF4-FFF2-40B4-BE49-F238E27FC236}">
                <a16:creationId xmlns:a16="http://schemas.microsoft.com/office/drawing/2014/main" id="{439C48EE-526A-D459-0209-88C4D4DC8432}"/>
              </a:ext>
            </a:extLst>
          </p:cNvPr>
          <p:cNvSpPr/>
          <p:nvPr/>
        </p:nvSpPr>
        <p:spPr>
          <a:xfrm>
            <a:off x="2426208" y="3751216"/>
            <a:ext cx="2906268" cy="830580"/>
          </a:xfrm>
          <a:prstGeom prst="rect">
            <a:avLst/>
          </a:prstGeom>
          <a:blipFill>
            <a:blip r:embed="rId5" cstate="print"/>
            <a:stretch>
              <a:fillRect/>
            </a:stretch>
          </a:blipFill>
        </p:spPr>
        <p:txBody>
          <a:bodyPr wrap="square" lIns="0" tIns="0" rIns="0" bIns="0" rtlCol="0"/>
          <a:lstStyle/>
          <a:p>
            <a:endParaRPr/>
          </a:p>
        </p:txBody>
      </p:sp>
      <p:sp>
        <p:nvSpPr>
          <p:cNvPr id="9" name="object 7">
            <a:extLst>
              <a:ext uri="{FF2B5EF4-FFF2-40B4-BE49-F238E27FC236}">
                <a16:creationId xmlns:a16="http://schemas.microsoft.com/office/drawing/2014/main" id="{6F30B128-7DE1-1DB9-03A7-E552ACCC8677}"/>
              </a:ext>
            </a:extLst>
          </p:cNvPr>
          <p:cNvSpPr txBox="1"/>
          <p:nvPr/>
        </p:nvSpPr>
        <p:spPr>
          <a:xfrm>
            <a:off x="2426208" y="3765060"/>
            <a:ext cx="2906395" cy="1140968"/>
          </a:xfrm>
          <a:prstGeom prst="rect">
            <a:avLst/>
          </a:prstGeom>
        </p:spPr>
        <p:txBody>
          <a:bodyPr vert="horz" wrap="square" lIns="0" tIns="12700" rIns="0" bIns="0" rtlCol="0">
            <a:spAutoFit/>
          </a:bodyPr>
          <a:lstStyle/>
          <a:p>
            <a:pPr marL="111760" marR="107314" indent="348615">
              <a:lnSpc>
                <a:spcPct val="100000"/>
              </a:lnSpc>
              <a:spcBef>
                <a:spcPts val="100"/>
              </a:spcBef>
            </a:pPr>
            <a:r>
              <a:rPr sz="2400" spc="-5" dirty="0">
                <a:solidFill>
                  <a:srgbClr val="FFFFFF"/>
                </a:solidFill>
                <a:latin typeface="Calibri"/>
                <a:cs typeface="Calibri"/>
              </a:rPr>
              <a:t>Fully </a:t>
            </a:r>
            <a:r>
              <a:rPr sz="2400" spc="-10" dirty="0">
                <a:solidFill>
                  <a:srgbClr val="FFFFFF"/>
                </a:solidFill>
                <a:latin typeface="Calibri"/>
                <a:cs typeface="Calibri"/>
              </a:rPr>
              <a:t>Connected  </a:t>
            </a:r>
            <a:r>
              <a:rPr sz="2400" spc="-15" dirty="0">
                <a:solidFill>
                  <a:srgbClr val="FFFFFF"/>
                </a:solidFill>
                <a:latin typeface="Calibri"/>
                <a:cs typeface="Calibri"/>
              </a:rPr>
              <a:t>Feedforward</a:t>
            </a:r>
            <a:r>
              <a:rPr sz="2400" spc="-70" dirty="0">
                <a:solidFill>
                  <a:srgbClr val="FFFFFF"/>
                </a:solidFill>
                <a:latin typeface="Calibri"/>
                <a:cs typeface="Calibri"/>
              </a:rPr>
              <a:t> </a:t>
            </a:r>
            <a:r>
              <a:rPr sz="2400" spc="-10" dirty="0">
                <a:solidFill>
                  <a:srgbClr val="FFFFFF"/>
                </a:solidFill>
                <a:latin typeface="Calibri"/>
                <a:cs typeface="Calibri"/>
              </a:rPr>
              <a:t>network</a:t>
            </a:r>
            <a:endParaRPr sz="2400">
              <a:latin typeface="Calibri"/>
              <a:cs typeface="Calibri"/>
            </a:endParaRPr>
          </a:p>
        </p:txBody>
      </p:sp>
      <p:sp>
        <p:nvSpPr>
          <p:cNvPr id="10" name="object 8">
            <a:extLst>
              <a:ext uri="{FF2B5EF4-FFF2-40B4-BE49-F238E27FC236}">
                <a16:creationId xmlns:a16="http://schemas.microsoft.com/office/drawing/2014/main" id="{CD03660D-7953-9206-8131-4B8A38F7404E}"/>
              </a:ext>
            </a:extLst>
          </p:cNvPr>
          <p:cNvSpPr/>
          <p:nvPr/>
        </p:nvSpPr>
        <p:spPr>
          <a:xfrm>
            <a:off x="6891528" y="224680"/>
            <a:ext cx="1770887" cy="1203960"/>
          </a:xfrm>
          <a:prstGeom prst="rect">
            <a:avLst/>
          </a:prstGeom>
          <a:blipFill>
            <a:blip r:embed="rId6" cstate="print"/>
            <a:stretch>
              <a:fillRect/>
            </a:stretch>
          </a:blipFill>
        </p:spPr>
        <p:txBody>
          <a:bodyPr wrap="square" lIns="0" tIns="0" rIns="0" bIns="0" rtlCol="0"/>
          <a:lstStyle/>
          <a:p>
            <a:endParaRPr/>
          </a:p>
        </p:txBody>
      </p:sp>
      <p:sp>
        <p:nvSpPr>
          <p:cNvPr id="11" name="object 9">
            <a:extLst>
              <a:ext uri="{FF2B5EF4-FFF2-40B4-BE49-F238E27FC236}">
                <a16:creationId xmlns:a16="http://schemas.microsoft.com/office/drawing/2014/main" id="{5AB28458-23FC-DF3C-466B-3EF3A940EE61}"/>
              </a:ext>
            </a:extLst>
          </p:cNvPr>
          <p:cNvSpPr txBox="1"/>
          <p:nvPr/>
        </p:nvSpPr>
        <p:spPr>
          <a:xfrm>
            <a:off x="3269107" y="1752491"/>
            <a:ext cx="1417320" cy="775208"/>
          </a:xfrm>
          <a:prstGeom prst="rect">
            <a:avLst/>
          </a:prstGeom>
        </p:spPr>
        <p:txBody>
          <a:bodyPr vert="horz" wrap="square" lIns="0" tIns="12700" rIns="0" bIns="0" rtlCol="0">
            <a:spAutoFit/>
          </a:bodyPr>
          <a:lstStyle/>
          <a:p>
            <a:pPr marL="12700">
              <a:lnSpc>
                <a:spcPct val="100000"/>
              </a:lnSpc>
              <a:spcBef>
                <a:spcPts val="100"/>
              </a:spcBef>
            </a:pPr>
            <a:r>
              <a:rPr sz="2400" spc="-15" dirty="0">
                <a:latin typeface="Calibri"/>
                <a:cs typeface="Calibri"/>
              </a:rPr>
              <a:t>cat </a:t>
            </a:r>
            <a:r>
              <a:rPr sz="2400" spc="-5" dirty="0">
                <a:latin typeface="Calibri"/>
                <a:cs typeface="Calibri"/>
              </a:rPr>
              <a:t>dog</a:t>
            </a:r>
            <a:r>
              <a:rPr sz="2400" spc="-95" dirty="0">
                <a:latin typeface="Calibri"/>
                <a:cs typeface="Calibri"/>
              </a:rPr>
              <a:t> </a:t>
            </a:r>
            <a:r>
              <a:rPr sz="2400" spc="-5" dirty="0">
                <a:latin typeface="Calibri"/>
                <a:cs typeface="Calibri"/>
              </a:rPr>
              <a:t>……</a:t>
            </a:r>
            <a:endParaRPr sz="2400">
              <a:latin typeface="Calibri"/>
              <a:cs typeface="Calibri"/>
            </a:endParaRPr>
          </a:p>
        </p:txBody>
      </p:sp>
      <p:sp>
        <p:nvSpPr>
          <p:cNvPr id="12" name="object 10">
            <a:extLst>
              <a:ext uri="{FF2B5EF4-FFF2-40B4-BE49-F238E27FC236}">
                <a16:creationId xmlns:a16="http://schemas.microsoft.com/office/drawing/2014/main" id="{058CB37E-92E6-0A2F-4914-545146EF3FF6}"/>
              </a:ext>
            </a:extLst>
          </p:cNvPr>
          <p:cNvSpPr/>
          <p:nvPr/>
        </p:nvSpPr>
        <p:spPr>
          <a:xfrm>
            <a:off x="6867144" y="1922417"/>
            <a:ext cx="1854707" cy="673608"/>
          </a:xfrm>
          <a:prstGeom prst="rect">
            <a:avLst/>
          </a:prstGeom>
          <a:blipFill>
            <a:blip r:embed="rId7" cstate="print"/>
            <a:stretch>
              <a:fillRect/>
            </a:stretch>
          </a:blipFill>
        </p:spPr>
        <p:txBody>
          <a:bodyPr wrap="square" lIns="0" tIns="0" rIns="0" bIns="0" rtlCol="0"/>
          <a:lstStyle/>
          <a:p>
            <a:endParaRPr/>
          </a:p>
        </p:txBody>
      </p:sp>
      <p:sp>
        <p:nvSpPr>
          <p:cNvPr id="13" name="object 11">
            <a:extLst>
              <a:ext uri="{FF2B5EF4-FFF2-40B4-BE49-F238E27FC236}">
                <a16:creationId xmlns:a16="http://schemas.microsoft.com/office/drawing/2014/main" id="{6DFF49FA-8958-079D-623D-145D71580B20}"/>
              </a:ext>
            </a:extLst>
          </p:cNvPr>
          <p:cNvSpPr/>
          <p:nvPr/>
        </p:nvSpPr>
        <p:spPr>
          <a:xfrm>
            <a:off x="6804659" y="1925464"/>
            <a:ext cx="1979676" cy="758951"/>
          </a:xfrm>
          <a:prstGeom prst="rect">
            <a:avLst/>
          </a:prstGeom>
          <a:blipFill>
            <a:blip r:embed="rId8" cstate="print"/>
            <a:stretch>
              <a:fillRect/>
            </a:stretch>
          </a:blipFill>
        </p:spPr>
        <p:txBody>
          <a:bodyPr wrap="square" lIns="0" tIns="0" rIns="0" bIns="0" rtlCol="0"/>
          <a:lstStyle/>
          <a:p>
            <a:endParaRPr/>
          </a:p>
        </p:txBody>
      </p:sp>
      <p:sp>
        <p:nvSpPr>
          <p:cNvPr id="14" name="object 12">
            <a:extLst>
              <a:ext uri="{FF2B5EF4-FFF2-40B4-BE49-F238E27FC236}">
                <a16:creationId xmlns:a16="http://schemas.microsoft.com/office/drawing/2014/main" id="{D6AF2187-5863-96F1-8C9A-D0C9F0A429D5}"/>
              </a:ext>
            </a:extLst>
          </p:cNvPr>
          <p:cNvSpPr/>
          <p:nvPr/>
        </p:nvSpPr>
        <p:spPr>
          <a:xfrm>
            <a:off x="6926579" y="1962040"/>
            <a:ext cx="1735835" cy="556260"/>
          </a:xfrm>
          <a:prstGeom prst="rect">
            <a:avLst/>
          </a:prstGeom>
          <a:blipFill>
            <a:blip r:embed="rId9" cstate="print"/>
            <a:stretch>
              <a:fillRect/>
            </a:stretch>
          </a:blipFill>
        </p:spPr>
        <p:txBody>
          <a:bodyPr wrap="square" lIns="0" tIns="0" rIns="0" bIns="0" rtlCol="0"/>
          <a:lstStyle/>
          <a:p>
            <a:endParaRPr/>
          </a:p>
        </p:txBody>
      </p:sp>
      <p:sp>
        <p:nvSpPr>
          <p:cNvPr id="15" name="object 13">
            <a:extLst>
              <a:ext uri="{FF2B5EF4-FFF2-40B4-BE49-F238E27FC236}">
                <a16:creationId xmlns:a16="http://schemas.microsoft.com/office/drawing/2014/main" id="{704622F0-3D03-0752-C2D7-52437EE8F61F}"/>
              </a:ext>
            </a:extLst>
          </p:cNvPr>
          <p:cNvSpPr/>
          <p:nvPr/>
        </p:nvSpPr>
        <p:spPr>
          <a:xfrm>
            <a:off x="6867144" y="3022745"/>
            <a:ext cx="1854707" cy="673607"/>
          </a:xfrm>
          <a:prstGeom prst="rect">
            <a:avLst/>
          </a:prstGeom>
          <a:blipFill>
            <a:blip r:embed="rId7" cstate="print"/>
            <a:stretch>
              <a:fillRect/>
            </a:stretch>
          </a:blipFill>
        </p:spPr>
        <p:txBody>
          <a:bodyPr wrap="square" lIns="0" tIns="0" rIns="0" bIns="0" rtlCol="0"/>
          <a:lstStyle/>
          <a:p>
            <a:endParaRPr/>
          </a:p>
        </p:txBody>
      </p:sp>
      <p:sp>
        <p:nvSpPr>
          <p:cNvPr id="16" name="object 14">
            <a:extLst>
              <a:ext uri="{FF2B5EF4-FFF2-40B4-BE49-F238E27FC236}">
                <a16:creationId xmlns:a16="http://schemas.microsoft.com/office/drawing/2014/main" id="{6EC3A168-4E5F-FE45-42C7-232334C4B33D}"/>
              </a:ext>
            </a:extLst>
          </p:cNvPr>
          <p:cNvSpPr/>
          <p:nvPr/>
        </p:nvSpPr>
        <p:spPr>
          <a:xfrm>
            <a:off x="6792467" y="3025792"/>
            <a:ext cx="2002536" cy="758951"/>
          </a:xfrm>
          <a:prstGeom prst="rect">
            <a:avLst/>
          </a:prstGeom>
          <a:blipFill>
            <a:blip r:embed="rId10" cstate="print"/>
            <a:stretch>
              <a:fillRect/>
            </a:stretch>
          </a:blipFill>
        </p:spPr>
        <p:txBody>
          <a:bodyPr wrap="square" lIns="0" tIns="0" rIns="0" bIns="0" rtlCol="0"/>
          <a:lstStyle/>
          <a:p>
            <a:endParaRPr/>
          </a:p>
        </p:txBody>
      </p:sp>
      <p:sp>
        <p:nvSpPr>
          <p:cNvPr id="17" name="object 15">
            <a:extLst>
              <a:ext uri="{FF2B5EF4-FFF2-40B4-BE49-F238E27FC236}">
                <a16:creationId xmlns:a16="http://schemas.microsoft.com/office/drawing/2014/main" id="{7B1C5314-50C6-9AB8-3744-C8879100F508}"/>
              </a:ext>
            </a:extLst>
          </p:cNvPr>
          <p:cNvSpPr/>
          <p:nvPr/>
        </p:nvSpPr>
        <p:spPr>
          <a:xfrm>
            <a:off x="6926579" y="3062368"/>
            <a:ext cx="1735835" cy="556260"/>
          </a:xfrm>
          <a:prstGeom prst="rect">
            <a:avLst/>
          </a:prstGeom>
          <a:blipFill>
            <a:blip r:embed="rId11" cstate="print"/>
            <a:stretch>
              <a:fillRect/>
            </a:stretch>
          </a:blipFill>
        </p:spPr>
        <p:txBody>
          <a:bodyPr wrap="square" lIns="0" tIns="0" rIns="0" bIns="0" rtlCol="0"/>
          <a:lstStyle/>
          <a:p>
            <a:endParaRPr/>
          </a:p>
        </p:txBody>
      </p:sp>
      <p:sp>
        <p:nvSpPr>
          <p:cNvPr id="18" name="object 16">
            <a:extLst>
              <a:ext uri="{FF2B5EF4-FFF2-40B4-BE49-F238E27FC236}">
                <a16:creationId xmlns:a16="http://schemas.microsoft.com/office/drawing/2014/main" id="{A442B7C0-C2BD-C03D-E429-3043D65E49FF}"/>
              </a:ext>
            </a:extLst>
          </p:cNvPr>
          <p:cNvSpPr txBox="1"/>
          <p:nvPr/>
        </p:nvSpPr>
        <p:spPr>
          <a:xfrm>
            <a:off x="6926579" y="2025541"/>
            <a:ext cx="1736089" cy="1491615"/>
          </a:xfrm>
          <a:prstGeom prst="rect">
            <a:avLst/>
          </a:prstGeom>
        </p:spPr>
        <p:txBody>
          <a:bodyPr vert="horz" wrap="square" lIns="0" tIns="12700" rIns="0" bIns="0" rtlCol="0">
            <a:spAutoFit/>
          </a:bodyPr>
          <a:lstStyle/>
          <a:p>
            <a:pPr marL="121285">
              <a:lnSpc>
                <a:spcPct val="100000"/>
              </a:lnSpc>
              <a:spcBef>
                <a:spcPts val="100"/>
              </a:spcBef>
            </a:pPr>
            <a:r>
              <a:rPr sz="2400" spc="-15" dirty="0">
                <a:solidFill>
                  <a:srgbClr val="FFFFFF"/>
                </a:solidFill>
                <a:latin typeface="Calibri"/>
                <a:cs typeface="Calibri"/>
              </a:rPr>
              <a:t>Conv</a:t>
            </a:r>
            <a:r>
              <a:rPr lang="en-US" sz="2400" spc="-15" dirty="0">
                <a:solidFill>
                  <a:srgbClr val="FFFFFF"/>
                </a:solidFill>
                <a:latin typeface="Calibri"/>
                <a:cs typeface="Calibri"/>
              </a:rPr>
              <a:t>o</a:t>
            </a:r>
            <a:r>
              <a:rPr sz="2400" spc="-15" dirty="0">
                <a:solidFill>
                  <a:srgbClr val="FFFFFF"/>
                </a:solidFill>
                <a:latin typeface="Calibri"/>
                <a:cs typeface="Calibri"/>
              </a:rPr>
              <a:t>lution</a:t>
            </a:r>
            <a:endParaRPr sz="2400" dirty="0">
              <a:latin typeface="Calibri"/>
              <a:cs typeface="Calibri"/>
            </a:endParaRPr>
          </a:p>
          <a:p>
            <a:pPr>
              <a:lnSpc>
                <a:spcPct val="100000"/>
              </a:lnSpc>
            </a:pPr>
            <a:endParaRPr lang="en-US" sz="2400" dirty="0">
              <a:latin typeface="Times New Roman"/>
              <a:cs typeface="Times New Roman"/>
            </a:endParaRPr>
          </a:p>
          <a:p>
            <a:pPr>
              <a:lnSpc>
                <a:spcPct val="100000"/>
              </a:lnSpc>
              <a:spcBef>
                <a:spcPts val="30"/>
              </a:spcBef>
            </a:pPr>
            <a:endParaRPr sz="2600" dirty="0">
              <a:latin typeface="Times New Roman"/>
              <a:cs typeface="Times New Roman"/>
            </a:endParaRPr>
          </a:p>
          <a:p>
            <a:pPr marL="109220">
              <a:lnSpc>
                <a:spcPct val="100000"/>
              </a:lnSpc>
              <a:spcBef>
                <a:spcPts val="5"/>
              </a:spcBef>
            </a:pPr>
            <a:r>
              <a:rPr sz="2400" spc="-10" dirty="0">
                <a:solidFill>
                  <a:srgbClr val="FFFFFF"/>
                </a:solidFill>
                <a:latin typeface="Calibri"/>
                <a:cs typeface="Calibri"/>
              </a:rPr>
              <a:t>Max</a:t>
            </a:r>
            <a:r>
              <a:rPr sz="2400" spc="-80" dirty="0">
                <a:solidFill>
                  <a:srgbClr val="FFFFFF"/>
                </a:solidFill>
                <a:latin typeface="Calibri"/>
                <a:cs typeface="Calibri"/>
              </a:rPr>
              <a:t> </a:t>
            </a:r>
            <a:r>
              <a:rPr sz="2400" spc="-15" dirty="0">
                <a:solidFill>
                  <a:srgbClr val="FFFFFF"/>
                </a:solidFill>
                <a:latin typeface="Calibri"/>
                <a:cs typeface="Calibri"/>
              </a:rPr>
              <a:t>Pooling</a:t>
            </a:r>
            <a:endParaRPr sz="2400" dirty="0">
              <a:latin typeface="Calibri"/>
              <a:cs typeface="Calibri"/>
            </a:endParaRPr>
          </a:p>
        </p:txBody>
      </p:sp>
      <p:sp>
        <p:nvSpPr>
          <p:cNvPr id="19" name="object 17">
            <a:extLst>
              <a:ext uri="{FF2B5EF4-FFF2-40B4-BE49-F238E27FC236}">
                <a16:creationId xmlns:a16="http://schemas.microsoft.com/office/drawing/2014/main" id="{CAFB4CEE-78C9-BFDB-FE83-EC03A7D4C3EB}"/>
              </a:ext>
            </a:extLst>
          </p:cNvPr>
          <p:cNvSpPr/>
          <p:nvPr/>
        </p:nvSpPr>
        <p:spPr>
          <a:xfrm>
            <a:off x="6867144" y="4091068"/>
            <a:ext cx="1854707" cy="673607"/>
          </a:xfrm>
          <a:prstGeom prst="rect">
            <a:avLst/>
          </a:prstGeom>
          <a:blipFill>
            <a:blip r:embed="rId7" cstate="print"/>
            <a:stretch>
              <a:fillRect/>
            </a:stretch>
          </a:blipFill>
        </p:spPr>
        <p:txBody>
          <a:bodyPr wrap="square" lIns="0" tIns="0" rIns="0" bIns="0" rtlCol="0"/>
          <a:lstStyle/>
          <a:p>
            <a:endParaRPr/>
          </a:p>
        </p:txBody>
      </p:sp>
      <p:sp>
        <p:nvSpPr>
          <p:cNvPr id="20" name="object 18">
            <a:extLst>
              <a:ext uri="{FF2B5EF4-FFF2-40B4-BE49-F238E27FC236}">
                <a16:creationId xmlns:a16="http://schemas.microsoft.com/office/drawing/2014/main" id="{94BE5F75-52AE-AE38-45AC-00F279120D43}"/>
              </a:ext>
            </a:extLst>
          </p:cNvPr>
          <p:cNvSpPr/>
          <p:nvPr/>
        </p:nvSpPr>
        <p:spPr>
          <a:xfrm>
            <a:off x="6804659" y="4094116"/>
            <a:ext cx="1979676" cy="758951"/>
          </a:xfrm>
          <a:prstGeom prst="rect">
            <a:avLst/>
          </a:prstGeom>
          <a:blipFill>
            <a:blip r:embed="rId12" cstate="print"/>
            <a:stretch>
              <a:fillRect/>
            </a:stretch>
          </a:blipFill>
        </p:spPr>
        <p:txBody>
          <a:bodyPr wrap="square" lIns="0" tIns="0" rIns="0" bIns="0" rtlCol="0"/>
          <a:lstStyle/>
          <a:p>
            <a:endParaRPr/>
          </a:p>
        </p:txBody>
      </p:sp>
      <p:sp>
        <p:nvSpPr>
          <p:cNvPr id="21" name="object 19">
            <a:extLst>
              <a:ext uri="{FF2B5EF4-FFF2-40B4-BE49-F238E27FC236}">
                <a16:creationId xmlns:a16="http://schemas.microsoft.com/office/drawing/2014/main" id="{AB3D7992-7442-8586-5896-44823C038D29}"/>
              </a:ext>
            </a:extLst>
          </p:cNvPr>
          <p:cNvSpPr/>
          <p:nvPr/>
        </p:nvSpPr>
        <p:spPr>
          <a:xfrm>
            <a:off x="6926579" y="4130692"/>
            <a:ext cx="1735835" cy="556259"/>
          </a:xfrm>
          <a:prstGeom prst="rect">
            <a:avLst/>
          </a:prstGeom>
          <a:blipFill>
            <a:blip r:embed="rId13" cstate="print"/>
            <a:stretch>
              <a:fillRect/>
            </a:stretch>
          </a:blipFill>
        </p:spPr>
        <p:txBody>
          <a:bodyPr wrap="square" lIns="0" tIns="0" rIns="0" bIns="0" rtlCol="0"/>
          <a:lstStyle/>
          <a:p>
            <a:endParaRPr/>
          </a:p>
        </p:txBody>
      </p:sp>
      <p:sp>
        <p:nvSpPr>
          <p:cNvPr id="22" name="object 20">
            <a:extLst>
              <a:ext uri="{FF2B5EF4-FFF2-40B4-BE49-F238E27FC236}">
                <a16:creationId xmlns:a16="http://schemas.microsoft.com/office/drawing/2014/main" id="{9008ADA7-51E0-717F-D96C-11D4F3791A77}"/>
              </a:ext>
            </a:extLst>
          </p:cNvPr>
          <p:cNvSpPr txBox="1"/>
          <p:nvPr/>
        </p:nvSpPr>
        <p:spPr>
          <a:xfrm>
            <a:off x="6926579" y="4194447"/>
            <a:ext cx="1736089" cy="391160"/>
          </a:xfrm>
          <a:prstGeom prst="rect">
            <a:avLst/>
          </a:prstGeom>
        </p:spPr>
        <p:txBody>
          <a:bodyPr vert="horz" wrap="square" lIns="0" tIns="12700" rIns="0" bIns="0" rtlCol="0">
            <a:spAutoFit/>
          </a:bodyPr>
          <a:lstStyle/>
          <a:p>
            <a:pPr marL="121285">
              <a:lnSpc>
                <a:spcPct val="100000"/>
              </a:lnSpc>
              <a:spcBef>
                <a:spcPts val="100"/>
              </a:spcBef>
            </a:pPr>
            <a:r>
              <a:rPr sz="2400" spc="-15" dirty="0">
                <a:solidFill>
                  <a:srgbClr val="FFFFFF"/>
                </a:solidFill>
                <a:latin typeface="Calibri"/>
                <a:cs typeface="Calibri"/>
              </a:rPr>
              <a:t>Convolution</a:t>
            </a:r>
            <a:endParaRPr sz="2400" dirty="0">
              <a:latin typeface="Calibri"/>
              <a:cs typeface="Calibri"/>
            </a:endParaRPr>
          </a:p>
        </p:txBody>
      </p:sp>
      <p:sp>
        <p:nvSpPr>
          <p:cNvPr id="23" name="object 21">
            <a:extLst>
              <a:ext uri="{FF2B5EF4-FFF2-40B4-BE49-F238E27FC236}">
                <a16:creationId xmlns:a16="http://schemas.microsoft.com/office/drawing/2014/main" id="{EE8DA863-E601-8C63-841A-2C1ADFD8D289}"/>
              </a:ext>
            </a:extLst>
          </p:cNvPr>
          <p:cNvSpPr/>
          <p:nvPr/>
        </p:nvSpPr>
        <p:spPr>
          <a:xfrm>
            <a:off x="6867144" y="5124341"/>
            <a:ext cx="1854707" cy="673608"/>
          </a:xfrm>
          <a:prstGeom prst="rect">
            <a:avLst/>
          </a:prstGeom>
          <a:blipFill>
            <a:blip r:embed="rId7" cstate="print"/>
            <a:stretch>
              <a:fillRect/>
            </a:stretch>
          </a:blipFill>
        </p:spPr>
        <p:txBody>
          <a:bodyPr wrap="square" lIns="0" tIns="0" rIns="0" bIns="0" rtlCol="0"/>
          <a:lstStyle/>
          <a:p>
            <a:endParaRPr/>
          </a:p>
        </p:txBody>
      </p:sp>
      <p:sp>
        <p:nvSpPr>
          <p:cNvPr id="24" name="object 22">
            <a:extLst>
              <a:ext uri="{FF2B5EF4-FFF2-40B4-BE49-F238E27FC236}">
                <a16:creationId xmlns:a16="http://schemas.microsoft.com/office/drawing/2014/main" id="{025EA86C-8FE3-F7EF-FFB3-CAAECC9557B1}"/>
              </a:ext>
            </a:extLst>
          </p:cNvPr>
          <p:cNvSpPr/>
          <p:nvPr/>
        </p:nvSpPr>
        <p:spPr>
          <a:xfrm>
            <a:off x="6792467" y="5127389"/>
            <a:ext cx="2002536" cy="758952"/>
          </a:xfrm>
          <a:prstGeom prst="rect">
            <a:avLst/>
          </a:prstGeom>
          <a:blipFill>
            <a:blip r:embed="rId14" cstate="print"/>
            <a:stretch>
              <a:fillRect/>
            </a:stretch>
          </a:blipFill>
        </p:spPr>
        <p:txBody>
          <a:bodyPr wrap="square" lIns="0" tIns="0" rIns="0" bIns="0" rtlCol="0"/>
          <a:lstStyle/>
          <a:p>
            <a:endParaRPr/>
          </a:p>
        </p:txBody>
      </p:sp>
      <p:sp>
        <p:nvSpPr>
          <p:cNvPr id="25" name="object 23">
            <a:extLst>
              <a:ext uri="{FF2B5EF4-FFF2-40B4-BE49-F238E27FC236}">
                <a16:creationId xmlns:a16="http://schemas.microsoft.com/office/drawing/2014/main" id="{CA9258F5-434A-4C91-A350-7E7D720D2CC8}"/>
              </a:ext>
            </a:extLst>
          </p:cNvPr>
          <p:cNvSpPr/>
          <p:nvPr/>
        </p:nvSpPr>
        <p:spPr>
          <a:xfrm>
            <a:off x="6926579" y="5163965"/>
            <a:ext cx="1735835" cy="556259"/>
          </a:xfrm>
          <a:prstGeom prst="rect">
            <a:avLst/>
          </a:prstGeom>
          <a:blipFill>
            <a:blip r:embed="rId15" cstate="print"/>
            <a:stretch>
              <a:fillRect/>
            </a:stretch>
          </a:blipFill>
        </p:spPr>
        <p:txBody>
          <a:bodyPr wrap="square" lIns="0" tIns="0" rIns="0" bIns="0" rtlCol="0"/>
          <a:lstStyle/>
          <a:p>
            <a:endParaRPr/>
          </a:p>
        </p:txBody>
      </p:sp>
      <p:sp>
        <p:nvSpPr>
          <p:cNvPr id="26" name="object 24">
            <a:extLst>
              <a:ext uri="{FF2B5EF4-FFF2-40B4-BE49-F238E27FC236}">
                <a16:creationId xmlns:a16="http://schemas.microsoft.com/office/drawing/2014/main" id="{8F676123-3296-8FFB-8A53-60260531A9DA}"/>
              </a:ext>
            </a:extLst>
          </p:cNvPr>
          <p:cNvSpPr/>
          <p:nvPr/>
        </p:nvSpPr>
        <p:spPr>
          <a:xfrm>
            <a:off x="4940808" y="6049409"/>
            <a:ext cx="1676400" cy="577595"/>
          </a:xfrm>
          <a:prstGeom prst="rect">
            <a:avLst/>
          </a:prstGeom>
          <a:blipFill>
            <a:blip r:embed="rId16" cstate="print"/>
            <a:stretch>
              <a:fillRect/>
            </a:stretch>
          </a:blipFill>
        </p:spPr>
        <p:txBody>
          <a:bodyPr wrap="square" lIns="0" tIns="0" rIns="0" bIns="0" rtlCol="0"/>
          <a:lstStyle/>
          <a:p>
            <a:endParaRPr/>
          </a:p>
        </p:txBody>
      </p:sp>
      <p:sp>
        <p:nvSpPr>
          <p:cNvPr id="27" name="object 25">
            <a:extLst>
              <a:ext uri="{FF2B5EF4-FFF2-40B4-BE49-F238E27FC236}">
                <a16:creationId xmlns:a16="http://schemas.microsoft.com/office/drawing/2014/main" id="{CD59AFCF-ACD5-53CF-B683-3AF25007DFDC}"/>
              </a:ext>
            </a:extLst>
          </p:cNvPr>
          <p:cNvSpPr/>
          <p:nvPr/>
        </p:nvSpPr>
        <p:spPr>
          <a:xfrm>
            <a:off x="5105400" y="6002165"/>
            <a:ext cx="1347215" cy="758951"/>
          </a:xfrm>
          <a:prstGeom prst="rect">
            <a:avLst/>
          </a:prstGeom>
          <a:blipFill>
            <a:blip r:embed="rId17" cstate="print"/>
            <a:stretch>
              <a:fillRect/>
            </a:stretch>
          </a:blipFill>
        </p:spPr>
        <p:txBody>
          <a:bodyPr wrap="square" lIns="0" tIns="0" rIns="0" bIns="0" rtlCol="0"/>
          <a:lstStyle/>
          <a:p>
            <a:endParaRPr/>
          </a:p>
        </p:txBody>
      </p:sp>
      <p:sp>
        <p:nvSpPr>
          <p:cNvPr id="28" name="object 26">
            <a:extLst>
              <a:ext uri="{FF2B5EF4-FFF2-40B4-BE49-F238E27FC236}">
                <a16:creationId xmlns:a16="http://schemas.microsoft.com/office/drawing/2014/main" id="{94780D6E-29DB-8DA0-DCA5-E00F52B1FE10}"/>
              </a:ext>
            </a:extLst>
          </p:cNvPr>
          <p:cNvSpPr/>
          <p:nvPr/>
        </p:nvSpPr>
        <p:spPr>
          <a:xfrm>
            <a:off x="5000244" y="6089033"/>
            <a:ext cx="1557527" cy="460248"/>
          </a:xfrm>
          <a:prstGeom prst="rect">
            <a:avLst/>
          </a:prstGeom>
          <a:blipFill>
            <a:blip r:embed="rId18" cstate="print"/>
            <a:stretch>
              <a:fillRect/>
            </a:stretch>
          </a:blipFill>
        </p:spPr>
        <p:txBody>
          <a:bodyPr wrap="square" lIns="0" tIns="0" rIns="0" bIns="0" rtlCol="0"/>
          <a:lstStyle/>
          <a:p>
            <a:endParaRPr/>
          </a:p>
        </p:txBody>
      </p:sp>
      <p:sp>
        <p:nvSpPr>
          <p:cNvPr id="29" name="object 27">
            <a:extLst>
              <a:ext uri="{FF2B5EF4-FFF2-40B4-BE49-F238E27FC236}">
                <a16:creationId xmlns:a16="http://schemas.microsoft.com/office/drawing/2014/main" id="{BC9C3B3F-EE7C-4723-587E-8113D4029C44}"/>
              </a:ext>
            </a:extLst>
          </p:cNvPr>
          <p:cNvSpPr txBox="1"/>
          <p:nvPr/>
        </p:nvSpPr>
        <p:spPr>
          <a:xfrm>
            <a:off x="5000244" y="5227414"/>
            <a:ext cx="3662679" cy="1267460"/>
          </a:xfrm>
          <a:prstGeom prst="rect">
            <a:avLst/>
          </a:prstGeom>
        </p:spPr>
        <p:txBody>
          <a:bodyPr vert="horz" wrap="square" lIns="0" tIns="12700" rIns="0" bIns="0" rtlCol="0">
            <a:spAutoFit/>
          </a:bodyPr>
          <a:lstStyle/>
          <a:p>
            <a:pPr marL="2035175">
              <a:lnSpc>
                <a:spcPct val="100000"/>
              </a:lnSpc>
              <a:spcBef>
                <a:spcPts val="100"/>
              </a:spcBef>
            </a:pPr>
            <a:r>
              <a:rPr sz="2400" spc="-10" dirty="0">
                <a:solidFill>
                  <a:srgbClr val="FFFFFF"/>
                </a:solidFill>
                <a:latin typeface="Calibri"/>
                <a:cs typeface="Calibri"/>
              </a:rPr>
              <a:t>Max</a:t>
            </a:r>
            <a:r>
              <a:rPr sz="2400" spc="-50" dirty="0">
                <a:solidFill>
                  <a:srgbClr val="FFFFFF"/>
                </a:solidFill>
                <a:latin typeface="Calibri"/>
                <a:cs typeface="Calibri"/>
              </a:rPr>
              <a:t> </a:t>
            </a:r>
            <a:r>
              <a:rPr sz="2400" spc="-10" dirty="0">
                <a:solidFill>
                  <a:srgbClr val="FFFFFF"/>
                </a:solidFill>
                <a:latin typeface="Calibri"/>
                <a:cs typeface="Calibri"/>
              </a:rPr>
              <a:t>Pooling</a:t>
            </a:r>
            <a:endParaRPr sz="2400" dirty="0">
              <a:latin typeface="Calibri"/>
              <a:cs typeface="Calibri"/>
            </a:endParaRPr>
          </a:p>
          <a:p>
            <a:pPr>
              <a:lnSpc>
                <a:spcPct val="100000"/>
              </a:lnSpc>
              <a:spcBef>
                <a:spcPts val="45"/>
              </a:spcBef>
            </a:pPr>
            <a:endParaRPr sz="3450" dirty="0">
              <a:latin typeface="Times New Roman"/>
              <a:cs typeface="Times New Roman"/>
            </a:endParaRPr>
          </a:p>
          <a:p>
            <a:pPr marL="347345">
              <a:lnSpc>
                <a:spcPct val="100000"/>
              </a:lnSpc>
            </a:pPr>
            <a:r>
              <a:rPr sz="2400" spc="-15" dirty="0">
                <a:solidFill>
                  <a:srgbClr val="FFFFFF"/>
                </a:solidFill>
                <a:latin typeface="Calibri"/>
                <a:cs typeface="Calibri"/>
              </a:rPr>
              <a:t>Flatten</a:t>
            </a:r>
            <a:endParaRPr sz="2400" dirty="0">
              <a:latin typeface="Calibri"/>
              <a:cs typeface="Calibri"/>
            </a:endParaRPr>
          </a:p>
        </p:txBody>
      </p:sp>
      <p:sp>
        <p:nvSpPr>
          <p:cNvPr id="30" name="object 28">
            <a:extLst>
              <a:ext uri="{FF2B5EF4-FFF2-40B4-BE49-F238E27FC236}">
                <a16:creationId xmlns:a16="http://schemas.microsoft.com/office/drawing/2014/main" id="{B54B8C80-19BD-E01A-2CF6-2380265FF5FC}"/>
              </a:ext>
            </a:extLst>
          </p:cNvPr>
          <p:cNvSpPr/>
          <p:nvPr/>
        </p:nvSpPr>
        <p:spPr>
          <a:xfrm>
            <a:off x="7545323" y="1485029"/>
            <a:ext cx="547370" cy="440690"/>
          </a:xfrm>
          <a:custGeom>
            <a:avLst/>
            <a:gdLst/>
            <a:ahLst/>
            <a:cxnLst/>
            <a:rect l="l" t="t" r="r" b="b"/>
            <a:pathLst>
              <a:path w="547370" h="440689">
                <a:moveTo>
                  <a:pt x="547115" y="220217"/>
                </a:moveTo>
                <a:lnTo>
                  <a:pt x="0" y="220217"/>
                </a:lnTo>
                <a:lnTo>
                  <a:pt x="273558" y="440436"/>
                </a:lnTo>
                <a:lnTo>
                  <a:pt x="547115" y="220217"/>
                </a:lnTo>
                <a:close/>
              </a:path>
              <a:path w="547370" h="440689">
                <a:moveTo>
                  <a:pt x="410337" y="0"/>
                </a:moveTo>
                <a:lnTo>
                  <a:pt x="136778" y="0"/>
                </a:lnTo>
                <a:lnTo>
                  <a:pt x="136778" y="220217"/>
                </a:lnTo>
                <a:lnTo>
                  <a:pt x="410337" y="220217"/>
                </a:lnTo>
                <a:lnTo>
                  <a:pt x="410337" y="0"/>
                </a:lnTo>
                <a:close/>
              </a:path>
            </a:pathLst>
          </a:custGeom>
          <a:solidFill>
            <a:srgbClr val="000000"/>
          </a:solidFill>
        </p:spPr>
        <p:txBody>
          <a:bodyPr wrap="square" lIns="0" tIns="0" rIns="0" bIns="0" rtlCol="0"/>
          <a:lstStyle/>
          <a:p>
            <a:endParaRPr/>
          </a:p>
        </p:txBody>
      </p:sp>
      <p:sp>
        <p:nvSpPr>
          <p:cNvPr id="31" name="object 29">
            <a:extLst>
              <a:ext uri="{FF2B5EF4-FFF2-40B4-BE49-F238E27FC236}">
                <a16:creationId xmlns:a16="http://schemas.microsoft.com/office/drawing/2014/main" id="{FBD87F25-6876-EE91-55CF-811F2E2F8EC3}"/>
              </a:ext>
            </a:extLst>
          </p:cNvPr>
          <p:cNvSpPr/>
          <p:nvPr/>
        </p:nvSpPr>
        <p:spPr>
          <a:xfrm>
            <a:off x="7545323" y="1485029"/>
            <a:ext cx="547370" cy="440690"/>
          </a:xfrm>
          <a:custGeom>
            <a:avLst/>
            <a:gdLst/>
            <a:ahLst/>
            <a:cxnLst/>
            <a:rect l="l" t="t" r="r" b="b"/>
            <a:pathLst>
              <a:path w="547370" h="440689">
                <a:moveTo>
                  <a:pt x="0" y="220217"/>
                </a:moveTo>
                <a:lnTo>
                  <a:pt x="136778" y="220217"/>
                </a:lnTo>
                <a:lnTo>
                  <a:pt x="136778" y="0"/>
                </a:lnTo>
                <a:lnTo>
                  <a:pt x="410337" y="0"/>
                </a:lnTo>
                <a:lnTo>
                  <a:pt x="410337" y="220217"/>
                </a:lnTo>
                <a:lnTo>
                  <a:pt x="547115" y="220217"/>
                </a:lnTo>
                <a:lnTo>
                  <a:pt x="273558" y="440436"/>
                </a:lnTo>
                <a:lnTo>
                  <a:pt x="0" y="220217"/>
                </a:lnTo>
                <a:close/>
              </a:path>
            </a:pathLst>
          </a:custGeom>
          <a:ln w="12191">
            <a:solidFill>
              <a:srgbClr val="000000"/>
            </a:solidFill>
          </a:ln>
        </p:spPr>
        <p:txBody>
          <a:bodyPr wrap="square" lIns="0" tIns="0" rIns="0" bIns="0" rtlCol="0"/>
          <a:lstStyle/>
          <a:p>
            <a:endParaRPr/>
          </a:p>
        </p:txBody>
      </p:sp>
      <p:sp>
        <p:nvSpPr>
          <p:cNvPr id="32" name="object 30">
            <a:extLst>
              <a:ext uri="{FF2B5EF4-FFF2-40B4-BE49-F238E27FC236}">
                <a16:creationId xmlns:a16="http://schemas.microsoft.com/office/drawing/2014/main" id="{9C49DC4A-00CC-2806-778D-C900A00AC80B}"/>
              </a:ext>
            </a:extLst>
          </p:cNvPr>
          <p:cNvSpPr/>
          <p:nvPr/>
        </p:nvSpPr>
        <p:spPr>
          <a:xfrm>
            <a:off x="7545323" y="2594501"/>
            <a:ext cx="547370" cy="441959"/>
          </a:xfrm>
          <a:custGeom>
            <a:avLst/>
            <a:gdLst/>
            <a:ahLst/>
            <a:cxnLst/>
            <a:rect l="l" t="t" r="r" b="b"/>
            <a:pathLst>
              <a:path w="547370" h="441960">
                <a:moveTo>
                  <a:pt x="547115" y="220979"/>
                </a:moveTo>
                <a:lnTo>
                  <a:pt x="0" y="220979"/>
                </a:lnTo>
                <a:lnTo>
                  <a:pt x="273558" y="441959"/>
                </a:lnTo>
                <a:lnTo>
                  <a:pt x="547115" y="220979"/>
                </a:lnTo>
                <a:close/>
              </a:path>
              <a:path w="547370" h="441960">
                <a:moveTo>
                  <a:pt x="410337" y="0"/>
                </a:moveTo>
                <a:lnTo>
                  <a:pt x="136778" y="0"/>
                </a:lnTo>
                <a:lnTo>
                  <a:pt x="136778" y="220979"/>
                </a:lnTo>
                <a:lnTo>
                  <a:pt x="410337" y="220979"/>
                </a:lnTo>
                <a:lnTo>
                  <a:pt x="410337" y="0"/>
                </a:lnTo>
                <a:close/>
              </a:path>
            </a:pathLst>
          </a:custGeom>
          <a:solidFill>
            <a:srgbClr val="000000"/>
          </a:solidFill>
        </p:spPr>
        <p:txBody>
          <a:bodyPr wrap="square" lIns="0" tIns="0" rIns="0" bIns="0" rtlCol="0"/>
          <a:lstStyle/>
          <a:p>
            <a:endParaRPr/>
          </a:p>
        </p:txBody>
      </p:sp>
      <p:sp>
        <p:nvSpPr>
          <p:cNvPr id="33" name="object 31">
            <a:extLst>
              <a:ext uri="{FF2B5EF4-FFF2-40B4-BE49-F238E27FC236}">
                <a16:creationId xmlns:a16="http://schemas.microsoft.com/office/drawing/2014/main" id="{29EC39CB-2787-34C4-4E13-FCF544B9685D}"/>
              </a:ext>
            </a:extLst>
          </p:cNvPr>
          <p:cNvSpPr/>
          <p:nvPr/>
        </p:nvSpPr>
        <p:spPr>
          <a:xfrm>
            <a:off x="7545323" y="2594501"/>
            <a:ext cx="547370" cy="441959"/>
          </a:xfrm>
          <a:custGeom>
            <a:avLst/>
            <a:gdLst/>
            <a:ahLst/>
            <a:cxnLst/>
            <a:rect l="l" t="t" r="r" b="b"/>
            <a:pathLst>
              <a:path w="547370" h="441960">
                <a:moveTo>
                  <a:pt x="0" y="220979"/>
                </a:moveTo>
                <a:lnTo>
                  <a:pt x="136778" y="220979"/>
                </a:lnTo>
                <a:lnTo>
                  <a:pt x="136778" y="0"/>
                </a:lnTo>
                <a:lnTo>
                  <a:pt x="410337" y="0"/>
                </a:lnTo>
                <a:lnTo>
                  <a:pt x="410337" y="220979"/>
                </a:lnTo>
                <a:lnTo>
                  <a:pt x="547115" y="220979"/>
                </a:lnTo>
                <a:lnTo>
                  <a:pt x="273558" y="441959"/>
                </a:lnTo>
                <a:lnTo>
                  <a:pt x="0" y="220979"/>
                </a:lnTo>
                <a:close/>
              </a:path>
            </a:pathLst>
          </a:custGeom>
          <a:ln w="12191">
            <a:solidFill>
              <a:srgbClr val="000000"/>
            </a:solidFill>
          </a:ln>
        </p:spPr>
        <p:txBody>
          <a:bodyPr wrap="square" lIns="0" tIns="0" rIns="0" bIns="0" rtlCol="0"/>
          <a:lstStyle/>
          <a:p>
            <a:endParaRPr/>
          </a:p>
        </p:txBody>
      </p:sp>
      <p:sp>
        <p:nvSpPr>
          <p:cNvPr id="34" name="object 32">
            <a:extLst>
              <a:ext uri="{FF2B5EF4-FFF2-40B4-BE49-F238E27FC236}">
                <a16:creationId xmlns:a16="http://schemas.microsoft.com/office/drawing/2014/main" id="{29815691-E300-BE1D-F19F-306B21FF054E}"/>
              </a:ext>
            </a:extLst>
          </p:cNvPr>
          <p:cNvSpPr/>
          <p:nvPr/>
        </p:nvSpPr>
        <p:spPr>
          <a:xfrm>
            <a:off x="7545323" y="3687209"/>
            <a:ext cx="547370" cy="441959"/>
          </a:xfrm>
          <a:custGeom>
            <a:avLst/>
            <a:gdLst/>
            <a:ahLst/>
            <a:cxnLst/>
            <a:rect l="l" t="t" r="r" b="b"/>
            <a:pathLst>
              <a:path w="547370" h="441960">
                <a:moveTo>
                  <a:pt x="547115" y="220980"/>
                </a:moveTo>
                <a:lnTo>
                  <a:pt x="0" y="220980"/>
                </a:lnTo>
                <a:lnTo>
                  <a:pt x="273558" y="441960"/>
                </a:lnTo>
                <a:lnTo>
                  <a:pt x="547115" y="220980"/>
                </a:lnTo>
                <a:close/>
              </a:path>
              <a:path w="547370" h="441960">
                <a:moveTo>
                  <a:pt x="410337" y="0"/>
                </a:moveTo>
                <a:lnTo>
                  <a:pt x="136778" y="0"/>
                </a:lnTo>
                <a:lnTo>
                  <a:pt x="136778" y="220980"/>
                </a:lnTo>
                <a:lnTo>
                  <a:pt x="410337" y="220980"/>
                </a:lnTo>
                <a:lnTo>
                  <a:pt x="410337" y="0"/>
                </a:lnTo>
                <a:close/>
              </a:path>
            </a:pathLst>
          </a:custGeom>
          <a:solidFill>
            <a:srgbClr val="000000"/>
          </a:solidFill>
        </p:spPr>
        <p:txBody>
          <a:bodyPr wrap="square" lIns="0" tIns="0" rIns="0" bIns="0" rtlCol="0"/>
          <a:lstStyle/>
          <a:p>
            <a:endParaRPr/>
          </a:p>
        </p:txBody>
      </p:sp>
      <p:sp>
        <p:nvSpPr>
          <p:cNvPr id="35" name="object 33">
            <a:extLst>
              <a:ext uri="{FF2B5EF4-FFF2-40B4-BE49-F238E27FC236}">
                <a16:creationId xmlns:a16="http://schemas.microsoft.com/office/drawing/2014/main" id="{F2004F9D-8A02-22B7-F6C7-74332CD7CCF8}"/>
              </a:ext>
            </a:extLst>
          </p:cNvPr>
          <p:cNvSpPr/>
          <p:nvPr/>
        </p:nvSpPr>
        <p:spPr>
          <a:xfrm>
            <a:off x="7545323" y="3687209"/>
            <a:ext cx="547370" cy="441959"/>
          </a:xfrm>
          <a:custGeom>
            <a:avLst/>
            <a:gdLst/>
            <a:ahLst/>
            <a:cxnLst/>
            <a:rect l="l" t="t" r="r" b="b"/>
            <a:pathLst>
              <a:path w="547370" h="441960">
                <a:moveTo>
                  <a:pt x="0" y="220980"/>
                </a:moveTo>
                <a:lnTo>
                  <a:pt x="136778" y="220980"/>
                </a:lnTo>
                <a:lnTo>
                  <a:pt x="136778" y="0"/>
                </a:lnTo>
                <a:lnTo>
                  <a:pt x="410337" y="0"/>
                </a:lnTo>
                <a:lnTo>
                  <a:pt x="410337" y="220980"/>
                </a:lnTo>
                <a:lnTo>
                  <a:pt x="547115" y="220980"/>
                </a:lnTo>
                <a:lnTo>
                  <a:pt x="273558" y="441960"/>
                </a:lnTo>
                <a:lnTo>
                  <a:pt x="0" y="220980"/>
                </a:lnTo>
                <a:close/>
              </a:path>
            </a:pathLst>
          </a:custGeom>
          <a:ln w="12192">
            <a:solidFill>
              <a:srgbClr val="000000"/>
            </a:solidFill>
          </a:ln>
        </p:spPr>
        <p:txBody>
          <a:bodyPr wrap="square" lIns="0" tIns="0" rIns="0" bIns="0" rtlCol="0"/>
          <a:lstStyle/>
          <a:p>
            <a:endParaRPr/>
          </a:p>
        </p:txBody>
      </p:sp>
      <p:sp>
        <p:nvSpPr>
          <p:cNvPr id="36" name="object 34">
            <a:extLst>
              <a:ext uri="{FF2B5EF4-FFF2-40B4-BE49-F238E27FC236}">
                <a16:creationId xmlns:a16="http://schemas.microsoft.com/office/drawing/2014/main" id="{77B59DEC-C869-3900-F970-DEE578A1E7C2}"/>
              </a:ext>
            </a:extLst>
          </p:cNvPr>
          <p:cNvSpPr/>
          <p:nvPr/>
        </p:nvSpPr>
        <p:spPr>
          <a:xfrm>
            <a:off x="7545323" y="4722004"/>
            <a:ext cx="547370" cy="441959"/>
          </a:xfrm>
          <a:custGeom>
            <a:avLst/>
            <a:gdLst/>
            <a:ahLst/>
            <a:cxnLst/>
            <a:rect l="l" t="t" r="r" b="b"/>
            <a:pathLst>
              <a:path w="547370" h="441960">
                <a:moveTo>
                  <a:pt x="547115" y="220979"/>
                </a:moveTo>
                <a:lnTo>
                  <a:pt x="0" y="220979"/>
                </a:lnTo>
                <a:lnTo>
                  <a:pt x="273558" y="441959"/>
                </a:lnTo>
                <a:lnTo>
                  <a:pt x="547115" y="220979"/>
                </a:lnTo>
                <a:close/>
              </a:path>
              <a:path w="547370" h="441960">
                <a:moveTo>
                  <a:pt x="410337" y="0"/>
                </a:moveTo>
                <a:lnTo>
                  <a:pt x="136778" y="0"/>
                </a:lnTo>
                <a:lnTo>
                  <a:pt x="136778" y="220979"/>
                </a:lnTo>
                <a:lnTo>
                  <a:pt x="410337" y="220979"/>
                </a:lnTo>
                <a:lnTo>
                  <a:pt x="410337" y="0"/>
                </a:lnTo>
                <a:close/>
              </a:path>
            </a:pathLst>
          </a:custGeom>
          <a:solidFill>
            <a:srgbClr val="000000"/>
          </a:solidFill>
        </p:spPr>
        <p:txBody>
          <a:bodyPr wrap="square" lIns="0" tIns="0" rIns="0" bIns="0" rtlCol="0"/>
          <a:lstStyle/>
          <a:p>
            <a:endParaRPr/>
          </a:p>
        </p:txBody>
      </p:sp>
      <p:sp>
        <p:nvSpPr>
          <p:cNvPr id="37" name="object 35">
            <a:extLst>
              <a:ext uri="{FF2B5EF4-FFF2-40B4-BE49-F238E27FC236}">
                <a16:creationId xmlns:a16="http://schemas.microsoft.com/office/drawing/2014/main" id="{D53A5481-68BC-CFBD-9760-FB113FA33C75}"/>
              </a:ext>
            </a:extLst>
          </p:cNvPr>
          <p:cNvSpPr/>
          <p:nvPr/>
        </p:nvSpPr>
        <p:spPr>
          <a:xfrm>
            <a:off x="7545323" y="4722004"/>
            <a:ext cx="547370" cy="441959"/>
          </a:xfrm>
          <a:custGeom>
            <a:avLst/>
            <a:gdLst/>
            <a:ahLst/>
            <a:cxnLst/>
            <a:rect l="l" t="t" r="r" b="b"/>
            <a:pathLst>
              <a:path w="547370" h="441960">
                <a:moveTo>
                  <a:pt x="0" y="220979"/>
                </a:moveTo>
                <a:lnTo>
                  <a:pt x="136778" y="220979"/>
                </a:lnTo>
                <a:lnTo>
                  <a:pt x="136778" y="0"/>
                </a:lnTo>
                <a:lnTo>
                  <a:pt x="410337" y="0"/>
                </a:lnTo>
                <a:lnTo>
                  <a:pt x="410337" y="220979"/>
                </a:lnTo>
                <a:lnTo>
                  <a:pt x="547115" y="220979"/>
                </a:lnTo>
                <a:lnTo>
                  <a:pt x="273558" y="441959"/>
                </a:lnTo>
                <a:lnTo>
                  <a:pt x="0" y="220979"/>
                </a:lnTo>
                <a:close/>
              </a:path>
            </a:pathLst>
          </a:custGeom>
          <a:ln w="12192">
            <a:solidFill>
              <a:srgbClr val="000000"/>
            </a:solidFill>
          </a:ln>
        </p:spPr>
        <p:txBody>
          <a:bodyPr wrap="square" lIns="0" tIns="0" rIns="0" bIns="0" rtlCol="0"/>
          <a:lstStyle/>
          <a:p>
            <a:endParaRPr/>
          </a:p>
        </p:txBody>
      </p:sp>
      <p:sp>
        <p:nvSpPr>
          <p:cNvPr id="38" name="object 36">
            <a:extLst>
              <a:ext uri="{FF2B5EF4-FFF2-40B4-BE49-F238E27FC236}">
                <a16:creationId xmlns:a16="http://schemas.microsoft.com/office/drawing/2014/main" id="{36649E61-0DF7-EFCA-8477-CF8F62A0DF13}"/>
              </a:ext>
            </a:extLst>
          </p:cNvPr>
          <p:cNvSpPr/>
          <p:nvPr/>
        </p:nvSpPr>
        <p:spPr>
          <a:xfrm>
            <a:off x="6557771" y="5785757"/>
            <a:ext cx="1379220" cy="751840"/>
          </a:xfrm>
          <a:custGeom>
            <a:avLst/>
            <a:gdLst/>
            <a:ahLst/>
            <a:cxnLst/>
            <a:rect l="l" t="t" r="r" b="b"/>
            <a:pathLst>
              <a:path w="1379220" h="751840">
                <a:moveTo>
                  <a:pt x="187832" y="375666"/>
                </a:moveTo>
                <a:lnTo>
                  <a:pt x="0" y="563499"/>
                </a:lnTo>
                <a:lnTo>
                  <a:pt x="187832" y="751332"/>
                </a:lnTo>
                <a:lnTo>
                  <a:pt x="187832" y="700938"/>
                </a:lnTo>
                <a:lnTo>
                  <a:pt x="1050543" y="700938"/>
                </a:lnTo>
                <a:lnTo>
                  <a:pt x="1099104" y="697374"/>
                </a:lnTo>
                <a:lnTo>
                  <a:pt x="1145455" y="687021"/>
                </a:lnTo>
                <a:lnTo>
                  <a:pt x="1189088" y="670387"/>
                </a:lnTo>
                <a:lnTo>
                  <a:pt x="1229493" y="647981"/>
                </a:lnTo>
                <a:lnTo>
                  <a:pt x="1266163" y="620311"/>
                </a:lnTo>
                <a:lnTo>
                  <a:pt x="1298587" y="587885"/>
                </a:lnTo>
                <a:lnTo>
                  <a:pt x="1326258" y="551213"/>
                </a:lnTo>
                <a:lnTo>
                  <a:pt x="1348665" y="510803"/>
                </a:lnTo>
                <a:lnTo>
                  <a:pt x="1365300" y="467162"/>
                </a:lnTo>
                <a:lnTo>
                  <a:pt x="1374480" y="426059"/>
                </a:lnTo>
                <a:lnTo>
                  <a:pt x="187832" y="426059"/>
                </a:lnTo>
                <a:lnTo>
                  <a:pt x="187832" y="375666"/>
                </a:lnTo>
                <a:close/>
              </a:path>
              <a:path w="1379220" h="751840">
                <a:moveTo>
                  <a:pt x="1379219" y="0"/>
                </a:moveTo>
                <a:lnTo>
                  <a:pt x="1104391" y="0"/>
                </a:lnTo>
                <a:lnTo>
                  <a:pt x="1104391" y="372224"/>
                </a:lnTo>
                <a:lnTo>
                  <a:pt x="1100157" y="393178"/>
                </a:lnTo>
                <a:lnTo>
                  <a:pt x="1088612" y="410290"/>
                </a:lnTo>
                <a:lnTo>
                  <a:pt x="1071495" y="421828"/>
                </a:lnTo>
                <a:lnTo>
                  <a:pt x="1050543" y="426059"/>
                </a:lnTo>
                <a:lnTo>
                  <a:pt x="1374480" y="426059"/>
                </a:lnTo>
                <a:lnTo>
                  <a:pt x="1375655" y="420799"/>
                </a:lnTo>
                <a:lnTo>
                  <a:pt x="1379219" y="372224"/>
                </a:lnTo>
                <a:lnTo>
                  <a:pt x="1379219" y="0"/>
                </a:lnTo>
                <a:close/>
              </a:path>
            </a:pathLst>
          </a:custGeom>
          <a:solidFill>
            <a:srgbClr val="000000"/>
          </a:solidFill>
        </p:spPr>
        <p:txBody>
          <a:bodyPr wrap="square" lIns="0" tIns="0" rIns="0" bIns="0" rtlCol="0"/>
          <a:lstStyle/>
          <a:p>
            <a:endParaRPr/>
          </a:p>
        </p:txBody>
      </p:sp>
      <p:sp>
        <p:nvSpPr>
          <p:cNvPr id="39" name="object 37">
            <a:extLst>
              <a:ext uri="{FF2B5EF4-FFF2-40B4-BE49-F238E27FC236}">
                <a16:creationId xmlns:a16="http://schemas.microsoft.com/office/drawing/2014/main" id="{853C3F20-7E20-433D-DA85-57D461144DE5}"/>
              </a:ext>
            </a:extLst>
          </p:cNvPr>
          <p:cNvSpPr/>
          <p:nvPr/>
        </p:nvSpPr>
        <p:spPr>
          <a:xfrm>
            <a:off x="6557771" y="5785757"/>
            <a:ext cx="1379220" cy="751840"/>
          </a:xfrm>
          <a:custGeom>
            <a:avLst/>
            <a:gdLst/>
            <a:ahLst/>
            <a:cxnLst/>
            <a:rect l="l" t="t" r="r" b="b"/>
            <a:pathLst>
              <a:path w="1379220" h="751840">
                <a:moveTo>
                  <a:pt x="1379219" y="0"/>
                </a:moveTo>
                <a:lnTo>
                  <a:pt x="1379219" y="372224"/>
                </a:lnTo>
                <a:lnTo>
                  <a:pt x="1375655" y="420799"/>
                </a:lnTo>
                <a:lnTo>
                  <a:pt x="1365300" y="467162"/>
                </a:lnTo>
                <a:lnTo>
                  <a:pt x="1348665" y="510803"/>
                </a:lnTo>
                <a:lnTo>
                  <a:pt x="1326258" y="551213"/>
                </a:lnTo>
                <a:lnTo>
                  <a:pt x="1298587" y="587885"/>
                </a:lnTo>
                <a:lnTo>
                  <a:pt x="1266163" y="620311"/>
                </a:lnTo>
                <a:lnTo>
                  <a:pt x="1229493" y="647981"/>
                </a:lnTo>
                <a:lnTo>
                  <a:pt x="1189088" y="670387"/>
                </a:lnTo>
                <a:lnTo>
                  <a:pt x="1145455" y="687021"/>
                </a:lnTo>
                <a:lnTo>
                  <a:pt x="1099104" y="697374"/>
                </a:lnTo>
                <a:lnTo>
                  <a:pt x="1050543" y="700938"/>
                </a:lnTo>
                <a:lnTo>
                  <a:pt x="187832" y="700938"/>
                </a:lnTo>
                <a:lnTo>
                  <a:pt x="187832" y="751332"/>
                </a:lnTo>
                <a:lnTo>
                  <a:pt x="0" y="563499"/>
                </a:lnTo>
                <a:lnTo>
                  <a:pt x="187832" y="375666"/>
                </a:lnTo>
                <a:lnTo>
                  <a:pt x="187832" y="426059"/>
                </a:lnTo>
                <a:lnTo>
                  <a:pt x="1050543" y="426059"/>
                </a:lnTo>
                <a:lnTo>
                  <a:pt x="1071495" y="421828"/>
                </a:lnTo>
                <a:lnTo>
                  <a:pt x="1088612" y="410290"/>
                </a:lnTo>
                <a:lnTo>
                  <a:pt x="1100157" y="393178"/>
                </a:lnTo>
                <a:lnTo>
                  <a:pt x="1104391" y="372224"/>
                </a:lnTo>
                <a:lnTo>
                  <a:pt x="1104391" y="0"/>
                </a:lnTo>
                <a:lnTo>
                  <a:pt x="1379219" y="0"/>
                </a:lnTo>
                <a:close/>
              </a:path>
            </a:pathLst>
          </a:custGeom>
          <a:ln w="12192">
            <a:solidFill>
              <a:srgbClr val="000000"/>
            </a:solidFill>
          </a:ln>
        </p:spPr>
        <p:txBody>
          <a:bodyPr wrap="square" lIns="0" tIns="0" rIns="0" bIns="0" rtlCol="0"/>
          <a:lstStyle/>
          <a:p>
            <a:endParaRPr/>
          </a:p>
        </p:txBody>
      </p:sp>
      <p:sp>
        <p:nvSpPr>
          <p:cNvPr id="40" name="object 38">
            <a:extLst>
              <a:ext uri="{FF2B5EF4-FFF2-40B4-BE49-F238E27FC236}">
                <a16:creationId xmlns:a16="http://schemas.microsoft.com/office/drawing/2014/main" id="{03340BF7-CA69-0D2E-4724-5FC54AF450A6}"/>
              </a:ext>
            </a:extLst>
          </p:cNvPr>
          <p:cNvSpPr/>
          <p:nvPr/>
        </p:nvSpPr>
        <p:spPr>
          <a:xfrm>
            <a:off x="3695700" y="5508389"/>
            <a:ext cx="1239520" cy="969644"/>
          </a:xfrm>
          <a:custGeom>
            <a:avLst/>
            <a:gdLst/>
            <a:ahLst/>
            <a:cxnLst/>
            <a:rect l="l" t="t" r="r" b="b"/>
            <a:pathLst>
              <a:path w="1239520" h="969645">
                <a:moveTo>
                  <a:pt x="378332" y="242316"/>
                </a:moveTo>
                <a:lnTo>
                  <a:pt x="106299" y="242316"/>
                </a:lnTo>
                <a:lnTo>
                  <a:pt x="106299" y="545211"/>
                </a:lnTo>
                <a:lnTo>
                  <a:pt x="108787" y="591416"/>
                </a:lnTo>
                <a:lnTo>
                  <a:pt x="116080" y="636181"/>
                </a:lnTo>
                <a:lnTo>
                  <a:pt x="127918" y="679245"/>
                </a:lnTo>
                <a:lnTo>
                  <a:pt x="144043" y="720351"/>
                </a:lnTo>
                <a:lnTo>
                  <a:pt x="164196" y="759239"/>
                </a:lnTo>
                <a:lnTo>
                  <a:pt x="188119" y="795652"/>
                </a:lnTo>
                <a:lnTo>
                  <a:pt x="215552" y="829330"/>
                </a:lnTo>
                <a:lnTo>
                  <a:pt x="246237" y="860014"/>
                </a:lnTo>
                <a:lnTo>
                  <a:pt x="279916" y="887447"/>
                </a:lnTo>
                <a:lnTo>
                  <a:pt x="316328" y="911368"/>
                </a:lnTo>
                <a:lnTo>
                  <a:pt x="355217" y="931521"/>
                </a:lnTo>
                <a:lnTo>
                  <a:pt x="396322" y="947645"/>
                </a:lnTo>
                <a:lnTo>
                  <a:pt x="439385" y="959483"/>
                </a:lnTo>
                <a:lnTo>
                  <a:pt x="484148" y="966775"/>
                </a:lnTo>
                <a:lnTo>
                  <a:pt x="530351" y="969264"/>
                </a:lnTo>
                <a:lnTo>
                  <a:pt x="1239012" y="969264"/>
                </a:lnTo>
                <a:lnTo>
                  <a:pt x="1239012" y="697280"/>
                </a:lnTo>
                <a:lnTo>
                  <a:pt x="530351" y="697280"/>
                </a:lnTo>
                <a:lnTo>
                  <a:pt x="482306" y="689528"/>
                </a:lnTo>
                <a:lnTo>
                  <a:pt x="440576" y="667939"/>
                </a:lnTo>
                <a:lnTo>
                  <a:pt x="407666" y="635021"/>
                </a:lnTo>
                <a:lnTo>
                  <a:pt x="386084" y="593276"/>
                </a:lnTo>
                <a:lnTo>
                  <a:pt x="378332" y="545211"/>
                </a:lnTo>
                <a:lnTo>
                  <a:pt x="378332" y="242316"/>
                </a:lnTo>
                <a:close/>
              </a:path>
              <a:path w="1239520" h="969645">
                <a:moveTo>
                  <a:pt x="242316" y="0"/>
                </a:moveTo>
                <a:lnTo>
                  <a:pt x="0" y="242316"/>
                </a:lnTo>
                <a:lnTo>
                  <a:pt x="484631" y="242316"/>
                </a:lnTo>
                <a:lnTo>
                  <a:pt x="242316" y="0"/>
                </a:lnTo>
                <a:close/>
              </a:path>
            </a:pathLst>
          </a:custGeom>
          <a:solidFill>
            <a:srgbClr val="000000"/>
          </a:solidFill>
        </p:spPr>
        <p:txBody>
          <a:bodyPr wrap="square" lIns="0" tIns="0" rIns="0" bIns="0" rtlCol="0"/>
          <a:lstStyle/>
          <a:p>
            <a:endParaRPr/>
          </a:p>
        </p:txBody>
      </p:sp>
      <p:sp>
        <p:nvSpPr>
          <p:cNvPr id="41" name="object 39">
            <a:extLst>
              <a:ext uri="{FF2B5EF4-FFF2-40B4-BE49-F238E27FC236}">
                <a16:creationId xmlns:a16="http://schemas.microsoft.com/office/drawing/2014/main" id="{7EB3816F-9AA6-0679-49A5-E0240CA52259}"/>
              </a:ext>
            </a:extLst>
          </p:cNvPr>
          <p:cNvSpPr/>
          <p:nvPr/>
        </p:nvSpPr>
        <p:spPr>
          <a:xfrm>
            <a:off x="3695700" y="5508389"/>
            <a:ext cx="1239520" cy="969644"/>
          </a:xfrm>
          <a:custGeom>
            <a:avLst/>
            <a:gdLst/>
            <a:ahLst/>
            <a:cxnLst/>
            <a:rect l="l" t="t" r="r" b="b"/>
            <a:pathLst>
              <a:path w="1239520" h="969645">
                <a:moveTo>
                  <a:pt x="1239012" y="969264"/>
                </a:moveTo>
                <a:lnTo>
                  <a:pt x="530351" y="969264"/>
                </a:lnTo>
                <a:lnTo>
                  <a:pt x="484148" y="966775"/>
                </a:lnTo>
                <a:lnTo>
                  <a:pt x="439385" y="959483"/>
                </a:lnTo>
                <a:lnTo>
                  <a:pt x="396322" y="947645"/>
                </a:lnTo>
                <a:lnTo>
                  <a:pt x="355217" y="931521"/>
                </a:lnTo>
                <a:lnTo>
                  <a:pt x="316328" y="911368"/>
                </a:lnTo>
                <a:lnTo>
                  <a:pt x="279916" y="887447"/>
                </a:lnTo>
                <a:lnTo>
                  <a:pt x="246237" y="860014"/>
                </a:lnTo>
                <a:lnTo>
                  <a:pt x="215552" y="829330"/>
                </a:lnTo>
                <a:lnTo>
                  <a:pt x="188119" y="795652"/>
                </a:lnTo>
                <a:lnTo>
                  <a:pt x="164196" y="759239"/>
                </a:lnTo>
                <a:lnTo>
                  <a:pt x="144043" y="720351"/>
                </a:lnTo>
                <a:lnTo>
                  <a:pt x="127918" y="679245"/>
                </a:lnTo>
                <a:lnTo>
                  <a:pt x="116080" y="636181"/>
                </a:lnTo>
                <a:lnTo>
                  <a:pt x="108787" y="591416"/>
                </a:lnTo>
                <a:lnTo>
                  <a:pt x="106299" y="545211"/>
                </a:lnTo>
                <a:lnTo>
                  <a:pt x="106299" y="242316"/>
                </a:lnTo>
                <a:lnTo>
                  <a:pt x="0" y="242316"/>
                </a:lnTo>
                <a:lnTo>
                  <a:pt x="242316" y="0"/>
                </a:lnTo>
                <a:lnTo>
                  <a:pt x="484631" y="242316"/>
                </a:lnTo>
                <a:lnTo>
                  <a:pt x="378332" y="242316"/>
                </a:lnTo>
                <a:lnTo>
                  <a:pt x="378332" y="545211"/>
                </a:lnTo>
                <a:lnTo>
                  <a:pt x="386084" y="593276"/>
                </a:lnTo>
                <a:lnTo>
                  <a:pt x="407666" y="635021"/>
                </a:lnTo>
                <a:lnTo>
                  <a:pt x="440576" y="667939"/>
                </a:lnTo>
                <a:lnTo>
                  <a:pt x="482306" y="689528"/>
                </a:lnTo>
                <a:lnTo>
                  <a:pt x="530351" y="697280"/>
                </a:lnTo>
                <a:lnTo>
                  <a:pt x="1239012" y="697280"/>
                </a:lnTo>
                <a:lnTo>
                  <a:pt x="1239012" y="969264"/>
                </a:lnTo>
                <a:close/>
              </a:path>
            </a:pathLst>
          </a:custGeom>
          <a:ln w="12192">
            <a:solidFill>
              <a:srgbClr val="000000"/>
            </a:solidFill>
          </a:ln>
        </p:spPr>
        <p:txBody>
          <a:bodyPr wrap="square" lIns="0" tIns="0" rIns="0" bIns="0" rtlCol="0"/>
          <a:lstStyle/>
          <a:p>
            <a:endParaRPr/>
          </a:p>
        </p:txBody>
      </p:sp>
      <p:sp>
        <p:nvSpPr>
          <p:cNvPr id="42" name="object 40">
            <a:extLst>
              <a:ext uri="{FF2B5EF4-FFF2-40B4-BE49-F238E27FC236}">
                <a16:creationId xmlns:a16="http://schemas.microsoft.com/office/drawing/2014/main" id="{AB9BC83E-D088-8D30-ED90-9B390CFC5458}"/>
              </a:ext>
            </a:extLst>
          </p:cNvPr>
          <p:cNvSpPr txBox="1"/>
          <p:nvPr/>
        </p:nvSpPr>
        <p:spPr>
          <a:xfrm>
            <a:off x="9181338" y="3461098"/>
            <a:ext cx="1462405" cy="1507363"/>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Can</a:t>
            </a:r>
            <a:r>
              <a:rPr sz="2400" spc="-50" dirty="0">
                <a:latin typeface="Calibri"/>
                <a:cs typeface="Calibri"/>
              </a:rPr>
              <a:t> </a:t>
            </a:r>
            <a:r>
              <a:rPr sz="2400" spc="-10" dirty="0">
                <a:latin typeface="Calibri"/>
                <a:cs typeface="Calibri"/>
              </a:rPr>
              <a:t>repeat</a:t>
            </a:r>
            <a:endParaRPr sz="2400">
              <a:latin typeface="Calibri"/>
              <a:cs typeface="Calibri"/>
            </a:endParaRPr>
          </a:p>
          <a:p>
            <a:pPr marL="12700">
              <a:lnSpc>
                <a:spcPct val="100000"/>
              </a:lnSpc>
              <a:spcBef>
                <a:spcPts val="5"/>
              </a:spcBef>
            </a:pPr>
            <a:r>
              <a:rPr sz="2400" spc="-15" dirty="0">
                <a:latin typeface="Calibri"/>
                <a:cs typeface="Calibri"/>
              </a:rPr>
              <a:t>many</a:t>
            </a:r>
            <a:r>
              <a:rPr sz="2400" spc="-85" dirty="0">
                <a:latin typeface="Calibri"/>
                <a:cs typeface="Calibri"/>
              </a:rPr>
              <a:t> </a:t>
            </a:r>
            <a:r>
              <a:rPr sz="2400" dirty="0">
                <a:latin typeface="Calibri"/>
                <a:cs typeface="Calibri"/>
              </a:rPr>
              <a:t>times</a:t>
            </a:r>
            <a:endParaRPr sz="2400">
              <a:latin typeface="Calibri"/>
              <a:cs typeface="Calibri"/>
            </a:endParaRPr>
          </a:p>
        </p:txBody>
      </p:sp>
      <p:sp>
        <p:nvSpPr>
          <p:cNvPr id="43" name="object 41">
            <a:extLst>
              <a:ext uri="{FF2B5EF4-FFF2-40B4-BE49-F238E27FC236}">
                <a16:creationId xmlns:a16="http://schemas.microsoft.com/office/drawing/2014/main" id="{28273224-5914-A097-CB78-B6D684CE2EFF}"/>
              </a:ext>
            </a:extLst>
          </p:cNvPr>
          <p:cNvSpPr/>
          <p:nvPr/>
        </p:nvSpPr>
        <p:spPr>
          <a:xfrm>
            <a:off x="8702802" y="1839358"/>
            <a:ext cx="335280" cy="4048125"/>
          </a:xfrm>
          <a:custGeom>
            <a:avLst/>
            <a:gdLst/>
            <a:ahLst/>
            <a:cxnLst/>
            <a:rect l="l" t="t" r="r" b="b"/>
            <a:pathLst>
              <a:path w="335279" h="4048125">
                <a:moveTo>
                  <a:pt x="0" y="4047744"/>
                </a:moveTo>
                <a:lnTo>
                  <a:pt x="38437" y="4041289"/>
                </a:lnTo>
                <a:lnTo>
                  <a:pt x="73722" y="4022905"/>
                </a:lnTo>
                <a:lnTo>
                  <a:pt x="104849" y="3994056"/>
                </a:lnTo>
                <a:lnTo>
                  <a:pt x="130810" y="3956210"/>
                </a:lnTo>
                <a:lnTo>
                  <a:pt x="150600" y="3910834"/>
                </a:lnTo>
                <a:lnTo>
                  <a:pt x="163212" y="3859394"/>
                </a:lnTo>
                <a:lnTo>
                  <a:pt x="167640" y="3803357"/>
                </a:lnTo>
                <a:lnTo>
                  <a:pt x="167640" y="2268220"/>
                </a:lnTo>
                <a:lnTo>
                  <a:pt x="172067" y="2212217"/>
                </a:lnTo>
                <a:lnTo>
                  <a:pt x="184679" y="2160795"/>
                </a:lnTo>
                <a:lnTo>
                  <a:pt x="204469" y="2115424"/>
                </a:lnTo>
                <a:lnTo>
                  <a:pt x="230430" y="2077576"/>
                </a:lnTo>
                <a:lnTo>
                  <a:pt x="261557" y="2048721"/>
                </a:lnTo>
                <a:lnTo>
                  <a:pt x="296842" y="2030329"/>
                </a:lnTo>
                <a:lnTo>
                  <a:pt x="335279" y="2023872"/>
                </a:lnTo>
                <a:lnTo>
                  <a:pt x="296842" y="2017414"/>
                </a:lnTo>
                <a:lnTo>
                  <a:pt x="261557" y="1999022"/>
                </a:lnTo>
                <a:lnTo>
                  <a:pt x="230430" y="1970167"/>
                </a:lnTo>
                <a:lnTo>
                  <a:pt x="204469" y="1932319"/>
                </a:lnTo>
                <a:lnTo>
                  <a:pt x="184679" y="1886948"/>
                </a:lnTo>
                <a:lnTo>
                  <a:pt x="172067" y="1835526"/>
                </a:lnTo>
                <a:lnTo>
                  <a:pt x="167640" y="1779524"/>
                </a:lnTo>
                <a:lnTo>
                  <a:pt x="167640" y="244348"/>
                </a:lnTo>
                <a:lnTo>
                  <a:pt x="163212" y="188345"/>
                </a:lnTo>
                <a:lnTo>
                  <a:pt x="150600" y="136923"/>
                </a:lnTo>
                <a:lnTo>
                  <a:pt x="130810" y="91552"/>
                </a:lnTo>
                <a:lnTo>
                  <a:pt x="104849" y="53704"/>
                </a:lnTo>
                <a:lnTo>
                  <a:pt x="73722" y="24849"/>
                </a:lnTo>
                <a:lnTo>
                  <a:pt x="38437" y="6457"/>
                </a:lnTo>
                <a:lnTo>
                  <a:pt x="0" y="0"/>
                </a:lnTo>
              </a:path>
            </a:pathLst>
          </a:custGeom>
          <a:ln w="38100">
            <a:solidFill>
              <a:srgbClr val="FF0000"/>
            </a:solidFill>
          </a:ln>
        </p:spPr>
        <p:txBody>
          <a:bodyPr wrap="square" lIns="0" tIns="0" rIns="0" bIns="0" rtlCol="0"/>
          <a:lstStyle/>
          <a:p>
            <a:endParaRPr dirty="0"/>
          </a:p>
        </p:txBody>
      </p:sp>
      <p:sp>
        <p:nvSpPr>
          <p:cNvPr id="44" name="TextBox 43">
            <a:extLst>
              <a:ext uri="{FF2B5EF4-FFF2-40B4-BE49-F238E27FC236}">
                <a16:creationId xmlns:a16="http://schemas.microsoft.com/office/drawing/2014/main" id="{C5933DAE-1280-31E4-2F8A-E0E79F2E8A65}"/>
              </a:ext>
            </a:extLst>
          </p:cNvPr>
          <p:cNvSpPr txBox="1"/>
          <p:nvPr/>
        </p:nvSpPr>
        <p:spPr>
          <a:xfrm>
            <a:off x="8383650" y="6564737"/>
            <a:ext cx="3808350" cy="307777"/>
          </a:xfrm>
          <a:prstGeom prst="rect">
            <a:avLst/>
          </a:prstGeom>
          <a:noFill/>
        </p:spPr>
        <p:txBody>
          <a:bodyPr wrap="none" rtlCol="0">
            <a:spAutoFit/>
          </a:bodyPr>
          <a:lstStyle/>
          <a:p>
            <a:r>
              <a:rPr lang="en-US" sz="1400" i="1" dirty="0">
                <a:solidFill>
                  <a:schemeClr val="accent6">
                    <a:lumMod val="75000"/>
                  </a:schemeClr>
                </a:solidFill>
              </a:rPr>
              <a:t>cc to deep learning in one day from Prof. Lee</a:t>
            </a:r>
          </a:p>
        </p:txBody>
      </p:sp>
    </p:spTree>
    <p:extLst>
      <p:ext uri="{BB962C8B-B14F-4D97-AF65-F5344CB8AC3E}">
        <p14:creationId xmlns:p14="http://schemas.microsoft.com/office/powerpoint/2010/main" val="3475638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CONVOLUTION BY HAND · SETUP</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dirty="0">
                <a:solidFill>
                  <a:srgbClr val="1B2025"/>
                </a:solidFill>
              </a:rPr>
              <a:t>Convolution: </a:t>
            </a:r>
            <a:r>
              <a:rPr lang="en-US" sz="3400" b="1" i="0" dirty="0">
                <a:solidFill>
                  <a:srgbClr val="1B2025"/>
                </a:solidFill>
                <a:latin typeface="Avenir Next"/>
              </a:rPr>
              <a:t>A Sliding Window</a:t>
            </a:r>
            <a:endParaRPr sz="3400" b="1" i="0" dirty="0">
              <a:solidFill>
                <a:srgbClr val="1B2025"/>
              </a:solidFill>
              <a:latin typeface="Avenir Next"/>
            </a:endParaRPr>
          </a:p>
        </p:txBody>
      </p:sp>
      <p:pic>
        <p:nvPicPr>
          <p:cNvPr id="5" name="Picture 4" descr="fig_conv_setup.png"/>
          <p:cNvPicPr>
            <a:picLocks noChangeAspect="1"/>
          </p:cNvPicPr>
          <p:nvPr/>
        </p:nvPicPr>
        <p:blipFill>
          <a:blip r:embed="rId3"/>
          <a:stretch>
            <a:fillRect/>
          </a:stretch>
        </p:blipFill>
        <p:spPr>
          <a:xfrm>
            <a:off x="1370737" y="1828800"/>
            <a:ext cx="9420045" cy="3566160"/>
          </a:xfrm>
          <a:prstGeom prst="rect">
            <a:avLst/>
          </a:prstGeom>
        </p:spPr>
      </p:pic>
      <p:sp>
        <p:nvSpPr>
          <p:cNvPr id="6" name="Rectangle 5"/>
          <p:cNvSpPr/>
          <p:nvPr/>
        </p:nvSpPr>
        <p:spPr>
          <a:xfrm>
            <a:off x="548640" y="548640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 rule for every cell, written before you use it: lay the 3×3 filter on a 3×3 window of the image, multiply each pair, add the nine products — that one number goes in the feature map. In a real CNN the 9 filter values are LEARNED (gradient descent, Lecture 2); today we hand-pick them so we can compute.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I-DO · STEP 1</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One window, nine products, one output cell</a:t>
            </a:r>
          </a:p>
        </p:txBody>
      </p:sp>
      <p:pic>
        <p:nvPicPr>
          <p:cNvPr id="5" name="Picture 4" descr="fig_conv_ido1.png"/>
          <p:cNvPicPr>
            <a:picLocks noChangeAspect="1"/>
          </p:cNvPicPr>
          <p:nvPr/>
        </p:nvPicPr>
        <p:blipFill>
          <a:blip r:embed="rId3"/>
          <a:stretch>
            <a:fillRect/>
          </a:stretch>
        </p:blipFill>
        <p:spPr>
          <a:xfrm>
            <a:off x="2018503" y="1828800"/>
            <a:ext cx="8124514" cy="3383280"/>
          </a:xfrm>
          <a:prstGeom prst="rect">
            <a:avLst/>
          </a:prstGeom>
        </p:spPr>
      </p:pic>
      <p:sp>
        <p:nvSpPr>
          <p:cNvPr id="6" name="Rectangle 5"/>
          <p:cNvSpPr/>
          <p:nvPr/>
        </p:nvSpPr>
        <p:spPr>
          <a:xfrm>
            <a:off x="548640" y="530352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Top-left window · overlay the filter · 1·1 + 0·(−1) + 0·(−1) + 0·(−1) + 1·1 + 0·(−1) + 0·(−1) + 0·(−1) + 1·1 = 3. Six products are zero; the three 1·1 hits sit on the diagonal — a strong diagonal match, written into the map as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I-DO · STEP 2 · STRIDE 1</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Slide one step — same 9 weights, new window</a:t>
            </a:r>
          </a:p>
        </p:txBody>
      </p:sp>
      <p:pic>
        <p:nvPicPr>
          <p:cNvPr id="5" name="Picture 4" descr="fig_conv_ido2.png"/>
          <p:cNvPicPr>
            <a:picLocks noChangeAspect="1"/>
          </p:cNvPicPr>
          <p:nvPr/>
        </p:nvPicPr>
        <p:blipFill>
          <a:blip r:embed="rId3"/>
          <a:stretch>
            <a:fillRect/>
          </a:stretch>
        </p:blipFill>
        <p:spPr>
          <a:xfrm>
            <a:off x="1976261" y="1828800"/>
            <a:ext cx="8208998" cy="3383280"/>
          </a:xfrm>
          <a:prstGeom prst="rect">
            <a:avLst/>
          </a:prstGeom>
        </p:spPr>
      </p:pic>
      <p:sp>
        <p:nvSpPr>
          <p:cNvPr id="6" name="Rectangle 5"/>
          <p:cNvSpPr/>
          <p:nvPr/>
        </p:nvSpPr>
        <p:spPr>
          <a:xfrm>
            <a:off x="548640" y="530352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Stride 1 = jump the window one cell. Same 9 filter weights, new pixels: 0·1 + 0·(−1) + 1·(−1) + 1·(−1) + 0·1 + 0·(−1) + 0·(−1) + 1·(−1) + 0·1 = −3 — a weak (anti-)match here. Reusing the SAME weights at a new position is weight sharing, happening before your eyes.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THE RESULT</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feature map is a 'where is my pattern' map</a:t>
            </a:r>
          </a:p>
        </p:txBody>
      </p:sp>
      <p:pic>
        <p:nvPicPr>
          <p:cNvPr id="5" name="Picture 4" descr="fig_conv_map.png"/>
          <p:cNvPicPr>
            <a:picLocks noChangeAspect="1"/>
          </p:cNvPicPr>
          <p:nvPr/>
        </p:nvPicPr>
        <p:blipFill>
          <a:blip r:embed="rId3"/>
          <a:stretch>
            <a:fillRect/>
          </a:stretch>
        </p:blipFill>
        <p:spPr>
          <a:xfrm>
            <a:off x="2146713" y="1828800"/>
            <a:ext cx="7868093" cy="3383280"/>
          </a:xfrm>
          <a:prstGeom prst="rect">
            <a:avLst/>
          </a:prstGeom>
        </p:spPr>
      </p:pic>
      <p:sp>
        <p:nvSpPr>
          <p:cNvPr id="6" name="Rectangle 5"/>
          <p:cNvSpPr/>
          <p:nvPr/>
        </p:nvSpPr>
        <p:spPr>
          <a:xfrm>
            <a:off x="548640" y="530352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All 9 windows filled: 3 on the diagonal, −3 off it. Large value = 'diagonal found here.' 25 pixels became 9 responses using only 9 weights — and the feature map is itself an image, so another convolution can stack on top of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STRIDE</a:t>
            </a:r>
          </a:p>
        </p:txBody>
      </p:sp>
      <p:sp>
        <p:nvSpPr>
          <p:cNvPr id="4" name="TextBox 3"/>
          <p:cNvSpPr txBox="1"/>
          <p:nvPr/>
        </p:nvSpPr>
        <p:spPr>
          <a:xfrm>
            <a:off x="548640" y="731520"/>
            <a:ext cx="11064240" cy="615553"/>
          </a:xfrm>
          <a:prstGeom prst="rect">
            <a:avLst/>
          </a:prstGeom>
          <a:noFill/>
        </p:spPr>
        <p:txBody>
          <a:bodyPr wrap="square" anchor="t">
            <a:spAutoFit/>
          </a:bodyPr>
          <a:lstStyle/>
          <a:p>
            <a:r>
              <a:rPr sz="3400" b="1" i="0" dirty="0">
                <a:solidFill>
                  <a:srgbClr val="FF0000"/>
                </a:solidFill>
                <a:latin typeface="Avenir Next"/>
              </a:rPr>
              <a:t>Stride 2</a:t>
            </a:r>
            <a:r>
              <a:rPr sz="3400" b="1" i="0" dirty="0">
                <a:solidFill>
                  <a:srgbClr val="1B2025"/>
                </a:solidFill>
                <a:latin typeface="Avenir Next"/>
              </a:rPr>
              <a:t>: bigger jumps, a smaller map</a:t>
            </a:r>
          </a:p>
        </p:txBody>
      </p:sp>
      <p:pic>
        <p:nvPicPr>
          <p:cNvPr id="5" name="Picture 4" descr="fig_conv_stride2.png"/>
          <p:cNvPicPr>
            <a:picLocks noChangeAspect="1"/>
          </p:cNvPicPr>
          <p:nvPr/>
        </p:nvPicPr>
        <p:blipFill>
          <a:blip r:embed="rId3"/>
          <a:stretch>
            <a:fillRect/>
          </a:stretch>
        </p:blipFill>
        <p:spPr>
          <a:xfrm>
            <a:off x="2025459" y="1828800"/>
            <a:ext cx="8110602" cy="3383280"/>
          </a:xfrm>
          <a:prstGeom prst="rect">
            <a:avLst/>
          </a:prstGeom>
        </p:spPr>
      </p:pic>
      <p:sp>
        <p:nvSpPr>
          <p:cNvPr id="6" name="Rectangle 5"/>
          <p:cNvSpPr/>
          <p:nvPr/>
        </p:nvSpPr>
        <p:spPr>
          <a:xfrm>
            <a:off x="548640" y="530352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Same 9 weights, but the window now jumps 2 cells each step, so it makes half the stops in each direction: (5 − 3)/2 + 1 = 2 → a 2×2 map, a quarter of the outputs. Stride is a resolution/cost dial you set.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YOUR TURN (YOU-DO)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grid: derive both whole maps — stride 1 and stride 2</a:t>
            </a:r>
          </a:p>
        </p:txBody>
      </p:sp>
      <p:pic>
        <p:nvPicPr>
          <p:cNvPr id="7" name="Picture 4" descr="fig_conv_youdo.png"/>
          <p:cNvPicPr>
            <a:picLocks noChangeAspect="1"/>
          </p:cNvPicPr>
          <p:nvPr/>
        </p:nvPicPr>
        <p:blipFill>
          <a:blip r:embed="rId3"/>
          <a:stretch>
            <a:fillRect/>
          </a:stretch>
        </p:blipFill>
        <p:spPr>
          <a:xfrm>
            <a:off x="2143534" y="1828800"/>
            <a:ext cx="7904933" cy="3291840"/>
          </a:xfrm>
          <a:prstGeom prst="rect">
            <a:avLst/>
          </a:prstGeom>
        </p:spPr>
      </p:pic>
      <p:sp>
        <p:nvSpPr>
          <p:cNvPr id="6" name="Rectangle 5"/>
          <p:cNvSpPr/>
          <p:nvPr/>
        </p:nvSpPr>
        <p:spPr>
          <a:xfrm>
            <a:off x="548640" y="5627914"/>
            <a:ext cx="10515600" cy="50771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CHECKPOINT · </a:t>
            </a:r>
            <a:r>
              <a:rPr sz="1700" b="0" i="0" dirty="0">
                <a:solidFill>
                  <a:srgbClr val="3D444C"/>
                </a:solidFill>
                <a:latin typeface="Avenir Next"/>
              </a:rPr>
              <a:t>Your turn → Quiz 5, Q1. Derive both whole maps, every cell.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PADDING</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Zero padding keeps the edges in play</a:t>
            </a:r>
          </a:p>
        </p:txBody>
      </p:sp>
      <p:pic>
        <p:nvPicPr>
          <p:cNvPr id="5" name="Picture 4" descr="fig_conv_padding.png"/>
          <p:cNvPicPr>
            <a:picLocks noChangeAspect="1"/>
          </p:cNvPicPr>
          <p:nvPr/>
        </p:nvPicPr>
        <p:blipFill>
          <a:blip r:embed="rId3"/>
          <a:stretch>
            <a:fillRect/>
          </a:stretch>
        </p:blipFill>
        <p:spPr>
          <a:xfrm>
            <a:off x="1731784" y="1828800"/>
            <a:ext cx="8697951" cy="3566160"/>
          </a:xfrm>
          <a:prstGeom prst="rect">
            <a:avLst/>
          </a:prstGeom>
        </p:spPr>
      </p:pic>
      <p:sp>
        <p:nvSpPr>
          <p:cNvPr id="6" name="Rectangle 5"/>
          <p:cNvSpPr/>
          <p:nvPr/>
        </p:nvSpPr>
        <p:spPr>
          <a:xfrm>
            <a:off x="548640" y="548640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Ring the image with zeros before convolving. A 5×5 padded to 7×7 gives a stride-1 map back at 5×5 — the same size as the original — and the edge cells now get as many looks as the middle. Without padding the map shrinks every layer and the edges are under-observed.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THE ONE FORMULA</a:t>
            </a:r>
          </a:p>
        </p:txBody>
      </p:sp>
      <p:sp>
        <p:nvSpPr>
          <p:cNvPr id="4" name="TextBox 3"/>
          <p:cNvSpPr txBox="1"/>
          <p:nvPr/>
        </p:nvSpPr>
        <p:spPr>
          <a:xfrm>
            <a:off x="548640" y="731520"/>
            <a:ext cx="11064240" cy="1146048"/>
          </a:xfrm>
          <a:prstGeom prst="rect">
            <a:avLst/>
          </a:prstGeom>
          <a:noFill/>
        </p:spPr>
        <p:txBody>
          <a:bodyPr wrap="square" anchor="t">
            <a:spAutoFit/>
          </a:bodyPr>
          <a:lstStyle/>
          <a:p>
            <a:r>
              <a:rPr sz="3400" b="1" i="0" dirty="0">
                <a:solidFill>
                  <a:srgbClr val="1B2025"/>
                </a:solidFill>
                <a:latin typeface="Avenir Next"/>
              </a:rPr>
              <a:t>How big is the output? </a:t>
            </a:r>
            <a:r>
              <a:rPr lang="en-US" sz="3400" b="1" i="0">
                <a:solidFill>
                  <a:srgbClr val="1B2025"/>
                </a:solidFill>
                <a:latin typeface="Avenir Next"/>
              </a:rPr>
              <a:t>1D example</a:t>
            </a:r>
            <a:r>
              <a:rPr sz="3400" b="1" i="0">
                <a:solidFill>
                  <a:srgbClr val="1B2025"/>
                </a:solidFill>
                <a:latin typeface="Avenir Next"/>
              </a:rPr>
              <a:t>, </a:t>
            </a:r>
            <a:r>
              <a:rPr sz="3400" b="1" i="0" dirty="0">
                <a:solidFill>
                  <a:srgbClr val="1B2025"/>
                </a:solidFill>
                <a:latin typeface="Avenir Next"/>
              </a:rPr>
              <a:t>no calculus</a:t>
            </a:r>
          </a:p>
        </p:txBody>
      </p:sp>
      <p:pic>
        <p:nvPicPr>
          <p:cNvPr id="5" name="Picture 4" descr="fig_output_size.png"/>
          <p:cNvPicPr>
            <a:picLocks noChangeAspect="1"/>
          </p:cNvPicPr>
          <p:nvPr/>
        </p:nvPicPr>
        <p:blipFill>
          <a:blip r:embed="rId3"/>
          <a:stretch>
            <a:fillRect/>
          </a:stretch>
        </p:blipFill>
        <p:spPr>
          <a:xfrm>
            <a:off x="1483500" y="1932432"/>
            <a:ext cx="9194519" cy="3566160"/>
          </a:xfrm>
          <a:prstGeom prst="rect">
            <a:avLst/>
          </a:prstGeom>
        </p:spPr>
      </p:pic>
      <p:sp>
        <p:nvSpPr>
          <p:cNvPr id="6" name="Rectangle 5"/>
          <p:cNvSpPr/>
          <p:nvPr/>
        </p:nvSpPr>
        <p:spPr>
          <a:xfrm>
            <a:off x="548640" y="548640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out = (n − k + 2p) / s + 1.  n = input size, k = filter size, p = padding per side, s = stride. Check it against the maps we built: stride-1 → (5−3+0)/1+1 = 3 ✓; stride 2 → 2 ✓; padding 1 → 5 ✓. This is the only formula of the hour.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YOUR TURN (YOU-DO = Q3)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Run the formula once yourself</a:t>
            </a:r>
          </a:p>
        </p:txBody>
      </p:sp>
      <p:pic>
        <p:nvPicPr>
          <p:cNvPr id="7" name="Picture 6" descr="fig_output_size_youdo.png"/>
          <p:cNvPicPr>
            <a:picLocks noChangeAspect="1"/>
          </p:cNvPicPr>
          <p:nvPr/>
        </p:nvPicPr>
        <p:blipFill>
          <a:blip r:embed="rId4"/>
          <a:stretch>
            <a:fillRect/>
          </a:stretch>
        </p:blipFill>
        <p:spPr>
          <a:xfrm>
            <a:off x="2037840" y="1828800"/>
            <a:ext cx="8085839" cy="3291840"/>
          </a:xfrm>
          <a:prstGeom prst="rect">
            <a:avLst/>
          </a:prstGeom>
        </p:spPr>
      </p:pic>
      <p:sp>
        <p:nvSpPr>
          <p:cNvPr id="6" name="Rectangle 5"/>
          <p:cNvSpPr/>
          <p:nvPr/>
        </p:nvSpPr>
        <p:spPr>
          <a:xfrm>
            <a:off x="548640" y="521208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5, Q3. A 3×3 filter runs over a 7-long input with padding 1 and stride 1. What is the output length? And what would it be with no padding? Worked answer in the notes.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CHANNELS · 1 OF 4</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Every filter its own map — real filters, really computed</a:t>
            </a:r>
          </a:p>
        </p:txBody>
      </p:sp>
      <p:pic>
        <p:nvPicPr>
          <p:cNvPr id="5" name="Picture 4" descr="fig_conv_real_filters.png"/>
          <p:cNvPicPr>
            <a:picLocks noChangeAspect="1"/>
          </p:cNvPicPr>
          <p:nvPr/>
        </p:nvPicPr>
        <p:blipFill>
          <a:blip r:embed="rId3"/>
          <a:stretch>
            <a:fillRect/>
          </a:stretch>
        </p:blipFill>
        <p:spPr>
          <a:xfrm>
            <a:off x="968159" y="1828800"/>
            <a:ext cx="10225202" cy="2926080"/>
          </a:xfrm>
          <a:prstGeom prst="rect">
            <a:avLst/>
          </a:prstGeom>
        </p:spPr>
      </p:pic>
      <p:sp>
        <p:nvSpPr>
          <p:cNvPr id="6" name="Rectangle 5"/>
          <p:cNvSpPr/>
          <p:nvPr/>
        </p:nvSpPr>
        <p:spPr>
          <a:xfrm>
            <a:off x="548640" y="484632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Each map was made by sliding the named 3×3 kernel over the photo — Sobel-x (vertical edges), Sobel-y (horizontal edges), Laplacian (blobs/spots), box blur (smoothing). Stack many filters and one image becomes a multi-channel stack of pattern maps. A CNN LEARNS kernels like these in layer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CHANNELS · 2 OF 4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One filter reads ALL the input channels at once</a:t>
            </a:r>
          </a:p>
        </p:txBody>
      </p:sp>
      <p:pic>
        <p:nvPicPr>
          <p:cNvPr id="7" name="Picture 4" descr="fig_channels_in.png"/>
          <p:cNvPicPr>
            <a:picLocks noChangeAspect="1"/>
          </p:cNvPicPr>
          <p:nvPr/>
        </p:nvPicPr>
        <p:blipFill>
          <a:blip r:embed="rId3"/>
          <a:stretch>
            <a:fillRect/>
          </a:stretch>
        </p:blipFill>
        <p:spPr>
          <a:xfrm>
            <a:off x="2909459" y="1828800"/>
            <a:ext cx="6373080" cy="3108960"/>
          </a:xfrm>
          <a:prstGeom prst="rect">
            <a:avLst/>
          </a:prstGeom>
        </p:spPr>
      </p:pic>
      <p:sp>
        <p:nvSpPr>
          <p:cNvPr id="6" name="Rectangle 5"/>
          <p:cNvSpPr/>
          <p:nvPr/>
        </p:nvSpPr>
        <p:spPr>
          <a:xfrm>
            <a:off x="548640" y="5120640"/>
            <a:ext cx="10515600" cy="1444752"/>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A filter carries ONE SLICE PER INPUT CHANNEL — here 2×2×2 = 8 weights — and the per-channel sums ADD, so 2 channels in still means ONE map out. Your channels are co-recorded traces: 3 MRM transitions of one analyte share a retention-time axis → in_channels=3, one filter reading all three. A single spectrum is in_channels=1.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CHANNELS · 3 OF 4</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Many filters, many maps: c_in in, c_out out</a:t>
            </a:r>
          </a:p>
        </p:txBody>
      </p:sp>
      <p:pic>
        <p:nvPicPr>
          <p:cNvPr id="7" name="Picture 4" descr="fig_channels_out.png"/>
          <p:cNvPicPr>
            <a:picLocks noChangeAspect="1"/>
          </p:cNvPicPr>
          <p:nvPr/>
        </p:nvPicPr>
        <p:blipFill>
          <a:blip r:embed="rId3"/>
          <a:stretch>
            <a:fillRect/>
          </a:stretch>
        </p:blipFill>
        <p:spPr>
          <a:xfrm>
            <a:off x="2204836" y="1828800"/>
            <a:ext cx="7782296" cy="3154680"/>
          </a:xfrm>
          <a:prstGeom prst="rect">
            <a:avLst/>
          </a:prstGeom>
        </p:spPr>
      </p:pic>
      <p:sp>
        <p:nvSpPr>
          <p:cNvPr id="6" name="Rectangle 5"/>
          <p:cNvSpPr/>
          <p:nvPr/>
        </p:nvSpPr>
        <p:spPr>
          <a:xfrm>
            <a:off x="548640" y="5175504"/>
            <a:ext cx="10515600" cy="1389888"/>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Two rules, no more: a filter's DEPTH = c_in (one slice per input channel), and the NUMBER of filters = c_out (one map each). So the kernel tensor is c_out × c_in × k × k = 3×2×2×2 = 24 weights + 3 biases — and the next layer must declare in_channels = 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CHANNELS · 4 OF 4 · YOU-DO = Q5</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two channels in, one cell out</a:t>
            </a:r>
          </a:p>
        </p:txBody>
      </p:sp>
      <p:pic>
        <p:nvPicPr>
          <p:cNvPr id="7" name="Picture 4" descr="fig_channels_youdo.png"/>
          <p:cNvPicPr>
            <a:picLocks noChangeAspect="1"/>
          </p:cNvPicPr>
          <p:nvPr/>
        </p:nvPicPr>
        <p:blipFill>
          <a:blip r:embed="rId3"/>
          <a:stretch>
            <a:fillRect/>
          </a:stretch>
        </p:blipFill>
        <p:spPr>
          <a:xfrm>
            <a:off x="2966926" y="1828800"/>
            <a:ext cx="6258146" cy="3108960"/>
          </a:xfrm>
          <a:prstGeom prst="rect">
            <a:avLst/>
          </a:prstGeom>
        </p:spPr>
      </p:pic>
      <p:sp>
        <p:nvSpPr>
          <p:cNvPr id="6" name="Rectangle 5"/>
          <p:cNvSpPr/>
          <p:nvPr/>
        </p:nvSpPr>
        <p:spPr>
          <a:xfrm>
            <a:off x="548640" y="5138928"/>
            <a:ext cx="10515600" cy="1298448"/>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CHECKPOINT · </a:t>
            </a:r>
            <a:r>
              <a:rPr sz="1700" b="0" i="0" dirty="0">
                <a:solidFill>
                  <a:srgbClr val="3D444C"/>
                </a:solidFill>
                <a:latin typeface="Avenir Next"/>
              </a:rPr>
              <a:t>Your turn → Quiz 5, Q5. (a) Compute the highlighted output cell — one partial sum per channel, then add. (b) A layer with in_channels=2, five 3×3 filters: how many weights and biases, and what in_channels does the next layer need? (c) Three MRM transitions of one analyte — what is in_channels?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POOLING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Max pooling: keep each region's strongest response</a:t>
            </a:r>
          </a:p>
        </p:txBody>
      </p:sp>
      <p:pic>
        <p:nvPicPr>
          <p:cNvPr id="5" name="Picture 4" descr="fig_maxpool_ido.png"/>
          <p:cNvPicPr>
            <a:picLocks noChangeAspect="1"/>
          </p:cNvPicPr>
          <p:nvPr/>
        </p:nvPicPr>
        <p:blipFill>
          <a:blip r:embed="rId3"/>
          <a:stretch>
            <a:fillRect/>
          </a:stretch>
        </p:blipFill>
        <p:spPr>
          <a:xfrm>
            <a:off x="2230885" y="1828800"/>
            <a:ext cx="7699749" cy="3291840"/>
          </a:xfrm>
          <a:prstGeom prst="rect">
            <a:avLst/>
          </a:prstGeom>
        </p:spPr>
      </p:pic>
      <p:sp>
        <p:nvSpPr>
          <p:cNvPr id="6" name="Rectangle 5"/>
          <p:cNvSpPr/>
          <p:nvPr/>
        </p:nvSpPr>
        <p:spPr>
          <a:xfrm>
            <a:off x="548640" y="521208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Split a 4×4 map into 2×2 windows and keep each window's MAX: {3,1,0,2}→3, {2,4,5,1}→5, {6,0,2,4}→6, {1,3,2,0}→3, giving a 2×2 pooled map. Half the size, the 'strongest response' story intact — and a peak wobbling one bin over gives the same answer (Property 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POOLING · YOUR TURN (YOU-DO = Q2)</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max-pool this 4×4 map</a:t>
            </a:r>
          </a:p>
        </p:txBody>
      </p:sp>
      <p:pic>
        <p:nvPicPr>
          <p:cNvPr id="5" name="Picture 4" descr="fig_maxpool_youdo.png"/>
          <p:cNvPicPr>
            <a:picLocks noChangeAspect="1"/>
          </p:cNvPicPr>
          <p:nvPr/>
        </p:nvPicPr>
        <p:blipFill>
          <a:blip r:embed="rId3"/>
          <a:stretch>
            <a:fillRect/>
          </a:stretch>
        </p:blipFill>
        <p:spPr>
          <a:xfrm>
            <a:off x="2230885" y="1828800"/>
            <a:ext cx="7699749" cy="3291840"/>
          </a:xfrm>
          <a:prstGeom prst="rect">
            <a:avLst/>
          </a:prstGeom>
        </p:spPr>
      </p:pic>
      <p:sp>
        <p:nvSpPr>
          <p:cNvPr id="6" name="Rectangle 5"/>
          <p:cNvSpPr/>
          <p:nvPr/>
        </p:nvSpPr>
        <p:spPr>
          <a:xfrm>
            <a:off x="548640" y="5212080"/>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5, Q2. Max-pool the 4×4 map with 2×2 windows (stride 2) into a 2×2 map — keep each colour block's largest value. Worked answer in the notes.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CONVOLUTION BY HAND · ASSEMBLY</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whole CNN</a:t>
            </a:r>
          </a:p>
        </p:txBody>
      </p:sp>
      <p:sp>
        <p:nvSpPr>
          <p:cNvPr id="5" name="Rounded Rectangle 4"/>
          <p:cNvSpPr/>
          <p:nvPr/>
        </p:nvSpPr>
        <p:spPr>
          <a:xfrm>
            <a:off x="548640" y="2743200"/>
            <a:ext cx="1384662"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input</a:t>
            </a:r>
          </a:p>
          <a:p>
            <a:pPr algn="ctr"/>
            <a:r>
              <a:rPr sz="1200" b="0" i="0">
                <a:solidFill>
                  <a:srgbClr val="8A9099"/>
                </a:solidFill>
                <a:latin typeface="Avenir Next"/>
              </a:rPr>
              <a:t>spectrum / image</a:t>
            </a:r>
          </a:p>
        </p:txBody>
      </p:sp>
      <p:cxnSp>
        <p:nvCxnSpPr>
          <p:cNvPr id="6" name="Connector 5"/>
          <p:cNvCxnSpPr/>
          <p:nvPr/>
        </p:nvCxnSpPr>
        <p:spPr>
          <a:xfrm>
            <a:off x="1933302"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161902" y="2743200"/>
            <a:ext cx="1384662"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E7C7B"/>
                </a:solidFill>
                <a:latin typeface="Avenir Next"/>
              </a:rPr>
              <a:t>conv</a:t>
            </a:r>
          </a:p>
          <a:p>
            <a:pPr algn="ctr"/>
            <a:r>
              <a:rPr sz="1200" b="0" i="0">
                <a:solidFill>
                  <a:srgbClr val="8A9099"/>
                </a:solidFill>
                <a:latin typeface="Avenir Next"/>
              </a:rPr>
              <a:t>pattern maps</a:t>
            </a:r>
          </a:p>
        </p:txBody>
      </p:sp>
      <p:cxnSp>
        <p:nvCxnSpPr>
          <p:cNvPr id="8" name="Connector 7"/>
          <p:cNvCxnSpPr/>
          <p:nvPr/>
        </p:nvCxnSpPr>
        <p:spPr>
          <a:xfrm>
            <a:off x="3546564"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75164" y="2743200"/>
            <a:ext cx="1384662" cy="1371600"/>
          </a:xfrm>
          <a:prstGeom prst="roundRect">
            <a:avLst/>
          </a:prstGeom>
          <a:solidFill>
            <a:srgbClr val="FFFFFF"/>
          </a:solid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E09E2F"/>
                </a:solidFill>
                <a:latin typeface="Avenir Next"/>
              </a:rPr>
              <a:t>pool</a:t>
            </a:r>
          </a:p>
          <a:p>
            <a:pPr algn="ctr"/>
            <a:r>
              <a:rPr sz="1200" b="0" i="0">
                <a:solidFill>
                  <a:srgbClr val="8A9099"/>
                </a:solidFill>
                <a:latin typeface="Avenir Next"/>
              </a:rPr>
              <a:t>shrink</a:t>
            </a:r>
          </a:p>
        </p:txBody>
      </p:sp>
      <p:cxnSp>
        <p:nvCxnSpPr>
          <p:cNvPr id="10" name="Connector 9"/>
          <p:cNvCxnSpPr/>
          <p:nvPr/>
        </p:nvCxnSpPr>
        <p:spPr>
          <a:xfrm>
            <a:off x="5159826"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388426" y="2743200"/>
            <a:ext cx="1384662"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repeat ×N</a:t>
            </a:r>
          </a:p>
          <a:p>
            <a:pPr algn="ctr"/>
            <a:r>
              <a:rPr sz="1200" b="0" i="0">
                <a:solidFill>
                  <a:srgbClr val="8A9099"/>
                </a:solidFill>
                <a:latin typeface="Avenir Next"/>
              </a:rPr>
              <a:t>patterns of patterns</a:t>
            </a:r>
          </a:p>
        </p:txBody>
      </p:sp>
      <p:cxnSp>
        <p:nvCxnSpPr>
          <p:cNvPr id="12" name="Connector 11"/>
          <p:cNvCxnSpPr/>
          <p:nvPr/>
        </p:nvCxnSpPr>
        <p:spPr>
          <a:xfrm>
            <a:off x="6773088"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001688" y="2743200"/>
            <a:ext cx="1384662"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flatten</a:t>
            </a:r>
          </a:p>
          <a:p>
            <a:pPr algn="ctr"/>
            <a:r>
              <a:rPr sz="1200" b="0" i="0">
                <a:solidFill>
                  <a:srgbClr val="8A9099"/>
                </a:solidFill>
                <a:latin typeface="Avenir Next"/>
              </a:rPr>
              <a:t>to a vector</a:t>
            </a:r>
          </a:p>
        </p:txBody>
      </p:sp>
      <p:cxnSp>
        <p:nvCxnSpPr>
          <p:cNvPr id="14" name="Connector 13"/>
          <p:cNvCxnSpPr/>
          <p:nvPr/>
        </p:nvCxnSpPr>
        <p:spPr>
          <a:xfrm>
            <a:off x="838635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14950" y="2743200"/>
            <a:ext cx="1384662"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dense</a:t>
            </a:r>
          </a:p>
          <a:p>
            <a:pPr algn="ctr"/>
            <a:r>
              <a:rPr sz="1200" b="0" i="0">
                <a:solidFill>
                  <a:srgbClr val="8A9099"/>
                </a:solidFill>
                <a:latin typeface="Avenir Next"/>
              </a:rPr>
              <a:t>your Lec 1–3 net</a:t>
            </a:r>
          </a:p>
        </p:txBody>
      </p:sp>
      <p:cxnSp>
        <p:nvCxnSpPr>
          <p:cNvPr id="16" name="Connector 15"/>
          <p:cNvCxnSpPr/>
          <p:nvPr/>
        </p:nvCxnSpPr>
        <p:spPr>
          <a:xfrm>
            <a:off x="9999612"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28212" y="2743200"/>
            <a:ext cx="1384662" cy="1371600"/>
          </a:xfrm>
          <a:prstGeom prst="roundRect">
            <a:avLst/>
          </a:prstGeom>
          <a:solidFill>
            <a:srgbClr val="FFFFFF"/>
          </a:solidFill>
          <a:ln w="31750">
            <a:solidFill>
              <a:srgbClr val="C4534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C4534F"/>
                </a:solidFill>
                <a:latin typeface="Avenir Next"/>
              </a:rPr>
              <a:t>susceptible / resistant</a:t>
            </a:r>
          </a:p>
          <a:p>
            <a:pPr algn="ctr"/>
            <a:r>
              <a:rPr sz="1200" b="0" i="0">
                <a:solidFill>
                  <a:srgbClr val="8A9099"/>
                </a:solidFill>
                <a:latin typeface="Avenir Next"/>
              </a:rPr>
              <a:t>softmax</a:t>
            </a:r>
          </a:p>
        </p:txBody>
      </p:sp>
      <p:sp>
        <p:nvSpPr>
          <p:cNvPr id="18" name="Rectangle 17"/>
          <p:cNvSpPr/>
          <p:nvPr/>
        </p:nvSpPr>
        <p:spPr>
          <a:xfrm>
            <a:off x="548640" y="493776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Early layers find edges and peak shapes; deeper layers find patterns of patterns — the Lecture 1 hierarchy, now with a mechanism. Everything after 'flatten' is literally the MLP you trained in Lab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DEEPER · WHAT 'JUST STACK MORE' LOOKS LIKE</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Inside VGG: your grid tricks, stacked sixteen deep</a:t>
            </a:r>
          </a:p>
        </p:txBody>
      </p:sp>
      <p:pic>
        <p:nvPicPr>
          <p:cNvPr id="8" name="Picture 7" descr="Image Similarity Comparison using VGG16 Deep Learning Model ...">
            <a:extLst>
              <a:ext uri="{FF2B5EF4-FFF2-40B4-BE49-F238E27FC236}">
                <a16:creationId xmlns:a16="http://schemas.microsoft.com/office/drawing/2014/main" id="{494FDAD5-788A-A53F-ED62-E93DA2EF7959}"/>
              </a:ext>
            </a:extLst>
          </p:cNvPr>
          <p:cNvPicPr>
            <a:picLocks noChangeAspect="1"/>
          </p:cNvPicPr>
          <p:nvPr/>
        </p:nvPicPr>
        <p:blipFill>
          <a:blip r:embed="rId3"/>
          <a:stretch>
            <a:fillRect/>
          </a:stretch>
        </p:blipFill>
        <p:spPr>
          <a:xfrm>
            <a:off x="2417965" y="1901952"/>
            <a:ext cx="7355765" cy="468172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1D · SPECTRA</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same peak detector, everywhere on the m/z axis</a:t>
            </a:r>
          </a:p>
        </p:txBody>
      </p:sp>
      <p:pic>
        <p:nvPicPr>
          <p:cNvPr id="5" name="Picture 4" descr="fig_conv1d_spectrum.png"/>
          <p:cNvPicPr>
            <a:picLocks noChangeAspect="1"/>
          </p:cNvPicPr>
          <p:nvPr/>
        </p:nvPicPr>
        <p:blipFill>
          <a:blip r:embed="rId3"/>
          <a:stretch>
            <a:fillRect/>
          </a:stretch>
        </p:blipFill>
        <p:spPr>
          <a:xfrm>
            <a:off x="2696949" y="1828800"/>
            <a:ext cx="6767622"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Delete one dimension and the whole drill still holds: a short filter window slides along the spectrum, overlay-multiply-add at each position, and the feature map below lights up where the peak SHAPE is found. This is precisely the architecture of Lab 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1D · IN PYTORCH</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 already know every argument</a:t>
            </a:r>
          </a:p>
        </p:txBody>
      </p:sp>
      <p:pic>
        <p:nvPicPr>
          <p:cNvPr id="5" name="Picture 4" descr="fig_conv1d_code.png"/>
          <p:cNvPicPr>
            <a:picLocks noChangeAspect="1"/>
          </p:cNvPicPr>
          <p:nvPr/>
        </p:nvPicPr>
        <p:blipFill>
          <a:blip r:embed="rId3"/>
          <a:stretch>
            <a:fillRect/>
          </a:stretch>
        </p:blipFill>
        <p:spPr>
          <a:xfrm>
            <a:off x="1471041" y="1828800"/>
            <a:ext cx="9219438" cy="3383280"/>
          </a:xfrm>
          <a:prstGeom prst="rect">
            <a:avLst/>
          </a:prstGeom>
        </p:spPr>
      </p:pic>
      <p:sp>
        <p:nvSpPr>
          <p:cNvPr id="6" name="Rectangle 5"/>
          <p:cNvSpPr/>
          <p:nvPr/>
        </p:nvSpPr>
        <p:spPr>
          <a:xfrm>
            <a:off x="548640" y="530352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Every argument is a dial you just turned by hand: in/out channels = how many maps, kernel_size = window k, stride, padding. Check the length with the formula — (6000 − 15 + 2·7)/1 + 1 = 6000 ✓ — so MaxPool1d(2) then halves it to 3000.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1D · YOUR DATA · 💬 PAIR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Which of your data would a CNN read?</a:t>
            </a:r>
          </a:p>
        </p:txBody>
      </p:sp>
      <p:sp>
        <p:nvSpPr>
          <p:cNvPr id="5" name="TextBox 4"/>
          <p:cNvSpPr txBox="1"/>
          <p:nvPr/>
        </p:nvSpPr>
        <p:spPr>
          <a:xfrm>
            <a:off x="548640" y="2011680"/>
            <a:ext cx="5394960" cy="3657600"/>
          </a:xfrm>
          <a:prstGeom prst="rect">
            <a:avLst/>
          </a:prstGeom>
          <a:noFill/>
        </p:spPr>
        <p:txBody>
          <a:bodyPr wrap="square" anchor="t">
            <a:spAutoFit/>
          </a:bodyPr>
          <a:lstStyle/>
          <a:p>
            <a:pPr>
              <a:spcAft>
                <a:spcPts val="1200"/>
              </a:spcAft>
            </a:pPr>
            <a:r>
              <a:rPr sz="2200" b="0" i="0">
                <a:solidFill>
                  <a:srgbClr val="1B2025"/>
                </a:solidFill>
                <a:latin typeface="Avenir Next"/>
              </a:rPr>
              <a:t>1D convolutions: MALDI-TOF and full-scan spectra · chromatograms and EICs · QC drift traces across runs.</a:t>
            </a:r>
          </a:p>
          <a:p>
            <a:pPr>
              <a:spcAft>
                <a:spcPts val="1200"/>
              </a:spcAft>
            </a:pPr>
            <a:r>
              <a:rPr sz="2200" b="0" i="0">
                <a:solidFill>
                  <a:srgbClr val="1B2025"/>
                </a:solidFill>
                <a:latin typeface="Avenir Next"/>
              </a:rPr>
              <a:t>2D convolutions: MS imaging (each pixel a spectrum) · gels, plates, slide scans · LC×MS heatmaps (RT × m/z).</a:t>
            </a:r>
          </a:p>
        </p:txBody>
      </p:sp>
      <p:sp>
        <p:nvSpPr>
          <p:cNvPr id="6" name="TextBox 5"/>
          <p:cNvSpPr txBox="1"/>
          <p:nvPr/>
        </p:nvSpPr>
        <p:spPr>
          <a:xfrm>
            <a:off x="6309360" y="2011680"/>
            <a:ext cx="5394960" cy="3657600"/>
          </a:xfrm>
          <a:prstGeom prst="rect">
            <a:avLst/>
          </a:prstGeom>
          <a:noFill/>
        </p:spPr>
        <p:txBody>
          <a:bodyPr wrap="square" anchor="t">
            <a:spAutoFit/>
          </a:bodyPr>
          <a:lstStyle/>
          <a:p>
            <a:endParaRPr/>
          </a:p>
        </p:txBody>
      </p:sp>
      <p:sp>
        <p:nvSpPr>
          <p:cNvPr id="7" name="Rectangle 6"/>
          <p:cNvSpPr/>
          <p:nvPr/>
        </p:nvSpPr>
        <p:spPr>
          <a:xfrm>
            <a:off x="6309360" y="5394960"/>
            <a:ext cx="539496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 Two minutes: name one signal in YOUR workflow a 1D CNN could read — and one that is really 2D. Shout out the best ones.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DEEPER · A 20-YEAR STORY IN ONE ROW</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Deeper kept winning — until it didn't</a:t>
            </a:r>
          </a:p>
        </p:txBody>
      </p:sp>
      <p:sp>
        <p:nvSpPr>
          <p:cNvPr id="5" name="Rounded Rectangle 4"/>
          <p:cNvSpPr/>
          <p:nvPr/>
        </p:nvSpPr>
        <p:spPr>
          <a:xfrm>
            <a:off x="548640" y="2743200"/>
            <a:ext cx="2594610"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LeNet</a:t>
            </a:r>
          </a:p>
          <a:p>
            <a:pPr algn="ctr"/>
            <a:r>
              <a:rPr sz="1200" b="0" i="0">
                <a:solidFill>
                  <a:srgbClr val="8A9099"/>
                </a:solidFill>
                <a:latin typeface="Avenir Next"/>
              </a:rPr>
              <a:t>1998 · 5 layers · reads checks</a:t>
            </a:r>
          </a:p>
        </p:txBody>
      </p:sp>
      <p:cxnSp>
        <p:nvCxnSpPr>
          <p:cNvPr id="6" name="Connector 5"/>
          <p:cNvCxnSpPr/>
          <p:nvPr/>
        </p:nvCxnSpPr>
        <p:spPr>
          <a:xfrm>
            <a:off x="314325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1850" y="2743200"/>
            <a:ext cx="259461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E7C7B"/>
                </a:solidFill>
                <a:latin typeface="Avenir Next"/>
              </a:rPr>
              <a:t>AlexNet</a:t>
            </a:r>
          </a:p>
          <a:p>
            <a:pPr algn="ctr"/>
            <a:r>
              <a:rPr sz="1200" b="0" i="0">
                <a:solidFill>
                  <a:srgbClr val="8A9099"/>
                </a:solidFill>
                <a:latin typeface="Avenir Next"/>
              </a:rPr>
              <a:t>2012 · 8 layers · ImageNet moment</a:t>
            </a:r>
          </a:p>
        </p:txBody>
      </p:sp>
      <p:cxnSp>
        <p:nvCxnSpPr>
          <p:cNvPr id="8" name="Connector 7"/>
          <p:cNvCxnSpPr/>
          <p:nvPr/>
        </p:nvCxnSpPr>
        <p:spPr>
          <a:xfrm>
            <a:off x="596646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95060" y="2743200"/>
            <a:ext cx="259461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E7C7B"/>
                </a:solidFill>
                <a:latin typeface="Avenir Next"/>
              </a:rPr>
              <a:t>VGG</a:t>
            </a:r>
          </a:p>
          <a:p>
            <a:pPr algn="ctr"/>
            <a:r>
              <a:rPr sz="1200" b="0" i="0">
                <a:solidFill>
                  <a:srgbClr val="8A9099"/>
                </a:solidFill>
                <a:latin typeface="Avenir Next"/>
              </a:rPr>
              <a:t>2014 · 19 layers · just stack more?</a:t>
            </a:r>
          </a:p>
        </p:txBody>
      </p:sp>
      <p:cxnSp>
        <p:nvCxnSpPr>
          <p:cNvPr id="10" name="Connector 9"/>
          <p:cNvCxnSpPr/>
          <p:nvPr/>
        </p:nvCxnSpPr>
        <p:spPr>
          <a:xfrm>
            <a:off x="878967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18270" y="2743200"/>
            <a:ext cx="2594610" cy="1371600"/>
          </a:xfrm>
          <a:prstGeom prst="roundRect">
            <a:avLst/>
          </a:prstGeom>
          <a:solidFill>
            <a:srgbClr val="FFFFFF"/>
          </a:solidFill>
          <a:ln w="31750">
            <a:solidFill>
              <a:srgbClr val="C4534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C4534F"/>
                </a:solidFill>
                <a:latin typeface="Avenir Next"/>
              </a:rPr>
              <a:t>…then deeper got WORSE</a:t>
            </a:r>
          </a:p>
          <a:p>
            <a:pPr algn="ctr"/>
            <a:r>
              <a:rPr sz="1200" b="0" i="0">
                <a:solidFill>
                  <a:srgbClr val="8A9099"/>
                </a:solidFill>
                <a:latin typeface="Avenir Next"/>
              </a:rPr>
              <a:t>even on training data</a:t>
            </a:r>
          </a:p>
        </p:txBody>
      </p:sp>
      <p:sp>
        <p:nvSpPr>
          <p:cNvPr id="12" name="Rectangle 11"/>
          <p:cNvSpPr/>
          <p:nvPr/>
        </p:nvSpPr>
        <p:spPr>
          <a:xfrm>
            <a:off x="548640" y="493776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2012's AlexNet halving the ImageNet error overnight is why this whole field exists. So people stacked deeper — VGG, 19 layers. But past ~20 layers, adding depth started HURTING, even on the training set. Why? (You already know — Lecture 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DEEPER · THE FIX · CALLBACK TO LECTURE 4</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ResNet: give the gradient a highway</a:t>
            </a:r>
          </a:p>
        </p:txBody>
      </p:sp>
      <p:pic>
        <p:nvPicPr>
          <p:cNvPr id="5" name="Picture 4" descr="resnet_block.png"/>
          <p:cNvPicPr>
            <a:picLocks noChangeAspect="1"/>
          </p:cNvPicPr>
          <p:nvPr/>
        </p:nvPicPr>
        <p:blipFill>
          <a:blip r:embed="rId3"/>
          <a:stretch>
            <a:fillRect/>
          </a:stretch>
        </p:blipFill>
        <p:spPr>
          <a:xfrm>
            <a:off x="2443965" y="1965960"/>
            <a:ext cx="1604310" cy="2926080"/>
          </a:xfrm>
          <a:prstGeom prst="rect">
            <a:avLst/>
          </a:prstGeom>
        </p:spPr>
      </p:pic>
      <p:sp>
        <p:nvSpPr>
          <p:cNvPr id="6" name="TextBox 5"/>
          <p:cNvSpPr txBox="1"/>
          <p:nvPr/>
        </p:nvSpPr>
        <p:spPr>
          <a:xfrm>
            <a:off x="548640" y="4946904"/>
            <a:ext cx="5394960" cy="411480"/>
          </a:xfrm>
          <a:prstGeom prst="rect">
            <a:avLst/>
          </a:prstGeom>
          <a:noFill/>
        </p:spPr>
        <p:txBody>
          <a:bodyPr wrap="square" anchor="t">
            <a:spAutoFit/>
          </a:bodyPr>
          <a:lstStyle/>
          <a:p>
            <a:pPr algn="ctr"/>
            <a:r>
              <a:rPr sz="1200" b="0" i="1">
                <a:solidFill>
                  <a:srgbClr val="8A9099"/>
                </a:solidFill>
                <a:latin typeface="Avenir Next"/>
              </a:rPr>
              <a:t>residual block · Zhang, Lipton, Li &amp; Smola (d2l.ai), Wikimedia Commons, CC BY-SA 4.0</a:t>
            </a:r>
          </a:p>
        </p:txBody>
      </p:sp>
      <p:sp>
        <p:nvSpPr>
          <p:cNvPr id="7" name="TextBox 6"/>
          <p:cNvSpPr txBox="1"/>
          <p:nvPr/>
        </p:nvSpPr>
        <p:spPr>
          <a:xfrm>
            <a:off x="6309360" y="2011680"/>
            <a:ext cx="5394960" cy="3328416"/>
          </a:xfrm>
          <a:prstGeom prst="rect">
            <a:avLst/>
          </a:prstGeom>
          <a:noFill/>
        </p:spPr>
        <p:txBody>
          <a:bodyPr wrap="square" anchor="t">
            <a:spAutoFit/>
          </a:bodyPr>
          <a:lstStyle/>
          <a:p>
            <a:pPr>
              <a:spcAft>
                <a:spcPts val="1200"/>
              </a:spcAft>
            </a:pPr>
            <a:r>
              <a:rPr sz="1900" b="0" i="0">
                <a:solidFill>
                  <a:srgbClr val="1B2025"/>
                </a:solidFill>
                <a:latin typeface="Avenir Next"/>
              </a:rPr>
              <a:t>The skip connection lets the input x ride AROUND the block and add back in at the '+'.</a:t>
            </a:r>
          </a:p>
          <a:p>
            <a:pPr>
              <a:spcAft>
                <a:spcPts val="1200"/>
              </a:spcAft>
            </a:pPr>
            <a:r>
              <a:rPr sz="1900" b="0" i="0">
                <a:solidFill>
                  <a:srgbClr val="1B2025"/>
                </a:solidFill>
                <a:latin typeface="Avenir Next"/>
              </a:rPr>
              <a:t>So the gradient has a highway straight back through the net — no more vanishing whisper (Lecture 4).</a:t>
            </a:r>
          </a:p>
          <a:p>
            <a:pPr>
              <a:spcAft>
                <a:spcPts val="1200"/>
              </a:spcAft>
            </a:pPr>
            <a:r>
              <a:rPr sz="1900" b="0" i="0">
                <a:solidFill>
                  <a:srgbClr val="1B2025"/>
                </a:solidFill>
                <a:latin typeface="Avenir Next"/>
              </a:rPr>
              <a:t>Each block only learns a small correction to what already flows through.</a:t>
            </a:r>
          </a:p>
        </p:txBody>
      </p:sp>
      <p:sp>
        <p:nvSpPr>
          <p:cNvPr id="8" name="Rectangle 7"/>
          <p:cNvSpPr/>
          <p:nvPr/>
        </p:nvSpPr>
        <p:spPr>
          <a:xfrm>
            <a:off x="6309360" y="5394960"/>
            <a:ext cx="539496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1D ResNets are now the standard workhorse for spectra — including the MALDI-TOF resistance models this course builds 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5 · PART FOUR</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dirty="0">
                <a:solidFill>
                  <a:srgbClr val="1B2025"/>
                </a:solidFill>
                <a:latin typeface="Avenir Next"/>
              </a:rPr>
              <a:t>Where, not just what</a:t>
            </a:r>
          </a:p>
          <a:p>
            <a:pPr>
              <a:spcBef>
                <a:spcPts val="1600"/>
              </a:spcBef>
            </a:pPr>
            <a:r>
              <a:rPr sz="2200" b="0" i="0" dirty="0">
                <a:solidFill>
                  <a:srgbClr val="0E7C7B"/>
                </a:solidFill>
                <a:latin typeface="Avenir Next"/>
              </a:rPr>
              <a:t>object detection — and why it's secretly peak picking</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DETECTION · THE IDEA</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Object detection = boxes + confidence scores</a:t>
            </a:r>
          </a:p>
        </p:txBody>
      </p:sp>
      <p:pic>
        <p:nvPicPr>
          <p:cNvPr id="5" name="Picture 4" descr="fig_detection_grid.png"/>
          <p:cNvPicPr>
            <a:picLocks noChangeAspect="1"/>
          </p:cNvPicPr>
          <p:nvPr/>
        </p:nvPicPr>
        <p:blipFill>
          <a:blip r:embed="rId3"/>
          <a:stretch>
            <a:fillRect/>
          </a:stretch>
        </p:blipFill>
        <p:spPr>
          <a:xfrm>
            <a:off x="3429372" y="1828800"/>
            <a:ext cx="5302775" cy="3566160"/>
          </a:xfrm>
          <a:prstGeom prst="rect">
            <a:avLst/>
          </a:prstGeom>
        </p:spPr>
      </p:pic>
      <p:sp>
        <p:nvSpPr>
          <p:cNvPr id="6" name="Rectangle 5"/>
          <p:cNvSpPr/>
          <p:nvPr/>
        </p:nvSpPr>
        <p:spPr>
          <a:xfrm>
            <a:off x="548640" y="548640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 CNN backbone is the one you just built. Only the last layers change: instead of one label for the whole image, predict a BOX (where) and a SCORE (how sure) for each object — in one pass (the YOLO idea). Faster R-CNN is the 'propose, then verify' cousin.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E6EA-5EEB-E414-7FF0-D674828858D8}"/>
              </a:ext>
            </a:extLst>
          </p:cNvPr>
          <p:cNvSpPr>
            <a:spLocks noGrp="1"/>
          </p:cNvSpPr>
          <p:nvPr>
            <p:ph type="title"/>
          </p:nvPr>
        </p:nvSpPr>
        <p:spPr/>
        <p:txBody>
          <a:bodyPr/>
          <a:lstStyle/>
          <a:p>
            <a:r>
              <a:rPr lang="en-US" dirty="0"/>
              <a:t>YOLOv7 Overview</a:t>
            </a:r>
          </a:p>
        </p:txBody>
      </p:sp>
      <p:pic>
        <p:nvPicPr>
          <p:cNvPr id="5" name="Content Placeholder 4">
            <a:extLst>
              <a:ext uri="{FF2B5EF4-FFF2-40B4-BE49-F238E27FC236}">
                <a16:creationId xmlns:a16="http://schemas.microsoft.com/office/drawing/2014/main" id="{8FCE7F4E-767D-2B37-D043-317C1388DE2D}"/>
              </a:ext>
            </a:extLst>
          </p:cNvPr>
          <p:cNvPicPr>
            <a:picLocks noGrp="1" noChangeAspect="1"/>
          </p:cNvPicPr>
          <p:nvPr>
            <p:ph idx="1"/>
          </p:nvPr>
        </p:nvPicPr>
        <p:blipFill>
          <a:blip r:embed="rId2"/>
          <a:stretch>
            <a:fillRect/>
          </a:stretch>
        </p:blipFill>
        <p:spPr>
          <a:xfrm>
            <a:off x="937789" y="1234439"/>
            <a:ext cx="9927435" cy="5321105"/>
          </a:xfrm>
          <a:prstGeom prst="rect">
            <a:avLst/>
          </a:prstGeom>
        </p:spPr>
      </p:pic>
      <p:sp>
        <p:nvSpPr>
          <p:cNvPr id="4" name="Text Placeholder 3">
            <a:extLst>
              <a:ext uri="{FF2B5EF4-FFF2-40B4-BE49-F238E27FC236}">
                <a16:creationId xmlns:a16="http://schemas.microsoft.com/office/drawing/2014/main" id="{2412B4B7-0C72-358D-8B1F-D7719321279E}"/>
              </a:ext>
            </a:extLst>
          </p:cNvPr>
          <p:cNvSpPr>
            <a:spLocks noGrp="1"/>
          </p:cNvSpPr>
          <p:nvPr>
            <p:ph type="body" sz="quarter" idx="13"/>
          </p:nvPr>
        </p:nvSpPr>
        <p:spPr/>
        <p:txBody>
          <a:bodyPr/>
          <a:lstStyle/>
          <a:p>
            <a:r>
              <a:rPr sz="1300" b="1" i="0">
                <a:solidFill>
                  <a:srgbClr val="8A9099"/>
                </a:solidFill>
                <a:latin typeface="Menlo"/>
              </a:rPr>
              <a:t>DETECTION · YOLOV7</a:t>
            </a:r>
          </a:p>
        </p:txBody>
      </p:sp>
    </p:spTree>
    <p:extLst>
      <p:ext uri="{BB962C8B-B14F-4D97-AF65-F5344CB8AC3E}">
        <p14:creationId xmlns:p14="http://schemas.microsoft.com/office/powerpoint/2010/main" val="4266597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DETECTION · YOUR VERSION OF IT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 chromatogram is an image whose objects are peaks</a:t>
            </a:r>
          </a:p>
        </p:txBody>
      </p:sp>
      <p:pic>
        <p:nvPicPr>
          <p:cNvPr id="5" name="Picture 4" descr="fig_peak_detection.png"/>
          <p:cNvPicPr>
            <a:picLocks noChangeAspect="1"/>
          </p:cNvPicPr>
          <p:nvPr/>
        </p:nvPicPr>
        <p:blipFill>
          <a:blip r:embed="rId3"/>
          <a:stretch>
            <a:fillRect/>
          </a:stretch>
        </p:blipFill>
        <p:spPr>
          <a:xfrm>
            <a:off x="2177345" y="1828800"/>
            <a:ext cx="7806830" cy="3566160"/>
          </a:xfrm>
          <a:prstGeom prst="rect">
            <a:avLst/>
          </a:prstGeom>
        </p:spPr>
      </p:pic>
      <p:sp>
        <p:nvSpPr>
          <p:cNvPr id="6" name="Rectangle 5"/>
          <p:cNvSpPr/>
          <p:nvPr/>
        </p:nvSpPr>
        <p:spPr>
          <a:xfrm>
            <a:off x="548640" y="5486400"/>
            <a:ext cx="10515600" cy="92354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Every element maps: object → a peak · bounding box → the retention-time integration window · score → how sure it's a real peak. The manual step your lab calls 'peak review' is, to a CNN, a detection problem it already knows how to solve.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DETECTION · YOUR TURN (YOU-DO = Q4)</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Read the detector's calls — which do you trust?</a:t>
            </a:r>
          </a:p>
        </p:txBody>
      </p:sp>
      <p:pic>
        <p:nvPicPr>
          <p:cNvPr id="5" name="Picture 4" descr="fig_peak_detection_youdo.png"/>
          <p:cNvPicPr>
            <a:picLocks noChangeAspect="1"/>
          </p:cNvPicPr>
          <p:nvPr/>
        </p:nvPicPr>
        <p:blipFill>
          <a:blip r:embed="rId3"/>
          <a:stretch>
            <a:fillRect/>
          </a:stretch>
        </p:blipFill>
        <p:spPr>
          <a:xfrm>
            <a:off x="2177345" y="1828800"/>
            <a:ext cx="7806830" cy="3566160"/>
          </a:xfrm>
          <a:prstGeom prst="rect">
            <a:avLst/>
          </a:prstGeom>
        </p:spPr>
      </p:pic>
      <p:sp>
        <p:nvSpPr>
          <p:cNvPr id="6" name="Rectangle 5"/>
          <p:cNvSpPr/>
          <p:nvPr/>
        </p:nvSpPr>
        <p:spPr>
          <a:xfrm>
            <a:off x="548640" y="5486400"/>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5, Q4. The detector boxed two candidates: a sharp peak at score 0.95 and a small shoulder at 0.30. (a) Which do you integrate, and what does the 0.30 tell you? (b) Which peaks survive a 0.5 threshold? A 0.2 threshold? (c) What does lowering the threshold trade off? Worked answer in the notes.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DETECTION · A REAL SYSTEM</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PeakOnly (2020): CNNs doing peak review for real</a:t>
            </a:r>
          </a:p>
        </p:txBody>
      </p:sp>
      <p:sp>
        <p:nvSpPr>
          <p:cNvPr id="5" name="Rounded Rectangle 4"/>
          <p:cNvSpPr/>
          <p:nvPr/>
        </p:nvSpPr>
        <p:spPr>
          <a:xfrm>
            <a:off x="548640" y="2743200"/>
            <a:ext cx="2594610"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ROI</a:t>
            </a:r>
          </a:p>
          <a:p>
            <a:pPr algn="ctr"/>
            <a:r>
              <a:rPr sz="1200" b="0" i="0">
                <a:solidFill>
                  <a:srgbClr val="8A9099"/>
                </a:solidFill>
                <a:latin typeface="Avenir Next"/>
              </a:rPr>
              <a:t>candidate window from raw LC-MS</a:t>
            </a:r>
          </a:p>
        </p:txBody>
      </p:sp>
      <p:cxnSp>
        <p:nvCxnSpPr>
          <p:cNvPr id="6" name="Connector 5"/>
          <p:cNvCxnSpPr/>
          <p:nvPr/>
        </p:nvCxnSpPr>
        <p:spPr>
          <a:xfrm>
            <a:off x="314325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1850" y="2743200"/>
            <a:ext cx="259461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E7C7B"/>
                </a:solidFill>
                <a:latin typeface="Avenir Next"/>
              </a:rPr>
              <a:t>CNN #1</a:t>
            </a:r>
          </a:p>
          <a:p>
            <a:pPr algn="ctr"/>
            <a:r>
              <a:rPr sz="1200" b="0" i="0">
                <a:solidFill>
                  <a:srgbClr val="8A9099"/>
                </a:solidFill>
                <a:latin typeface="Avenir Next"/>
              </a:rPr>
              <a:t>peak or noise?</a:t>
            </a:r>
          </a:p>
        </p:txBody>
      </p:sp>
      <p:cxnSp>
        <p:nvCxnSpPr>
          <p:cNvPr id="8" name="Connector 7"/>
          <p:cNvCxnSpPr/>
          <p:nvPr/>
        </p:nvCxnSpPr>
        <p:spPr>
          <a:xfrm>
            <a:off x="596646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95060" y="2743200"/>
            <a:ext cx="259461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E7C7B"/>
                </a:solidFill>
                <a:latin typeface="Avenir Next"/>
              </a:rPr>
              <a:t>CNN #2</a:t>
            </a:r>
          </a:p>
          <a:p>
            <a:pPr algn="ctr"/>
            <a:r>
              <a:rPr sz="1200" b="0" i="0">
                <a:solidFill>
                  <a:srgbClr val="8A9099"/>
                </a:solidFill>
                <a:latin typeface="Avenir Next"/>
              </a:rPr>
              <a:t>where are the boundaries?</a:t>
            </a:r>
          </a:p>
        </p:txBody>
      </p:sp>
      <p:cxnSp>
        <p:nvCxnSpPr>
          <p:cNvPr id="10" name="Connector 9"/>
          <p:cNvCxnSpPr/>
          <p:nvPr/>
        </p:nvCxnSpPr>
        <p:spPr>
          <a:xfrm>
            <a:off x="878967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18270" y="2743200"/>
            <a:ext cx="2594610" cy="1371600"/>
          </a:xfrm>
          <a:prstGeom prst="roundRect">
            <a:avLst/>
          </a:prstGeom>
          <a:solidFill>
            <a:srgbClr val="FFFFFF"/>
          </a:solid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E09E2F"/>
                </a:solidFill>
                <a:latin typeface="Avenir Next"/>
              </a:rPr>
              <a:t>integrate</a:t>
            </a:r>
          </a:p>
          <a:p>
            <a:pPr algn="ctr"/>
            <a:r>
              <a:rPr sz="1200" b="0" i="0">
                <a:solidFill>
                  <a:srgbClr val="8A9099"/>
                </a:solidFill>
                <a:latin typeface="Avenir Next"/>
              </a:rPr>
              <a:t>area, reported</a:t>
            </a:r>
          </a:p>
        </p:txBody>
      </p:sp>
      <p:sp>
        <p:nvSpPr>
          <p:cNvPr id="12" name="Rectangle 11"/>
          <p:cNvSpPr/>
          <p:nvPr/>
        </p:nvSpPr>
        <p:spPr>
          <a:xfrm>
            <a:off x="548640" y="4937760"/>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Trained on 5,365 hand-annotated windows, it approached expert-level manual curation — box (boundaries) and score (peak or noise) exactly as we just framed it. You train on this exact dataset in the capstone's peak-QC track.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5 · OVER TO YOUR LAB</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Next hour — Lab 2</a:t>
            </a:r>
          </a:p>
        </p:txBody>
      </p:sp>
      <p:sp>
        <p:nvSpPr>
          <p:cNvPr id="5" name="TextBox 4"/>
          <p:cNvSpPr txBox="1"/>
          <p:nvPr/>
        </p:nvSpPr>
        <p:spPr>
          <a:xfrm>
            <a:off x="548640" y="1920240"/>
            <a:ext cx="10789920" cy="3459480"/>
          </a:xfrm>
          <a:prstGeom prst="rect">
            <a:avLst/>
          </a:prstGeom>
          <a:noFill/>
        </p:spPr>
        <p:txBody>
          <a:bodyPr wrap="square" anchor="t">
            <a:spAutoFit/>
          </a:bodyPr>
          <a:lstStyle/>
          <a:p>
            <a:pPr>
              <a:spcAft>
                <a:spcPts val="1800"/>
              </a:spcAft>
            </a:pPr>
            <a:r>
              <a:rPr sz="2300" b="1" i="0">
                <a:solidFill>
                  <a:srgbClr val="0E7C7B"/>
                </a:solidFill>
                <a:latin typeface="Avenir Next"/>
              </a:rPr>
              <a:t>•  </a:t>
            </a:r>
            <a:r>
              <a:rPr sz="2300" b="0" i="0">
                <a:solidFill>
                  <a:srgbClr val="1B2025"/>
                </a:solidFill>
                <a:latin typeface="Avenir Next"/>
              </a:rPr>
              <a:t>Build a 1D CNN on ~3,000 real clinical MALDI-TOF spectra (DRIAMS)</a:t>
            </a:r>
          </a:p>
          <a:p>
            <a:pPr>
              <a:spcAft>
                <a:spcPts val="1800"/>
              </a:spcAft>
            </a:pPr>
            <a:r>
              <a:rPr sz="2300" b="1" i="0">
                <a:solidFill>
                  <a:srgbClr val="0E7C7B"/>
                </a:solidFill>
                <a:latin typeface="Avenir Next"/>
              </a:rPr>
              <a:t>•  </a:t>
            </a:r>
            <a:r>
              <a:rPr sz="2300" b="0" i="0">
                <a:solidFill>
                  <a:srgbClr val="1B2025"/>
                </a:solidFill>
                <a:latin typeface="Avenir Next"/>
              </a:rPr>
              <a:t>Beat your own Lab-1 MLP at calling MRSA — the teachable moment</a:t>
            </a:r>
          </a:p>
          <a:p>
            <a:pPr>
              <a:spcAft>
                <a:spcPts val="1800"/>
              </a:spcAft>
            </a:pPr>
            <a:r>
              <a:rPr sz="2300" b="1" i="0">
                <a:solidFill>
                  <a:srgbClr val="0E7C7B"/>
                </a:solidFill>
                <a:latin typeface="Avenir Next"/>
              </a:rPr>
              <a:t>•  </a:t>
            </a:r>
            <a:r>
              <a:rPr sz="2300" b="0" i="0">
                <a:solidFill>
                  <a:srgbClr val="1B2025"/>
                </a:solidFill>
                <a:latin typeface="Avenir Next"/>
              </a:rPr>
              <a:t>Fill in the Conv1d arguments and choose a kernel size with today's formula</a:t>
            </a:r>
          </a:p>
          <a:p>
            <a:pPr>
              <a:spcAft>
                <a:spcPts val="1800"/>
              </a:spcAft>
            </a:pPr>
            <a:r>
              <a:rPr sz="2300" b="1" i="0">
                <a:solidFill>
                  <a:srgbClr val="0E7C7B"/>
                </a:solidFill>
                <a:latin typeface="Avenir Next"/>
              </a:rPr>
              <a:t>•  </a:t>
            </a:r>
            <a:r>
              <a:rPr sz="2300" b="0" i="0">
                <a:solidFill>
                  <a:srgbClr val="1B2025"/>
                </a:solidFill>
                <a:latin typeface="Avenir Next"/>
              </a:rPr>
              <a:t>Add augmentation and run a small hyperparameter search (Lecture 4's knobs)</a:t>
            </a:r>
          </a:p>
        </p:txBody>
      </p:sp>
      <p:sp>
        <p:nvSpPr>
          <p:cNvPr id="6" name="Rectangle 5"/>
          <p:cNvSpPr/>
          <p:nvPr/>
        </p:nvSpPr>
        <p:spPr>
          <a:xfrm>
            <a:off x="548640" y="551688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4 minutes to finish Quiz 5 solo while Colab boots → we mark it together as Lab 2 opens. The first notebook blank is a Conv1d whose kernel size you choose with exactly this arithmetic.</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839</TotalTime>
  <Words>7163</Words>
  <Application>Microsoft Macintosh PowerPoint</Application>
  <PresentationFormat>Widescreen</PresentationFormat>
  <Paragraphs>206</Paragraphs>
  <Slides>36</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Avenir Next</vt:lpstr>
      <vt:lpstr>Calibri</vt:lpstr>
      <vt:lpstr>Menlo</vt:lpstr>
      <vt:lpstr>Times New Roman</vt:lpstr>
      <vt:lpstr>MSACL DS301</vt:lpstr>
      <vt:lpstr>PowerPoint Presentation</vt:lpstr>
      <vt:lpstr>PowerPoint Presentation</vt:lpstr>
      <vt:lpstr>PowerPoint Presentation</vt:lpstr>
      <vt:lpstr>PowerPoint Presentation</vt:lpstr>
      <vt:lpstr>PowerPoint Presentation</vt:lpstr>
      <vt:lpstr>PowerPoint Presentation</vt:lpstr>
      <vt:lpstr>CNN General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YOLOv7 Overview</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 Convolutional Neural Networks</dc:title>
  <dc:subject/>
  <dc:creator/>
  <cp:keywords/>
  <dc:description>generated using python-pptx</dc:description>
  <cp:lastModifiedBy>Song, Lixing</cp:lastModifiedBy>
  <cp:revision>13</cp:revision>
  <dcterms:created xsi:type="dcterms:W3CDTF">2013-01-27T09:14:16Z</dcterms:created>
  <dcterms:modified xsi:type="dcterms:W3CDTF">2026-09-28T20:11:04Z</dcterms:modified>
  <cp:category/>
</cp:coreProperties>
</file>
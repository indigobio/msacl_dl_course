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Tuesday morning, Segment 5, the frontier hour. Two jobs today. First, DEMYSTIFY large language models entirely in pictures: they are next-token predictors, trained in three stages (pretraining → supervised fine-tuning → preference tuning/RLHF), and their headline failure mode — hallucination — is something we DESIGN AROUND. To make "next-token prediction" concrete we do one light numeric beat: a softmax over three candidate-token logits (this hour's only arithmetic, a reuse of Lecture 4/7's softmax). Second, the LANDSCAPE TOUR: five landmark tools from our own field, each in the same frame — problem → the architecture you now know (a callback to Lectures 5–11) → impact. Along the way we touch base on reinforcement learning (agent–environment–reward in one diagram, AlphaGo in one slide) because RLHF is just "RL where the reward comes from human preferences," and we cover how to USE an LLM without training one (prompting vs RAG vs fine-tuning). Same interactive spine as every lecture: four I-do → you-do pairs, each you-do pointing to one Quiz 13 item. Hand out Quiz 13 now, blank — the room fills it across the hour. The four items: Q1 match tool→problem→architecture, Q2 label agent/action/reward, Q3 prompting vs RAG vs fine-tuning, Q4 where could it hallucinate + the guardrail. Lecture 14 (agentic AI) calls straight back to today's RL and prompting.</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The only arithmetic all hour is one softmax (the do-it-together in the first stop), so reassure the room early. The heart of the hour is the last stop — the landscape tour — where everything from Lectures 5–11 comes home: a transformer that translates a spectrum into a peptide, a 1D CNN that calls antibiotic resistance, attention that folds a protein. Aim for a hands-on beat every ~8–10 minutes: the softmax do-it-together, then the four you-dos (hallucination guardrail → Q4, RL labels → Q2, prompting/RAG/fine-tuning → Q3, the tool match → Q1). Keep the RL and "using an LLM" stops brisk — they are context and vocabulary, not the destination.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whole thing in one picture. A large language model is a next-token predictor: feed it the sequence of tokens so far (words, or here amino acids), and it returns a probability distribution over the entire vocabulary for what comes next; pick a token, append it, and repeat — that loop is how it writes a sentence or, for a protein language model, extends a peptide. The bars show the model favoring K (0.55) over R, G, and the long tail. Nothing here is magic — it is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corpus.)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hour's one numeric beat (rule 6), done together cell by cell — a reuse of the Lecture 4/7 softmax so it's familiar. Three candidate next tokens K, R, G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token is K. Emphasize the intuition: a bigger logit becomes a bigger probability, and the model would (greedily) emit K. This is exactly what happens billions of times as an LLM writes — and the numbers are identical to the figure and notes. Not a quiz item; it just makes the next-token idea tangible before we zoom out to how the whole model is trained.</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Q4).</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Q4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Q4.</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detour so stage three of the pipeline (RLHF) makes sense, and so Lecture 14's agents have the vocabulary. We keep it strictly intuitive — the agent–environment–reward loop in ONE diagram, AlphaGo in ONE slide, NO Markov decision processes, NO policy-gradient math. The single idea: an agent learns by trying actions and getting feedback (reward), keeping what earns more reward. Then we snap that loop onto RLHF — the reward is just a human preference — and the LLM training pipeline is complete.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the room will label them on a lab scenario in two slides (Quiz 13 Q2), and because RLHF is exactly this loop with a human-supplied reward.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back to the pipeline. Reinforcement Learning from Human Feedback (RLHF) is just the agent–environment–reward loop with the roles filled in for language: the AGENT is the LLM being tuned; its ACTION is to write an answer to a prompt; the ENVIRONMENT is the prompt plus a human rater (in practice a "reward model" trained to imitate human preferences); and the REWARD is how strongly a human prefers that answer over alternatives. The model is nudged, over many rounds, toward answers people prefer — which is what turns a raw instruction-follower into a helpful, polite, safe assistant. No new machinery beyond the RL loop we just drew; that is why RLHF is "RL where the reward comes from human preferences," and it completes the three-stage training pipeline. Next slide the room labels the loop on a lab scenario (Quiz 13 Q2).</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Q2 (label agent/action/reward on a lab RL scenario; assesses the RL-loop outcome). The scenario: an optimizer automatically tunes an LC gradient to maximize peak separation — each cycle it picks a new gradient slope, runs the sample, and scores the resulting chromatogram's resolution. Mapping (identical to the Quiz 13 Q2 key): AGENT = the tuning optimizer (the learner choosing settings); ACTION = the gradient it picks that cycle (e.g., the slope/steps); REWARD = the chromatogram's resolution / separation score (higher = better). The ENVIRONMENT, if asked, is the LC–MS instrument plus the sample. Tie it back: just like AlphaGo, no one labels the "right" gradient — the optimizer discovers it by trying gradients and reading the resolution reward. Take one mapping from the floor, then have them fill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stop: how to actually put an LLM to work without training one. Three options, cheapest first. PROMPTING — just ask, putting your instructions and a few examples right in the prompt; best for general tasks with no private data, and it's instant. RAG (retrieval-augmented generation) — at query time, retrieve YOUR relevant documents (SOPs, records, papers) and paste them into the prompt so the model answers FROM them; best when answers must cite current or private material, and it's also the main hallucination guardrail from earlier. FINE-TUNING — further-train the model on your own labeled examples; reserve it for when you need a consistent new style or skill AND have many examples, because it's the most work. The worked clinical example: drafting a report that must quote TODAY's SOP → the SOP changes monthly, so you want RAG (pull the current SOP at query time), not fine-tuning (which would bake in a snapshot and need retraining every change). Next slide opens up how RAG actually works, then the room picks for a scenario (Quiz 13 Q3).</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RAG black box, because the room meets it as a guardrail (Q4) and a deployment choice (Q3).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(Q3) and curbs hallucination (Q4). Honest limits: retrieval quality is everything (bad chunks → bad answer), and chunking / embedding choices matter. Next slide the room picks when to use each option.</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Q3 (pick among prompting / RAG / fine-tuning and justify — and note the answer is DIFFERENT from the I-do's RAG example, so it forces a real discrimination, not a pattern-match). Answer (identical to the Quiz 13 Q3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the answers for the Q1 match (tool → problem → architecture), which we do live at the end of the tour. 💬 Keep the outcomes' pair prompt in your pocket: which of these is closest to a problem in your lab?</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Tour stop one, and the cleanest callback. De novo peptide sequencing means reading the amino-acid sequence straight from an MS/MS fragmentation spectrum WITHOUT matching to a database. Casanovo (and its ancestor DeepNovo) frames this as TRANSLATION: the spectrum is the "source sentence," the peptide is the "target sentence," and a transformer encoder–decoder — the very architecture we assembled in Lecture 8, reading each peak as a token (Lecture 7/8's peak-as-token) — translates one into the other. Impact: because it doesn't need a reference database, it can identify peptides that databases miss — novel variants, mutations, and immunopeptides — which is exactly where database search fails. Say the frame aloud: problem (de novo sequencing) → architecture you now know (transformer/translation) → impact (reads peptides no database contains).</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two runs the arrow the other way: given a peptide SEQUENCE, predict what its fragment spectrum and retention time SHOULD look like. Prosit does this with a deep sequence model — an RNN/LSTM with attention (Lecture 7) — and AlphaPeptDeep with a transformer (Lecture 8); either way it's the sequence-model machinery you know. Why predict a spectrum you could just measure? Because comparing the observed spectrum to the PREDICTED one is a powerful extra score: it RESCORES database search hits, promoting real identifications and rejecting false ones, so you get more confident IDs at the same FDR. The same predicted-library idea underpins DIA analysis (next stop). Frame: problem (predict spectrum + RT) → architecture you know (deep sequence model, RNN/attention) → impact (rescore → more, better IDs).</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three, and a quick mid-tour interactive beat (keeps the ~8–10 min cadence): before you reveal the middle band, ask the room to PREDICT which architecture family this is from the problem alone — then reveal the MLP. Data-independent acquisition (DIA) fragments wide m/z windows, so a single spectrum is a jumble of many co-eluting peptides — powerful for throughput and reproducibility, but hard to deconvolve. DIA-NN ("DIA neural networks") uses deep neural networks — feed-forward classifiers, the plain MLPs from Lectures 1–4 — to score whether each candidate precursor is genuinely present amid the overlap, and to separate signal from noise. Impact: it made DIA robust and routine at scale, quantifying thousands of proteins per run with high reproducibility, which is why it's a workhorse in modern proteomics cores. Frame: problem (ID + quantify in overlapping DIA runs) → architecture you know (feed-forward MLP) → impact (robust, high-throughput proteomics). Note the teaching point: the "simplest" architecture in the course is behind one of the field's biggest tools — match the model to the job, not to the hype.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four is the clinical one, and it's the Lab 2 problem. (DRIAMS itself is the public dataset/benchmark behind these resistance-calling models; we frame it here as the 1D-CNN spectrum classifier you built in Lab 2.) Clinical microbiology labs already run MALDI-TOF on every isolate to identify the organism; DRIAMS asks whether the SAME spectrum also predicts ANTIBIOTIC RESISTANCE (resistant vs. susceptible) — a call that normally takes an extra day of culture. Framed as a 1D spectrum classification, this is the 1D CNN from Lecture 5 (the same peak-detector-slid-along-m/z idea we built in Lab 2). Impact: a potential resistance readout hours earlier, from data the lab is already collecting at no extra bench cost — a real, deployed-in-clinic style win. Be honest, tying to Lecture 10: these models can lose accuracy across sites and over time (the DRIAMS distribution-shift cautionary tale), so external and temporal validation is mandatory before trusting a call. Frame: problem (R/S from MALDI-TOF) → architecture you know (1D CNN) → impact (faster calls from routine data).</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flagship, and the same frame. PROBLEM: predict a protein's 3D structure from its amino-acid sequence — the decades-old "protein folding problem." ARCHITECTURE: at its heart AlphaFold is attention — a specialized transformer (the "Evoformer") reasoning over the sequence and its evolutionary relatives — the exact mechanism from Lectures 7–8. IMPACT: it reached near-experimental accuracy in the CASP assessment and DeepMind has since released 200M+ predicted structures, reshaping structural biology and drug discovery; it's the single most famous "deep learning changed a science" result, and its authors shared a 2024 Nobel Prize. The message to leave the room with: the architecture that folds proteins is the same attention you now understand — pointed at sequences and scaled up. This is a reused, properly-licensed course image, credited in the caption. Frame: problem → architecture you know (attention/transformer) → impact (flagship).</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tour on one page — the single chart the Q1 match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(Quiz 13 Q1).</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Q1 (upgraded from matching the five names to TRANSFERRING the problem→architecture map onto tools you've never seen — the real landscape skill). Answers: (a) a spectrum-in → one-label-out classifier is a 1D CNN, most like DRIAMS (same architecture, a species call instead of R/S). (b) sequence-in → predicted spectrum + RT is a deep SEQUENCE MODEL (RNN/attention or transformer), most like Prosit. (c) Casanovo (spectrum → peptide) and AlphaFold (sequence → 3D fold) both use a TRANSFORMER / ATTENTION; what their problems share is LONG-RANGE dependencies across a sequence — distant peaks/residues must inform each other, exactly what attention captures (a CNN sees only local windows). Every answer is reachable from the tour chart on the previous slide, but the room has to REASON, not recall. Take one full answer, then have them complete Q1 — that's all four Quiz 13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13 outcomes, each already a you-do this hour tied to a Quiz 13 item: the LLM pipeline + hallucination guardrail (Q4), the RL loop labeled on a lab scenario (Q2), the prompting/RAG/fine-tuning choice (Q3), and the five-tool match (Q1). The sheet was filled across the hour, not as an end block — a distributed worksheet. The big takeaway to send them off with: the frontier is not a different field. LLMs are next-token predictors trained in three stages; the landmark MS/biology tools are the same transformers, CNNs, and attention you now understand, pointed at our data. Keep the sheet — Lecture 14 makes an LLM into an agent that uses tools.</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touched base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touched base — agent/environment/reward, AlphaGo, and RLHF</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MS/biology tools: problem → architecture → impact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5" name="Picture 4" descr="fig_next_token.png"/>
          <p:cNvPicPr>
            <a:picLocks noChangeAspect="1"/>
          </p:cNvPicPr>
          <p:nvPr/>
        </p:nvPicPr>
        <p:blipFill>
          <a:blip r:embed="rId2"/>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Strip away the mystique: a language model reads the tokens so far and outputs a probability for EVERY token in its vocabulary — then it picks (usually) the most likely one and appends it. A peptide read A–C–D–E–? is the same game an amino acid at a time. Generate text by doing this over and 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5" name="Picture 4" descr="fig_softmax_next.png"/>
          <p:cNvPicPr>
            <a:picLocks noChangeAspect="1"/>
          </p:cNvPicPr>
          <p:nvPr/>
        </p:nvPicPr>
        <p:blipFill>
          <a:blip r:embed="rId2"/>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Do-it-together (fill it in with me): three candidate next tokens carry logits 2, 1, 0. softmax turns them into probabilities — e² =7.39, e¹ =2.72, e⁰ =1.00, sum 11.11 → 0.665, 0.245, 0.090 (they sum to 1). Argmax → predicted next token = K. That is next-token prediction, exactly.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2"/>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2"/>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2"/>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2"/>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Q4.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Reinforcement learning, touched base</a:t>
            </a:r>
          </a:p>
          <a:p>
            <a:pPr>
              <a:spcBef>
                <a:spcPts val="1600"/>
              </a:spcBef>
            </a:pPr>
            <a:r>
              <a:rPr sz="2200" b="0" i="0">
                <a:solidFill>
                  <a:srgbClr val="0E7C7B"/>
                </a:solidFill>
                <a:latin typeface="Avenir Next"/>
              </a:rPr>
              <a:t>learn by trial and feedback — agent, environment, action, reward — then RLHF completes the LLM pipeline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3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2"/>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3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2"/>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3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2"/>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label the agent, action, and reward</a:t>
            </a:r>
          </a:p>
        </p:txBody>
      </p:sp>
      <p:pic>
        <p:nvPicPr>
          <p:cNvPr id="5" name="Picture 4" descr="fig_rl_loop_youdo.png"/>
          <p:cNvPicPr>
            <a:picLocks noChangeAspect="1"/>
          </p:cNvPicPr>
          <p:nvPr/>
        </p:nvPicPr>
        <p:blipFill>
          <a:blip r:embed="rId2"/>
          <a:stretch>
            <a:fillRect/>
          </a:stretch>
        </p:blipFill>
        <p:spPr>
          <a:xfrm>
            <a:off x="1903504" y="1828800"/>
            <a:ext cx="8354512"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Q2. An optimizer auto-tunes an LC gradient: each cycle it picks a new gradient slope, runs the sample, and scores the chromatogram's resolution. Label the AGENT, the ACTION, and the REWARD. Worked answer in the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5" name="Picture 4" descr="fig_use_llm_ido.png"/>
          <p:cNvPicPr>
            <a:picLocks noChangeAspect="1"/>
          </p:cNvPicPr>
          <p:nvPr/>
        </p:nvPicPr>
        <p:blipFill>
          <a:blip r:embed="rId2"/>
          <a:stretch>
            <a:fillRect/>
          </a:stretch>
        </p:blipFill>
        <p:spPr>
          <a:xfrm>
            <a:off x="2162047" y="1828800"/>
            <a:ext cx="783742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2"/>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2"/>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Q3.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5" name="Picture 4" descr="fig_land_casanovo.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A TRANSFORMER reads an MS/MS spectrum and writes out the peptide — spectrum-in, peptide-out, exactly the translation setup from Lectures 7–8 with each peak as a token. It can name peptides that are in NO database: novel, mutated, immunopeptides.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5" name="Picture 4" descr="fig_land_prosit.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A deep SEQUENCE MODEL (RNN/LSTM + attention; AlphaPeptDeep uses a transformer) predicts a peptide's fragment spectrum and retention time from its sequence. The predicted spectra RESCORE database hits → more confident IDs, and they build DIA libraries.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5" name="Picture 4" descr="fig_land_diann.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uses FEED-FORWARD NEURAL NETS — the plain MLP classifiers from Lectures 1–4 — to score which precursors are really present. Impact: robust, high-throughput proteomics, thousands of proteins per run.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5" name="Picture 4" descr="fig_land_driams.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Predict antibiotic resistance (R/S) directly from the routine clinical MALDI-TOF spectrum a lab already runs to ID the organism. Framed as a 1D-CNN spectrum classifier — the Lecture 5 model you built in Lab 2. Impact: faster resistance calls from data you already collect.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5" name="Picture 4" descr="alphafold_protein.png"/>
          <p:cNvPicPr>
            <a:picLocks noChangeAspect="1"/>
          </p:cNvPicPr>
          <p:nvPr/>
        </p:nvPicPr>
        <p:blipFill>
          <a:blip r:embed="rId2"/>
          <a:stretch>
            <a:fillRect/>
          </a:stretch>
        </p:blipFill>
        <p:spPr>
          <a:xfrm>
            <a:off x="4619650" y="1828800"/>
            <a:ext cx="2922219"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AlphaFold-predicted protein structure · image: AlphaFold DB, CC0 (reused course asset)</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PROBLEM: predict a protein's 3D structure from its amino-acid sequence. ARCHITECTURE: attention / a transformer (the Evoformer) — Lectures 7–8. IMPACT: near-experimental accuracy and 200M+ predicted structures — the flagship of deep learning in biology.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2"/>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Five tools, one frame. Casanovo → de novo sequencing → Transformer (translation). Prosit → predict spectrum+RT → sequence model (RNN/attn). DIA-NN → DIA ID+quant → MLP. DRIAMS → resistance from MALDI-TOF → 1D CNN. AlphaFold → protein structure → Transformer/attention. 💬 Which is closest to a problem in YOUR lab?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place a tool you've never seen</a:t>
            </a:r>
          </a:p>
        </p:txBody>
      </p:sp>
      <p:pic>
        <p:nvPicPr>
          <p:cNvPr id="5" name="Picture 4" descr="fig_landscape_transfer.png"/>
          <p:cNvPicPr>
            <a:picLocks noChangeAspect="1"/>
          </p:cNvPicPr>
          <p:nvPr/>
        </p:nvPicPr>
        <p:blipFill>
          <a:blip r:embed="rId2"/>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Q1. Not a match — a TRANSFER, using the five-tool map you just saw. (a) A tool calls bacterial SPECIES from a MALDI-TOF spectrum → which architecture family, most like which landmark? (b) A tool predicts a peptide's fragment spectrum + RT from its sequence → which family, like which landmark? (c) Casanovo and AlphaFold share ONE architecture family — which, and what do their problems have in common? Worked answer in the notes.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611880"/>
          </a:xfrm>
          <a:prstGeom prst="rect">
            <a:avLst/>
          </a:prstGeom>
          <a:noFill/>
        </p:spPr>
        <p:txBody>
          <a:bodyPr wrap="square" anchor="t">
            <a:spAutoFit/>
          </a:bodyPr>
          <a:lstStyle/>
          <a:p>
            <a:pPr>
              <a:spcAft>
                <a:spcPts val="1800"/>
              </a:spcAft>
            </a:pPr>
            <a:r>
              <a:rPr sz="1900" b="1" i="0">
                <a:solidFill>
                  <a:srgbClr val="0E7C7B"/>
                </a:solidFill>
                <a:latin typeface="Avenir Next"/>
              </a:rPr>
              <a:t>•  </a:t>
            </a:r>
            <a:r>
              <a:rPr sz="1900" b="0" i="0">
                <a:solidFill>
                  <a:srgbClr val="1B2025"/>
                </a:solidFill>
                <a:latin typeface="Avenir Next"/>
              </a:rPr>
              <a:t>Explain LLM training in pictures — next-token pretraining → SFT → preference tuning (RLHF) — and spot which claims in an LLM answer you must verify (Quiz 13 Q4)</a:t>
            </a:r>
          </a:p>
          <a:p>
            <a:pPr>
              <a:spcAft>
                <a:spcPts val="1800"/>
              </a:spcAft>
            </a:pPr>
            <a:r>
              <a:rPr sz="1900" b="1" i="0">
                <a:solidFill>
                  <a:srgbClr val="0E7C7B"/>
                </a:solidFill>
                <a:latin typeface="Avenir Next"/>
              </a:rPr>
              <a:t>•  </a:t>
            </a:r>
            <a:r>
              <a:rPr sz="1900" b="0" i="0">
                <a:solidFill>
                  <a:srgbClr val="1B2025"/>
                </a:solidFill>
                <a:latin typeface="Avenir Next"/>
              </a:rPr>
              <a:t>Describe reinforcement learning in one loop — agent, environment, action, reward — and label it on a lab scenario (Quiz 13 Q2)</a:t>
            </a:r>
          </a:p>
          <a:p>
            <a:pPr>
              <a:spcAft>
                <a:spcPts val="1800"/>
              </a:spcAft>
            </a:pPr>
            <a:r>
              <a:rPr sz="1900" b="1" i="0">
                <a:solidFill>
                  <a:srgbClr val="0E7C7B"/>
                </a:solidFill>
                <a:latin typeface="Avenir Next"/>
              </a:rPr>
              <a:t>•  </a:t>
            </a:r>
            <a:r>
              <a:rPr sz="1900" b="0" i="0">
                <a:solidFill>
                  <a:srgbClr val="1B2025"/>
                </a:solidFill>
                <a:latin typeface="Avenir Next"/>
              </a:rPr>
              <a:t>Name the five parts of RAG, and choose among prompting, RAG, and fine-tuning — including when fine-tuning wins (Quiz 13 Q3)</a:t>
            </a:r>
          </a:p>
          <a:p>
            <a:pPr>
              <a:spcAft>
                <a:spcPts val="1800"/>
              </a:spcAft>
            </a:pPr>
            <a:r>
              <a:rPr sz="1900" b="1" i="0">
                <a:solidFill>
                  <a:srgbClr val="0E7C7B"/>
                </a:solidFill>
                <a:latin typeface="Avenir Next"/>
              </a:rPr>
              <a:t>•  </a:t>
            </a:r>
            <a:r>
              <a:rPr sz="1900" b="0" i="0">
                <a:solidFill>
                  <a:srgbClr val="1B2025"/>
                </a:solidFill>
                <a:latin typeface="Avenir Next"/>
              </a:rPr>
              <a:t>Place a NEW tool you've never seen by its architecture family, and say why an architecture fits a problem (Quiz 13 Q1)</a:t>
            </a:r>
          </a:p>
        </p:txBody>
      </p:sp>
      <p:sp>
        <p:nvSpPr>
          <p:cNvPr id="6" name="Rectangle 5"/>
          <p:cNvSpPr/>
          <p:nvPr/>
        </p:nvSpPr>
        <p:spPr>
          <a:xfrm>
            <a:off x="548640" y="55839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13 live — spot the untrustworthy claim (Q4), the RL labels (Q2), the prompting/RAG/fine-tuning choice (Q3), and the place-a-new-tool transfer (Q1). Keep the sheet — Lecture 14 turns an LLM into an agent.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today's RL 'reward' and today's hallucination 'guardrails' are exactly what keep an AGENT honest next hour.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
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Q2 (upgraded from a four-way lookup to one real decision off the chart). (a) SEMI-SUPERVISED — a FEW labels plus MANY unlabeled, the middle-path row. (b) PSEUDO-LABELING: train a first model on the 300 labeled, predict on the 40,000 unlabeled, KEEP only the confident predictions as pseudo-labels, retrain on the combined set (optionally repeat). (c) The failure mode: confident-but-WRONG pseudo-labels reinforce the model's own mistakes, so the confidence filter matters and a weak early model can poison the pool. Note why the alternatives waste data: pure supervised throws away 40,000 runs; pure unsupervised ignores the 300 labels you paid for. Take the paradigm + technique + risk from the floor, then have them fill Q2 — that's all four Quiz 11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11 outcomes, each already exercised this hour and tied to a Quiz 11 item: the reconstruction-error trap (Q3), the sample-the-latent prediction (Q1), the semi-supervised decision (Q2), and the self-supervised safe-vs-corrupt augmentation decide (Q4). The sheet was done across the hour, not as an end block — a distributed worksheet. Frame the takeaway: most lab data is unlabeled, and you now have a menu for it — reconstruct to denoise or flag anomalies, learn a smooth latent to sample and interpolate, let the data label itself to pretrain a body, or bridge a few labels to many with pseudo-labeling. Keep the sheet as the on-ramp to Lab 4.</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Autoencoders — compress → reconstruct; reconstruction error as an anomaly / QC score</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VAEs, intuitively — points vs. clouds; sample and interpolate; tell an AE latent from a VAE latent</a:t>
            </a:r>
            <a:r>
              <a:rPr sz="2100" b="0" i="0">
                <a:solidFill>
                  <a:srgbClr val="8A9099"/>
                </a:solidFill>
                <a:latin typeface="Menlo"/>
              </a:rPr>
              <a:t>   · 16 min</a:t>
            </a:r>
          </a:p>
          <a:p>
            <a:pPr>
              <a:spcAft>
                <a:spcPts val="1800"/>
              </a:spcAft>
            </a:pPr>
            <a:r>
              <a:rPr sz="2600" b="1" i="0">
                <a:solidFill>
                  <a:srgbClr val="0E7C7B"/>
                </a:solidFill>
                <a:latin typeface="Avenir Next"/>
              </a:rPr>
              <a:t>•  </a:t>
            </a:r>
            <a:r>
              <a:rPr sz="2600" b="0" i="0">
                <a:solidFill>
                  <a:srgbClr val="1B2025"/>
                </a:solidFill>
                <a:latin typeface="Avenir Next"/>
              </a:rPr>
              <a:t>Self-supervised — the data labels itself: masking (BERT), contrastive, DINO</a:t>
            </a:r>
            <a:r>
              <a:rPr sz="2100" b="0" i="0">
                <a:solidFill>
                  <a:srgbClr val="8A9099"/>
                </a:solidFill>
                <a:latin typeface="Menlo"/>
              </a:rPr>
              <a:t>   · 17 min</a:t>
            </a:r>
          </a:p>
          <a:p>
            <a:pPr>
              <a:spcAft>
                <a:spcPts val="1800"/>
              </a:spcAft>
            </a:pPr>
            <a:r>
              <a:rPr sz="2600" b="1" i="0">
                <a:solidFill>
                  <a:srgbClr val="0E7C7B"/>
                </a:solidFill>
                <a:latin typeface="Avenir Next"/>
              </a:rPr>
              <a:t>•  </a:t>
            </a:r>
            <a:r>
              <a:rPr sz="2600" b="0" i="0">
                <a:solidFill>
                  <a:srgbClr val="1B2025"/>
                </a:solidFill>
                <a:latin typeface="Avenir Next"/>
              </a:rPr>
              <a:t>Semi-supervised in one slide — pseudo-labeling, the 10,000 + 100 middle path; then Quiz 11</a:t>
            </a:r>
            <a:r>
              <a:rPr sz="2100" b="0" i="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2"/>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AS A QC ALARM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Rebuild it badly → flag it</a:t>
            </a:r>
          </a:p>
        </p:txBody>
      </p:sp>
      <p:pic>
        <p:nvPicPr>
          <p:cNvPr id="5" name="Picture 4" descr="fig_anomaly_overlay.png"/>
          <p:cNvPicPr>
            <a:picLocks noChangeAspect="1"/>
          </p:cNvPicPr>
          <p:nvPr/>
        </p:nvPicPr>
        <p:blipFill>
          <a:blip r:embed="rId2"/>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2"/>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2"/>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2"/>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2"/>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2"/>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2"/>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(BERT)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Masking: hide a piece, predict it</a:t>
            </a:r>
          </a:p>
        </p:txBody>
      </p:sp>
      <p:pic>
        <p:nvPicPr>
          <p:cNvPr id="5" name="Picture 4" descr="fig_masking.png"/>
          <p:cNvPicPr>
            <a:picLocks noChangeAspect="1"/>
          </p:cNvPicPr>
          <p:nvPr/>
        </p:nvPicPr>
        <p:blipFill>
          <a:blip r:embed="rId2"/>
          <a:stretch>
            <a:fillRect/>
          </a:stretch>
        </p:blipFill>
        <p:spPr>
          <a:xfrm>
            <a:off x="1587012" y="1828800"/>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Contrastive: two views should land together</a:t>
            </a:r>
          </a:p>
        </p:txBody>
      </p:sp>
      <p:pic>
        <p:nvPicPr>
          <p:cNvPr id="5" name="Picture 4" descr="fig_contrastive.png"/>
          <p:cNvPicPr>
            <a:picLocks noChangeAspect="1"/>
          </p:cNvPicPr>
          <p:nvPr/>
        </p:nvPicPr>
        <p:blipFill>
          <a:blip r:embed="rId2"/>
          <a:stretch>
            <a:fillRect/>
          </a:stretch>
        </p:blipFill>
        <p:spPr>
          <a:xfrm>
            <a:off x="1922167" y="1828800"/>
            <a:ext cx="831718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2"/>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2"/>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2"/>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2"/>
          <a:stretch>
            <a:fillRect/>
          </a:stretch>
        </p:blipFill>
        <p:spPr>
          <a:xfrm>
            <a:off x="2612872" y="182880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Match the DATA YOU HAVE to a paradigm. SUPERVISED: many labeled → learn input→label. UNSUPERVISED: no labels → find structure / score anomalies (autoencoder QC). SELF-SUPERVISED: no labels, the data labels itself → pretext task pretrains a body (mask &amp; predict). SEMI-SUPERVISED: few labeled + many unlabeled → pseudo-label the rest.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300 labeled, 40,000 unlabeled</a:t>
            </a:r>
          </a:p>
        </p:txBody>
      </p:sp>
      <p:pic>
        <p:nvPicPr>
          <p:cNvPr id="5" name="Picture 4" descr="fig_semisup_youdo.png"/>
          <p:cNvPicPr>
            <a:picLocks noChangeAspect="1"/>
          </p:cNvPicPr>
          <p:nvPr/>
        </p:nvPicPr>
        <p:blipFill>
          <a:blip r:embed="rId2"/>
          <a:stretch>
            <a:fillRect/>
          </a:stretch>
        </p:blipFill>
        <p:spPr>
          <a:xfrm>
            <a:off x="1408097" y="1828800"/>
            <a:ext cx="934532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Q2. You have 300 labeled spectra (S/R known) and 40,000 unlabeled QC runs, and you want a resistance classifier. (a) Which paradigm uses ALL your data? (b) Name the specific technique. (c) What's the one failure mode to watch? Worked answer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61188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Explain an autoencoder (compress → reconstruct) and its uses: denoising, dimensionality reduction, anomaly/QC detection</a:t>
            </a:r>
          </a:p>
          <a:p>
            <a:pPr>
              <a:spcAft>
                <a:spcPts val="1800"/>
              </a:spcAft>
            </a:pPr>
            <a:r>
              <a:rPr sz="1900" b="1" i="0">
                <a:solidFill>
                  <a:srgbClr val="0E7C7B"/>
                </a:solidFill>
                <a:latin typeface="Avenir Next"/>
              </a:rPr>
              <a:t>•  </a:t>
            </a:r>
            <a:r>
              <a:rPr sz="1900" b="0" i="0">
                <a:solidFill>
                  <a:srgbClr val="1B2025"/>
                </a:solidFill>
                <a:latin typeface="Avenir Next"/>
              </a:rPr>
              <a:t>Compute a reconstruction error (MSE), decide against a threshold, and see how a MEAN can miss a localized contaminant (Quiz 11 Q3)</a:t>
            </a:r>
          </a:p>
          <a:p>
            <a:pPr>
              <a:spcAft>
                <a:spcPts val="1800"/>
              </a:spcAft>
            </a:pPr>
            <a:r>
              <a:rPr sz="1900" b="1" i="0">
                <a:solidFill>
                  <a:srgbClr val="0E7C7B"/>
                </a:solidFill>
                <a:latin typeface="Avenir Next"/>
              </a:rPr>
              <a:t>•  </a:t>
            </a:r>
            <a:r>
              <a:rPr sz="1900" b="0" i="0">
                <a:solidFill>
                  <a:srgbClr val="1B2025"/>
                </a:solidFill>
                <a:latin typeface="Avenir Next"/>
              </a:rPr>
              <a:t>Predict what sampling each latent decodes to, and say why only a gap-free VAE latent is safe to sample and interpolate (Quiz 11 Q1)</a:t>
            </a:r>
          </a:p>
          <a:p>
            <a:pPr>
              <a:spcAft>
                <a:spcPts val="1800"/>
              </a:spcAft>
            </a:pPr>
            <a:r>
              <a:rPr sz="1900" b="1" i="0">
                <a:solidFill>
                  <a:srgbClr val="0E7C7B"/>
                </a:solidFill>
                <a:latin typeface="Avenir Next"/>
              </a:rPr>
              <a:t>•  </a:t>
            </a:r>
            <a:r>
              <a:rPr sz="1900" b="0" i="0">
                <a:solidFill>
                  <a:srgbClr val="1B2025"/>
                </a:solidFill>
                <a:latin typeface="Avenir Next"/>
              </a:rPr>
              <a:t>Name the four paradigms, and spot which augmentation would corrupt self-supervised pretraining — augmentations must preserve the biology (Quiz 11 Q2 &amp; Q4)</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11 live — the reconstruction-error trap (Q3), the sample-the-latent call (Q1), the semi-supervised decision (Q2), and the safe-vs-corrupt augmentation call (Q4). Keep the sheet — Lab 4 builds a VAE on real spectra.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
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87" r:id="rId35"/>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9.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11 Q2, straight after the four-paradigm chart. Worked answer: (a) Semi-supervised — a few labels plus many unlabelled examples, so use both (the middle path). (b) Pseudo-labelling: train a first model on the 300 labelled, predict on the 40,000 unlabelled, keep only the confident predictions as pseudo-labels, and retrain on the combined set (optionally repeat). (c) Confident-but-wrong pseudo-labels reinforce the model's own mistakes — a weak early model can poison the pool, so the confidence filter matters. (Pure supervised would throw away 40,000 runs; pure unsupervised would ignore the 300 labels you paid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sz="1300" b="1" i="0">
                <a:solidFill>
                  <a:srgbClr val="8A9099"/>
                </a:solidFill>
                <a:latin typeface="Menlo"/>
              </a:rPr>
              <a:t>AUTOENCODERS · APPLICATIONS · DENOISING</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 GeeksforGeeks; all rights reserved, not for redistribution</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sz="1300" b="1" i="0">
                <a:solidFill>
                  <a:srgbClr val="8A9099"/>
                </a:solidFill>
                <a:latin typeface="Menlo"/>
              </a:rPr>
              <a:t>AUTOENCODERS · DENOISING RESULTS</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 GeeksforGeeks; all rights reserved, not for redistribution</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sz="1300" b="1" i="0">
                <a:solidFill>
                  <a:srgbClr val="8A9099"/>
                </a:solidFill>
                <a:latin typeface="Menlo"/>
              </a:rPr>
              <a:t>AUTOENCODERS · CAN IT GENERATE?</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 BEYOND TEXT</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 · 1 OF 2</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 · 2 OF 2</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THE COLLAPSE PROBLEM</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ON SPECTRA</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 · 1 OF 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 · 2 OF 3</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 3 OF 3</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 · © the authors; all rights reserved, not for redistribution</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use every spectrum</a:t>
            </a:r>
          </a:p>
        </p:txBody>
      </p:sp>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Q2. 300 labelled spectra and 40,000 unlabelled QC runs; you want a resistance classifier. Which paradigm uses ALL your data, which technique, and what failure mode do you watch? Worked answer in the notes.</a:t>
            </a:r>
          </a:p>
        </p:txBody>
      </p:sp>
      <p:sp>
        <p:nvSpPr>
          <p:cNvPr id="7" name="Rounded Rectangle 6"/>
          <p:cNvSpPr/>
          <p:nvPr/>
        </p:nvSpPr>
        <p:spPr>
          <a:xfrm>
            <a:off x="548640" y="1888800"/>
            <a:ext cx="3383280" cy="105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LABELLED</a:t>
            </a:r>
          </a:p>
          <a:p>
            <a:pPr algn="ctr">
              <a:spcAft>
                <a:spcPts val="200"/>
              </a:spcAft>
            </a:pPr>
            <a:r>
              <a:rPr sz="1900" b="1">
                <a:solidFill>
                  <a:srgbClr val="1B2025"/>
                </a:solidFill>
                <a:latin typeface="Avenir Next"/>
              </a:rPr>
              <a:t>300 spectra</a:t>
            </a:r>
          </a:p>
          <a:p>
            <a:pPr algn="ctr">
              <a:spcAft>
                <a:spcPts val="200"/>
              </a:spcAft>
            </a:pPr>
            <a:r>
              <a:rPr sz="1900" b="1">
                <a:solidFill>
                  <a:srgbClr val="1B2025"/>
                </a:solidFill>
                <a:latin typeface="Avenir Next"/>
              </a:rPr>
              <a:t>(S / R known)</a:t>
            </a:r>
          </a:p>
        </p:txBody>
      </p:sp>
      <p:sp>
        <p:nvSpPr>
          <p:cNvPr id="9" name="Rounded Rectangle 8"/>
          <p:cNvSpPr/>
          <p:nvPr/>
        </p:nvSpPr>
        <p:spPr>
          <a:xfrm>
            <a:off x="4114800" y="1888800"/>
            <a:ext cx="3383280" cy="105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6052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UNLABELLED</a:t>
            </a:r>
          </a:p>
          <a:p>
            <a:pPr algn="ctr">
              <a:spcAft>
                <a:spcPts val="200"/>
              </a:spcAft>
            </a:pPr>
            <a:r>
              <a:rPr sz="1900" b="1">
                <a:solidFill>
                  <a:srgbClr val="1B2025"/>
                </a:solidFill>
                <a:latin typeface="Avenir Next"/>
              </a:rPr>
              <a:t>40,000 QC runs</a:t>
            </a:r>
          </a:p>
        </p:txBody>
      </p:sp>
      <p:sp>
        <p:nvSpPr>
          <p:cNvPr id="11" name="Rounded Rectangle 10"/>
          <p:cNvSpPr/>
          <p:nvPr/>
        </p:nvSpPr>
        <p:spPr>
          <a:xfrm>
            <a:off x="7680960" y="1888800"/>
            <a:ext cx="3383280" cy="105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2668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GOAL</a:t>
            </a:r>
          </a:p>
          <a:p>
            <a:pPr algn="ctr">
              <a:spcAft>
                <a:spcPts val="200"/>
              </a:spcAft>
            </a:pPr>
            <a:r>
              <a:rPr sz="1900" b="1">
                <a:solidFill>
                  <a:srgbClr val="1B2025"/>
                </a:solidFill>
                <a:latin typeface="Avenir Next"/>
              </a:rPr>
              <a:t>a resistance classifier</a:t>
            </a:r>
          </a:p>
        </p:txBody>
      </p:sp>
      <p:sp>
        <p:nvSpPr>
          <p:cNvPr id="13" name="TextBox 12"/>
          <p:cNvSpPr txBox="1"/>
          <p:nvPr/>
        </p:nvSpPr>
        <p:spPr>
          <a:xfrm>
            <a:off x="548640" y="3188800"/>
            <a:ext cx="10515600" cy="1785536"/>
          </a:xfrm>
          <a:prstGeom prst="rect">
            <a:avLst/>
          </a:prstGeom>
          <a:noFill/>
        </p:spPr>
        <p:txBody>
          <a:bodyPr wrap="square" lIns="45720" rIns="45720" tIns="27432" bIns="27432" anchor="t">
            <a:spAutoFit/>
          </a:bodyPr>
          <a:lstStyle/>
          <a:p>
            <a:pPr algn="l">
              <a:spcAft>
                <a:spcPts val="800"/>
              </a:spcAft>
            </a:pPr>
            <a:r>
              <a:rPr sz="1700" b="0">
                <a:solidFill>
                  <a:srgbClr val="1B2025"/>
                </a:solidFill>
                <a:latin typeface="Avenir Next"/>
              </a:rPr>
              <a:t>Use the four-paradigm chart.</a:t>
            </a:r>
          </a:p>
          <a:p>
            <a:pPr algn="l">
              <a:spcAft>
                <a:spcPts val="800"/>
              </a:spcAft>
            </a:pPr>
            <a:r>
              <a:rPr sz="1700" b="1">
                <a:solidFill>
                  <a:srgbClr val="0E7C7B"/>
                </a:solidFill>
                <a:latin typeface="Avenir Next"/>
              </a:rPr>
              <a:t>(a)  </a:t>
            </a:r>
            <a:r>
              <a:rPr sz="1700" b="0">
                <a:solidFill>
                  <a:srgbClr val="1B2025"/>
                </a:solidFill>
                <a:latin typeface="Avenir Next"/>
              </a:rPr>
              <a:t>Which paradigm uses ALL of your data?</a:t>
            </a:r>
            <a:r>
              <a:rPr sz="1700" b="1">
                <a:solidFill>
                  <a:srgbClr val="0E7C7B"/>
                </a:solidFill>
                <a:latin typeface="Avenir Next"/>
              </a:rPr>
              <a:t>  ________</a:t>
            </a:r>
          </a:p>
          <a:p>
            <a:pPr algn="l">
              <a:spcAft>
                <a:spcPts val="800"/>
              </a:spcAft>
            </a:pPr>
            <a:r>
              <a:rPr sz="1700" b="1">
                <a:solidFill>
                  <a:srgbClr val="0E7C7B"/>
                </a:solidFill>
                <a:latin typeface="Avenir Next"/>
              </a:rPr>
              <a:t>(b)  </a:t>
            </a:r>
            <a:r>
              <a:rPr sz="1700" b="0">
                <a:solidFill>
                  <a:srgbClr val="1B2025"/>
                </a:solidFill>
                <a:latin typeface="Avenir Next"/>
              </a:rPr>
              <a:t>Name the specific technique.</a:t>
            </a:r>
            <a:r>
              <a:rPr sz="1700" b="1">
                <a:solidFill>
                  <a:srgbClr val="0E7C7B"/>
                </a:solidFill>
                <a:latin typeface="Avenir Next"/>
              </a:rPr>
              <a:t>  ________</a:t>
            </a:r>
          </a:p>
          <a:p>
            <a:pPr algn="l">
              <a:spcAft>
                <a:spcPts val="800"/>
              </a:spcAft>
            </a:pPr>
            <a:r>
              <a:rPr sz="1700" b="1">
                <a:solidFill>
                  <a:srgbClr val="0E7C7B"/>
                </a:solidFill>
                <a:latin typeface="Avenir Next"/>
              </a:rPr>
              <a:t>(c)  </a:t>
            </a:r>
            <a:r>
              <a:rPr sz="1700" b="0">
                <a:solidFill>
                  <a:srgbClr val="1B2025"/>
                </a:solidFill>
                <a:latin typeface="Avenir Next"/>
              </a:rPr>
              <a:t>In one sentence: the failure mode to watch?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
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7"/>
  </p:notesMasterIdLst>
  <p:sldIdLst>
    <p:sldId id="256" r:id="rId2"/>
    <p:sldId id="257" r:id="rId3"/>
    <p:sldId id="278" r:id="rId4"/>
    <p:sldId id="258" r:id="rId5"/>
    <p:sldId id="259" r:id="rId6"/>
    <p:sldId id="260" r:id="rId7"/>
    <p:sldId id="279" r:id="rId8"/>
    <p:sldId id="261" r:id="rId9"/>
    <p:sldId id="280" r:id="rId10"/>
    <p:sldId id="28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snapToObjects="1">
      <p:cViewPr varScale="1">
        <p:scale>
          <a:sx n="104" d="100"/>
          <a:sy n="104" d="100"/>
        </p:scale>
        <p:origin x="232" y="5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369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Sunday morning, hour two — straight after Lecture 1. In Lecture 1 we ASSUMED the weights and pushed numbers forward. Today we answer the open question: where do those weights come from? Promise of the hour: by the end you will have taken one full learning step by hand on a two-weight network — forward, measure the error, send the blame backward, nudge both weights — and you will recognise those exact moves in real PyTorch code. Still nothing beyond multiply, add, and "slope = how steep." No calculus. This hour is interactive the same way Lecture 1 was: every worked example (I-do) is followed by one you do yourself (you-do), and each you-do IS a Quiz 2 question. Hand out Quiz 2 now, blank; they fill it as we go, so by the recap they have already worked the whole quiz.</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Rebuild the bridge before adding anything new. This is the Lecture 1 network — same two inputs, one hidden layer, one output — except every weight now reads "w = ?". That is the honest starting state of any real network: weights are initialised at random, so the very first prediction is garbage. Learning is nothing more than repeatedly adjusting those numbers until the predictions stop being garbage. Keep the mantra alive: multiply, add, bend — now we add a fourth verb, "correct."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 them the map before the details. Walk the loop once, slowly: (1) push an input forward and get a guess; (2) measure how wrong the guess is — that number is the loss; (3) send the blame backward to every weight — that is backpropagation; (4) nudge each weight a little in the improving direction — that is the step. Then repeat, thousands of times. A homely twin to keep in your pocket: sighting in a catapult with no physics — you fire, see where the stone lands (the miss = loss), turn the power dial the right way (the gradient), and fire again, closing on the target. A network does exactly this with millions of dials. These four boxes reappear as five lines of real PyTorch; you will recognise every one.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to ~four minutes. Loss scores how far the guesses are from the truth, collapsed to one number. Use MSE because it is the most intuitive — literally the average squared gap (each red bar is one error). Two reasons for the square, both on the slide: it kills the sign (a miss of −3 and +3 are equally bad), and it disproportionately penalises large misses, so the network cares most about its worst mistakes. Do NOT introduce cross-entropy — that is Lecture 4, for classification; one sentence so nobody thinks MSE is the only loss. Land it: loss is the single dial we turn down for the rest of the hour.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 the engine of all deep learning, with zero calculus. Height = loss, horizontal = a weight's value. The slope at the ball's feet points uphill; subtract a bit of it and you move downhill, toward lower loss. Read the update rule aloud twice — new weight = old weight − lr × slope — because it is literally the last line of the training loop and Quiz 2 Q2. "Gradient" is just our fancy word for "the slope of the loss with respect to a weight"; keep translating it back to "slope." Honesty note: real loss surfaces live in millions of dimensions — the picture is faithful, we just cannot draw a million axes. Next: how big a step? That is the learning rate.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81130-5D25-530C-152B-DE8769DB5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01115-7C72-ABD6-74F9-8A170F267B5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2981A4D-DC76-1D4A-C102-CF9E19298D33}"/>
              </a:ext>
            </a:extLst>
          </p:cNvPr>
          <p:cNvSpPr>
            <a:spLocks noGrp="1"/>
          </p:cNvSpPr>
          <p:nvPr>
            <p:ph type="body" sz="quarter" idx="3"/>
          </p:nvPr>
        </p:nvSpPr>
        <p:spPr/>
        <p:txBody>
          <a:bodyPr/>
          <a:lstStyle/>
          <a:p>
            <a:r>
              <a:t>I-DO — the engine of all deep learning, with zero calculus. Height = loss, horizontal = a weight's value. The slope at the ball's feet points uphill; subtract a bit of it and you move downhill, toward lower loss. Read the update rule aloud twice — new weight = old weight − lr × slope — because it is literally the last line of the training loop and Quiz 2 Q2. "Gradient" is just our fancy word for "the slope of the loss with respect to a weight"; keep translating it back to "slope." Honesty note: real loss surfaces live in millions of dimensions — the picture is faithful, we just cannot draw a million axes. Next: how big a step? That is the learning rate.</a:t>
            </a:r>
          </a:p>
          <a:p>
            <a:endParaRPr/>
          </a:p>
        </p:txBody>
      </p:sp>
      <p:sp>
        <p:nvSpPr>
          <p:cNvPr id="4" name="Slide Number Placeholder 3">
            <a:extLst>
              <a:ext uri="{FF2B5EF4-FFF2-40B4-BE49-F238E27FC236}">
                <a16:creationId xmlns:a16="http://schemas.microsoft.com/office/drawing/2014/main" id="{B4CC68CB-DB91-078C-E5F1-BA91CA5BD6D5}"/>
              </a:ext>
            </a:extLst>
          </p:cNvPr>
          <p:cNvSpPr>
            <a:spLocks noGrp="1"/>
          </p:cNvSpPr>
          <p:nvPr>
            <p:ph type="sldNum" sz="quarter" idx="5"/>
          </p:nvPr>
        </p:nvSpPr>
        <p:spPr/>
      </p:sp>
    </p:spTree>
    <p:extLst>
      <p:ext uri="{BB962C8B-B14F-4D97-AF65-F5344CB8AC3E}">
        <p14:creationId xmlns:p14="http://schemas.microsoft.com/office/powerpoint/2010/main" val="1768463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The learning rate is the multiplier on the slope — how big a step we take. Walk the three bowls left to right. Too small: steps so tiny the ball crawls; training wastes hours and can settle into a shallow dip and never reach the true bottom. Too big: each step overshoots and lands higher up the far wall; the loss bounces and can diverge to infinity. Just right: brisk, stable steps into the valley. Tell them plainly this is the first knob they reach for in every lab and real project — and the next slides show how to read the loss curve to tell which case you are in.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The loss curve is the dashboard you watch in every lab. Three shapes, three diagnoses. Too low (amber): slopes down so gently it is still high and still descending when time runs out — nudge the rate up. Too high (red): jagged and trending upward as steps overshoot the valley — cut the rate. Just right (teal): a sharp initial drop that flattens out low and stays there. Rule of thumb: when training looks wrong, the learning rate is the first dial to move, then re-read this same picture. Next slide you do it yourself — that is Quiz 2 Q3.</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2 Q3 (same four curves as the sheet, tagged a–d). Answers: (a) FAR TOO HIGH → lower the rate a lot — the swings GROW and the loss climbs, training is diverging. (b) TOO LOW → raise it — the loss barely drops, still high and still falling at the end; wastes time. (c) JUST RIGHT → keep it — steep early drop that flattens low and stays. (d) A BIT TOO HIGH → lower it a little — the loss IS trending down but bounces noisily on the way. The tell separating (a) from (d): in (a) the swings grow and the loss rises; in (d) they shrink and the loss falls. Harvest a couple of pairs, then have them fill Q3.</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forward. Every number here is reused for three slides and on the quiz, so go slowly. Input x = 2. First weight w₁ = 0.5, so the hidden pre-activation z = 0.5×2 = 1, positive, so ReLU passes it: h = 1. Second weight w₂ = 1.5, so the guess ŷ = 1.5×1 = 1.5. The truth is 1, so we overshot by 0.5, and squaring gives loss 0.25. This is just Lecture 1's forward pass with a loss bolted on the end — no biases, one neuron per layer, purely so the math stays checkable by hand. Have them predict: both weights are positive and the guess is too high, so both should come DOWN.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conceptual key — do not rush it. Backprop sounds fearsome but it is one move repeated: to find how much the loss cares about a given weight, walk the path from the loss back to that weight and multiply one small "local slope" at each arrow. The shared starting signal is the same for every weight: the loss's slope with respect to the error is 2×error (the slope of a squared-error bowl is twice the error — our only "derivative = slope" fact today). What differs per weight is the rest of the path. Name it once so they recognise the term later: multiplying local slopes along a path is precisely the chain rule; we just never write the symbols.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backward — the payoff. Same recipe for both weights, just more arrows for the deeper one. Start with the shared signal 2×error = 2×0.5 = 1.0. w₂ is the last weight: the guess is w₂×h, so nudging w₂ moves the guess by h = 1 → grad w₂ = 1.0×1 = 1.0. w₁ is deeper: the guess reacts to h by the factor w₂ = 1.5; the hidden unit went through ReLU and h was positive so the ReLU slope is 1 (if h had been clamped to 0 this factor would be 0 and w₁ would get NO blame); the hidden pre-activation is w₁×x, so it reacts to w₁ by x = 2. Multiply the chain: 1.0×1.5×1×2 = 3.0. This is exactly what loss.backward() automates, reusing the shared front part (the 1.0) for every weight. Next slide you run the same recipe on fresh numbers — Quiz 2 Q1.</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2 Q1 (same tiny net, different numbers: x = 1, w₁ = 2, w₂ = 0.5, target y = 0). Forward: z = w₁x = 2×1 = 2, positive → h = ReLU(2) = 2; ŷ = w₂h = 0.5×2 = 1; error = ŷ − y = 1 − 0 = 1; loss = 1² = 1. Backward: shared signal 2×error = 2×1 = 2. grad w₂ = 2×h = 2×2 = 4 (short path). grad w₁ = 2×w₂×ReLU′×x = 2×0.5×1×1 = 1 (longer path). Both gradients positive → both weights should decrease. Ask a pair for their grad w₂ before revealing, then have them fill Q1.</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 one complete learning step, start to finish. Update rule: new weight = old weight − lr × gradient. With lr = 0.1: w₂ goes 1.5 − 0.1×1.0 = 1.4; w₁ goes 0.5 − 0.1×3.0 = 0.2. Both dropped, exactly right — the guess was too high and both weights positive, so lowering them lowers the guess. The satisfying check: plug the new weights back through (h = ReLU(0.2×2) = 0.4, ŷ = 1.4×0.4 = 0.56, loss = (0.56−1)² ≈ 0.19) and the loss falls from 0.25 to 0.19 after a single step. That is the entire mechanism: forward, loss, backward, step — and the loss ticks down. Next slide you take the step on YOUR gradients from Q1 — Quiz 2 Q2.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2 Q2 (uses the gradients from Q1: grad w₂ = 4, grad w₁ = 1). w₂ ← 0.5 − 0.1×4 = 0.5 − 0.4 = 0.1; w₁ ← 2 − 0.1×1 = 2 − 0.1 = 1.9. Both came down, as expected — the guess was too high. (Re-running the forward pass with the new weights gives loss ≈ 0.04, down from 1: one step already helped.) Have them fill Q2, then reassure — that is the whole update, done.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reveal that the by-hand walk was not a toy — it is literally what the computer does. The script builds the same tiny net (x = 2, w₁ = 0.5, w₂ = 1.5, target 1); the two weights are flagged requires_grad=True so PyTorch tracks them. The three forward lines mirror our slides. Then the single line loss.backward() runs the entire backward chain and deposits each weight's gradient into its .grad. The printout is the punchline: pred = 1.5 and loss = 0.25 (our forward numbers), and w1.grad = 3.0, w2.grad = 1.0 — the very gradients we multiplied out, to the decimal. In Lab 1 you will not write this from scratch; you will fill blanks in exactly this shape.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 out and relieve the anxiety. Our two-weight chain was the hard part conceptually; a real network is just many such chains sharing their front sections. The red path is exactly the calculation we just did, now one thread among thousands. Backprop is efficient because it reuses shared pieces — it computes each shared slope once and fans it out. The liberating punchline: you will never do this by hand again — loss.backward() runs the whole sweep automatically. But unlike most people who type that line, you now know precisely what it computes: the loss's slope for every weight, so the optimiser knows which way is downhill.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overview. All the intuition now collapses into a tiny, repeatable cycle — the loop they fill in blanks on in Lab 1. Walk the five boxes: forward makes a guess, loss measures how wrong, zero_grad clears last round's gradients, backward runs the sweep, step nudges every weight — then back to forward for the next batch. The one genuinely new step is zero_grad, which we explain on the next slide. Set the expectation: you will not memorise syntax, you will recognise these boxes.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line by line, mapping each to what we built. The for-loop just repeats everything. 1 forward: model(x) pushes the input through and returns the guess. 2 loss: compare guess to truth, one "how wrong" number. 3 zero_grad: the only line without a counterpart in our hand-calc — PyTorch accumulates gradients by default, so reset last iteration's to zero first, or they add up and corrupt the step. 4 backward: the whole backward sweep, every gradient. 5 step: apply weight − lr × gradient to every weight, using the learning rate on the optimizer. In Lab 1 these five lines are exactly the blanks you fill. Next slide you put them in order — Quiz 2 Q4.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2 Q4 — spot-the-bug, NOT put-in-order. All five lines are present; the bug is that optimizer.zero_grad() runs AFTER loss.backward(). backward() computes this batch's gradients and stores them in each weight's .grad; zero_grad() then immediately ERASES them; so optimizer.step() applies all-zero gradients and no weight moves — the loss sits flat forever. Fix: move zero_grad() to BEFORE backward() (correct order zero_grad → backward → step). Tie it back to the taught gotcha: gradients live in .grad and must be cleared at the RIGHT moment — just before, never just after, the backward sweep. Poll which line they'd move before revealing, then have them fill Q4.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the live demo runs, narrate it against this curve; if not, the figure carries the point. Start: random weights, high loss, useless predictions. Each epoch is one sweep of the five lines over all the data; the printed loss ticks down and traces this shape — a steep early drop as the big, easy errors get fixed, then a flattening as the model fine-tunes toward the valley floor from the bowl slide. This is the healthy shape you diagnosed in Q3. The loss curve is the single most useful diagnostic you will watch all week. Bridge: in Lab 1 (next block) you run this loop for real on DRIAMS-style spectra and watch this same curve.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Quiz 2 Q5 reflection as a think-pair-share, then harvest. Q5 answer: (a) this is OVERFITTING — the network is starting to memorise the quirks and noise of the training set instead of the general pattern, so it keeps improving on seen data while getting worse on new data. (b) NO — a lower training loss does not mean a better model; what matters is performance on UNSEEN data (generalisation); once the two curves split apart, more training makes the model worse in practice. Lecture 4 names the fixes (more/cleaner data, regularisation, dropout, early stopping). Also widen the room question: what plays the role of "truth" in their lab (a confirmed AST result, a reference-method concentration, an adjudicated call?) and how many labelled samples realistically exist — that bottleneck seeds Lab 1's discussion and Lecture 4. Bridge: next you run this loop for real in Colab. Then a ten-minute break before Lab 1.</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a:t>Click to edit Master title style</a:t>
            </a:r>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idx="1"/>
          </p:nvPr>
        </p:nvSpPr>
        <p:spPr>
          <a:xfrm>
            <a:off x="548640" y="1920240"/>
            <a:ext cx="11091672" cy="4434840"/>
          </a:xfrm>
        </p:spPr>
        <p:txBody>
          <a:bodyPr wrap="square"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wrap="square"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48640" y="1920240"/>
            <a:ext cx="11091672" cy="4434840"/>
          </a:xfrm>
          <a:prstGeom prst="rect">
            <a:avLst/>
          </a:prstGeom>
        </p:spPr>
        <p:txBody>
          <a:bodyPr vert="horz" wrap="square"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1 · LECTURE 2</a:t>
            </a:r>
          </a:p>
        </p:txBody>
      </p:sp>
      <p:sp>
        <p:nvSpPr>
          <p:cNvPr id="4" name="TextBox 3"/>
          <p:cNvSpPr txBox="1"/>
          <p:nvPr/>
        </p:nvSpPr>
        <p:spPr>
          <a:xfrm>
            <a:off x="548640" y="2194560"/>
            <a:ext cx="11064240" cy="2011680"/>
          </a:xfrm>
          <a:prstGeom prst="rect">
            <a:avLst/>
          </a:prstGeom>
          <a:noFill/>
        </p:spPr>
        <p:txBody>
          <a:bodyPr wrap="square" anchor="ctr">
            <a:spAutoFit/>
          </a:bodyPr>
          <a:lstStyle/>
          <a:p>
            <a:r>
              <a:rPr sz="4400" b="1" i="0">
                <a:solidFill>
                  <a:srgbClr val="1B2025"/>
                </a:solidFill>
                <a:latin typeface="Avenir Next"/>
              </a:rPr>
              <a:t>How does a network learn?</a:t>
            </a:r>
          </a:p>
          <a:p>
            <a:pPr>
              <a:spcBef>
                <a:spcPts val="1600"/>
              </a:spcBef>
            </a:pPr>
            <a:r>
              <a:rPr sz="2200" b="0" i="0">
                <a:solidFill>
                  <a:srgbClr val="0E7C7B"/>
                </a:solidFill>
                <a:latin typeface="Avenir Next"/>
              </a:rPr>
              <a:t>Loss · gradient descent · backpropagation — then the five-line PyTorch training loop</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RECAP · WHERE LECTURE 1 LEFT OFF</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 network runs forward — but who set the weights?</a:t>
            </a:r>
          </a:p>
        </p:txBody>
      </p:sp>
      <p:pic>
        <p:nvPicPr>
          <p:cNvPr id="5" name="Picture 4" descr="fig_random_weights.png"/>
          <p:cNvPicPr>
            <a:picLocks noChangeAspect="1"/>
          </p:cNvPicPr>
          <p:nvPr/>
        </p:nvPicPr>
        <p:blipFill>
          <a:blip r:embed="rId3"/>
          <a:stretch>
            <a:fillRect/>
          </a:stretch>
        </p:blipFill>
        <p:spPr>
          <a:xfrm>
            <a:off x="2801308" y="1828800"/>
            <a:ext cx="6558904" cy="3657600"/>
          </a:xfrm>
          <a:prstGeom prst="rect">
            <a:avLst/>
          </a:prstGeom>
        </p:spPr>
      </p:pic>
      <p:sp>
        <p:nvSpPr>
          <p:cNvPr id="6" name="Rectangle 5"/>
          <p:cNvSpPr/>
          <p:nvPr/>
        </p:nvSpPr>
        <p:spPr>
          <a:xfrm>
            <a:off x="548640" y="5577840"/>
            <a:ext cx="10515600" cy="914400"/>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Lecture 1 ASSUMED the weights. A real network starts with RANDOM weights and is terrible. Learning = adjusting those numbers until the guesses stop being garbage.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0DD9E-B76F-BF31-F2CD-0A0E3CC62A48}"/>
              </a:ext>
            </a:extLst>
          </p:cNvPr>
          <p:cNvSpPr>
            <a:spLocks noGrp="1"/>
          </p:cNvSpPr>
          <p:nvPr>
            <p:ph type="title"/>
          </p:nvPr>
        </p:nvSpPr>
        <p:spPr/>
        <p:txBody>
          <a:bodyPr/>
          <a:lstStyle/>
          <a:p>
            <a:r>
              <a:rPr lang="en-US" dirty="0"/>
              <a:t>Learning by trying and adjusting</a:t>
            </a:r>
          </a:p>
        </p:txBody>
      </p:sp>
      <p:pic>
        <p:nvPicPr>
          <p:cNvPr id="5" name="Content Placeholder 4" descr="Catapult Physics">
            <a:extLst>
              <a:ext uri="{FF2B5EF4-FFF2-40B4-BE49-F238E27FC236}">
                <a16:creationId xmlns:a16="http://schemas.microsoft.com/office/drawing/2014/main" id="{125CF6DE-DFD7-E12A-3E5C-8263E0724B38}"/>
              </a:ext>
            </a:extLst>
          </p:cNvPr>
          <p:cNvPicPr>
            <a:picLocks noGrp="1" noChangeAspect="1"/>
          </p:cNvPicPr>
          <p:nvPr>
            <p:ph idx="1"/>
          </p:nvPr>
        </p:nvPicPr>
        <p:blipFill>
          <a:blip r:embed="rId2"/>
          <a:stretch>
            <a:fillRect/>
          </a:stretch>
        </p:blipFill>
        <p:spPr>
          <a:xfrm>
            <a:off x="678298" y="1929724"/>
            <a:ext cx="2667000" cy="2514600"/>
          </a:xfrm>
          <a:prstGeom prst="rect">
            <a:avLst/>
          </a:prstGeom>
        </p:spPr>
      </p:pic>
      <p:sp>
        <p:nvSpPr>
          <p:cNvPr id="4" name="Text Placeholder 3">
            <a:extLst>
              <a:ext uri="{FF2B5EF4-FFF2-40B4-BE49-F238E27FC236}">
                <a16:creationId xmlns:a16="http://schemas.microsoft.com/office/drawing/2014/main" id="{E0A9FD61-0D27-A9C6-4194-84A5C5E1EEE5}"/>
              </a:ext>
            </a:extLst>
          </p:cNvPr>
          <p:cNvSpPr>
            <a:spLocks noGrp="1"/>
          </p:cNvSpPr>
          <p:nvPr>
            <p:ph type="body" sz="quarter" idx="13"/>
          </p:nvPr>
        </p:nvSpPr>
        <p:spPr/>
        <p:txBody>
          <a:bodyPr/>
          <a:lstStyle/>
          <a:p>
            <a:endParaRPr lang="en-US"/>
          </a:p>
        </p:txBody>
      </p:sp>
      <p:pic>
        <p:nvPicPr>
          <p:cNvPr id="7" name="Picture 6" descr="Should devs add a catapult trajectory line for You Merchant? : r/IdentityV">
            <a:extLst>
              <a:ext uri="{FF2B5EF4-FFF2-40B4-BE49-F238E27FC236}">
                <a16:creationId xmlns:a16="http://schemas.microsoft.com/office/drawing/2014/main" id="{9A527EF5-3394-CAA9-C300-D52CAC27654F}"/>
              </a:ext>
            </a:extLst>
          </p:cNvPr>
          <p:cNvPicPr>
            <a:picLocks noChangeAspect="1"/>
          </p:cNvPicPr>
          <p:nvPr/>
        </p:nvPicPr>
        <p:blipFill>
          <a:blip r:embed="rId3"/>
          <a:stretch>
            <a:fillRect/>
          </a:stretch>
        </p:blipFill>
        <p:spPr>
          <a:xfrm>
            <a:off x="3847070" y="1783080"/>
            <a:ext cx="6495535" cy="3151562"/>
          </a:xfrm>
          <a:prstGeom prst="rect">
            <a:avLst/>
          </a:prstGeom>
        </p:spPr>
      </p:pic>
      <p:cxnSp>
        <p:nvCxnSpPr>
          <p:cNvPr id="9" name="Straight Arrow Connector 8">
            <a:extLst>
              <a:ext uri="{FF2B5EF4-FFF2-40B4-BE49-F238E27FC236}">
                <a16:creationId xmlns:a16="http://schemas.microsoft.com/office/drawing/2014/main" id="{7DD5A94E-BB0A-ABB5-AE01-9A67B4A24189}"/>
              </a:ext>
            </a:extLst>
          </p:cNvPr>
          <p:cNvCxnSpPr/>
          <p:nvPr/>
        </p:nvCxnSpPr>
        <p:spPr>
          <a:xfrm flipV="1">
            <a:off x="3101546" y="4040659"/>
            <a:ext cx="2866768" cy="10132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8956A7B-18C9-0CB3-57A9-10619E9D09A9}"/>
              </a:ext>
            </a:extLst>
          </p:cNvPr>
          <p:cNvCxnSpPr>
            <a:cxnSpLocks/>
          </p:cNvCxnSpPr>
          <p:nvPr/>
        </p:nvCxnSpPr>
        <p:spPr>
          <a:xfrm flipH="1" flipV="1">
            <a:off x="2998381" y="3187024"/>
            <a:ext cx="103165" cy="1866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6B68C8E-7A4B-F436-7CDD-417500915E67}"/>
              </a:ext>
            </a:extLst>
          </p:cNvPr>
          <p:cNvSpPr txBox="1"/>
          <p:nvPr/>
        </p:nvSpPr>
        <p:spPr>
          <a:xfrm>
            <a:off x="2892056" y="5188688"/>
            <a:ext cx="3125279" cy="369332"/>
          </a:xfrm>
          <a:prstGeom prst="rect">
            <a:avLst/>
          </a:prstGeom>
          <a:noFill/>
        </p:spPr>
        <p:txBody>
          <a:bodyPr wrap="none" rtlCol="0">
            <a:spAutoFit/>
          </a:bodyPr>
          <a:lstStyle/>
          <a:p>
            <a:r>
              <a:rPr lang="en-US" dirty="0"/>
              <a:t>Parameters (Weights &amp; Bias)</a:t>
            </a:r>
          </a:p>
        </p:txBody>
      </p:sp>
      <p:cxnSp>
        <p:nvCxnSpPr>
          <p:cNvPr id="15" name="Straight Arrow Connector 14">
            <a:extLst>
              <a:ext uri="{FF2B5EF4-FFF2-40B4-BE49-F238E27FC236}">
                <a16:creationId xmlns:a16="http://schemas.microsoft.com/office/drawing/2014/main" id="{11AF885C-5DD4-BBCE-CF6A-B7CD2040E856}"/>
              </a:ext>
            </a:extLst>
          </p:cNvPr>
          <p:cNvCxnSpPr/>
          <p:nvPr/>
        </p:nvCxnSpPr>
        <p:spPr>
          <a:xfrm flipH="1">
            <a:off x="9204960" y="3359667"/>
            <a:ext cx="861237" cy="93344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B8EDF77A-4A42-862B-B439-82EFE3AF0237}"/>
              </a:ext>
            </a:extLst>
          </p:cNvPr>
          <p:cNvSpPr txBox="1"/>
          <p:nvPr/>
        </p:nvSpPr>
        <p:spPr>
          <a:xfrm>
            <a:off x="9918803" y="2990335"/>
            <a:ext cx="847604" cy="369332"/>
          </a:xfrm>
          <a:prstGeom prst="rect">
            <a:avLst/>
          </a:prstGeom>
          <a:noFill/>
        </p:spPr>
        <p:txBody>
          <a:bodyPr wrap="none" rtlCol="0">
            <a:spAutoFit/>
          </a:bodyPr>
          <a:lstStyle/>
          <a:p>
            <a:r>
              <a:rPr lang="en-US" dirty="0"/>
              <a:t>Target</a:t>
            </a:r>
          </a:p>
        </p:txBody>
      </p:sp>
      <p:sp>
        <p:nvSpPr>
          <p:cNvPr id="17" name="TextBox 16">
            <a:extLst>
              <a:ext uri="{FF2B5EF4-FFF2-40B4-BE49-F238E27FC236}">
                <a16:creationId xmlns:a16="http://schemas.microsoft.com/office/drawing/2014/main" id="{6691AD39-2B86-392E-4671-40051B65E952}"/>
              </a:ext>
            </a:extLst>
          </p:cNvPr>
          <p:cNvSpPr txBox="1"/>
          <p:nvPr/>
        </p:nvSpPr>
        <p:spPr>
          <a:xfrm>
            <a:off x="2164817" y="5835798"/>
            <a:ext cx="8456930" cy="461665"/>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sz="2400" b="1" dirty="0"/>
              <a:t>How to find the best parameter values to hit the target?</a:t>
            </a:r>
          </a:p>
        </p:txBody>
      </p:sp>
      <p:sp>
        <p:nvSpPr>
          <p:cNvPr id="18" name="Oval 17">
            <a:extLst>
              <a:ext uri="{FF2B5EF4-FFF2-40B4-BE49-F238E27FC236}">
                <a16:creationId xmlns:a16="http://schemas.microsoft.com/office/drawing/2014/main" id="{1B0EFA4B-5247-A1B9-CF57-1B57BAF85F1C}"/>
              </a:ext>
            </a:extLst>
          </p:cNvPr>
          <p:cNvSpPr/>
          <p:nvPr/>
        </p:nvSpPr>
        <p:spPr>
          <a:xfrm>
            <a:off x="8958840" y="4299506"/>
            <a:ext cx="469557" cy="45719"/>
          </a:xfrm>
          <a:prstGeom prst="ellipse">
            <a:avLst/>
          </a:prstGeom>
          <a:gradFill>
            <a:gsLst>
              <a:gs pos="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333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TODAY · THE WHOLE IDEA IN ONE LOOP</a:t>
            </a:r>
          </a:p>
        </p:txBody>
      </p:sp>
      <p:sp>
        <p:nvSpPr>
          <p:cNvPr id="4" name="TextBox 3"/>
          <p:cNvSpPr txBox="1"/>
          <p:nvPr/>
        </p:nvSpPr>
        <p:spPr>
          <a:xfrm>
            <a:off x="548640" y="731520"/>
            <a:ext cx="11064240" cy="1138773"/>
          </a:xfrm>
          <a:prstGeom prst="rect">
            <a:avLst/>
          </a:prstGeom>
          <a:noFill/>
        </p:spPr>
        <p:txBody>
          <a:bodyPr wrap="square" anchor="t">
            <a:spAutoFit/>
          </a:bodyPr>
          <a:lstStyle/>
          <a:p>
            <a:r>
              <a:rPr sz="3400" b="1" i="0" dirty="0">
                <a:solidFill>
                  <a:srgbClr val="1B2025"/>
                </a:solidFill>
                <a:latin typeface="Avenir Next"/>
              </a:rPr>
              <a:t>Learning = </a:t>
            </a:r>
            <a:r>
              <a:rPr lang="en-US" sz="3400" b="1" i="0" dirty="0">
                <a:solidFill>
                  <a:srgbClr val="1B2025"/>
                </a:solidFill>
                <a:latin typeface="Avenir Next"/>
              </a:rPr>
              <a:t>guess</a:t>
            </a:r>
            <a:r>
              <a:rPr sz="3400" b="1" i="0" dirty="0">
                <a:solidFill>
                  <a:srgbClr val="1B2025"/>
                </a:solidFill>
                <a:latin typeface="Avenir Next"/>
              </a:rPr>
              <a:t> → measure → </a:t>
            </a:r>
            <a:r>
              <a:rPr lang="en-US" sz="3400" b="1" i="0" dirty="0">
                <a:solidFill>
                  <a:srgbClr val="1B2025"/>
                </a:solidFill>
                <a:latin typeface="Avenir Next"/>
              </a:rPr>
              <a:t>adjust</a:t>
            </a:r>
            <a:r>
              <a:rPr sz="3400" b="1" i="0" dirty="0">
                <a:solidFill>
                  <a:srgbClr val="1B2025"/>
                </a:solidFill>
                <a:latin typeface="Avenir Next"/>
              </a:rPr>
              <a:t>, over and over</a:t>
            </a:r>
          </a:p>
        </p:txBody>
      </p:sp>
      <p:sp>
        <p:nvSpPr>
          <p:cNvPr id="5" name="Rounded Rectangle 4"/>
          <p:cNvSpPr/>
          <p:nvPr/>
        </p:nvSpPr>
        <p:spPr>
          <a:xfrm>
            <a:off x="548640" y="2743200"/>
            <a:ext cx="2594610"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dirty="0">
                <a:solidFill>
                  <a:srgbClr val="1B2025"/>
                </a:solidFill>
                <a:latin typeface="Avenir Next"/>
              </a:rPr>
              <a:t>1 · Forward</a:t>
            </a:r>
          </a:p>
          <a:p>
            <a:pPr algn="ctr"/>
            <a:r>
              <a:rPr sz="1200" b="0" i="0" dirty="0">
                <a:solidFill>
                  <a:srgbClr val="8A9099"/>
                </a:solidFill>
                <a:latin typeface="Avenir Next"/>
              </a:rPr>
              <a:t>make a </a:t>
            </a:r>
            <a:r>
              <a:rPr lang="en-US" sz="1200" b="0" i="0" dirty="0">
                <a:solidFill>
                  <a:srgbClr val="8A9099"/>
                </a:solidFill>
                <a:latin typeface="Avenir Next"/>
              </a:rPr>
              <a:t>guess</a:t>
            </a:r>
            <a:r>
              <a:rPr sz="1200" b="0" i="0" dirty="0">
                <a:solidFill>
                  <a:srgbClr val="8A9099"/>
                </a:solidFill>
                <a:latin typeface="Avenir Next"/>
              </a:rPr>
              <a:t> </a:t>
            </a:r>
            <a:r>
              <a:rPr sz="1200" b="0" i="0" dirty="0" err="1">
                <a:solidFill>
                  <a:srgbClr val="8A9099"/>
                </a:solidFill>
                <a:latin typeface="Avenir Next"/>
              </a:rPr>
              <a:t>ŷ</a:t>
            </a:r>
            <a:endParaRPr sz="1200" b="0" i="0" dirty="0">
              <a:solidFill>
                <a:srgbClr val="8A9099"/>
              </a:solidFill>
              <a:latin typeface="Avenir Next"/>
            </a:endParaRPr>
          </a:p>
        </p:txBody>
      </p:sp>
      <p:cxnSp>
        <p:nvCxnSpPr>
          <p:cNvPr id="6" name="Connector 5"/>
          <p:cNvCxnSpPr/>
          <p:nvPr/>
        </p:nvCxnSpPr>
        <p:spPr>
          <a:xfrm>
            <a:off x="314325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1850" y="2743200"/>
            <a:ext cx="2594610" cy="1371600"/>
          </a:xfrm>
          <a:prstGeom prst="roundRect">
            <a:avLst/>
          </a:prstGeom>
          <a:solidFill>
            <a:srgbClr val="FFFFFF"/>
          </a:solidFill>
          <a:ln w="3175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E09E2F"/>
                </a:solidFill>
                <a:latin typeface="Avenir Next"/>
              </a:rPr>
              <a:t>2 · Loss</a:t>
            </a:r>
          </a:p>
          <a:p>
            <a:pPr algn="ctr"/>
            <a:r>
              <a:rPr sz="1200" b="0" i="0">
                <a:solidFill>
                  <a:srgbClr val="8A9099"/>
                </a:solidFill>
                <a:latin typeface="Avenir Next"/>
              </a:rPr>
              <a:t>how wrong?</a:t>
            </a:r>
          </a:p>
        </p:txBody>
      </p:sp>
      <p:cxnSp>
        <p:nvCxnSpPr>
          <p:cNvPr id="8" name="Connector 7"/>
          <p:cNvCxnSpPr/>
          <p:nvPr/>
        </p:nvCxnSpPr>
        <p:spPr>
          <a:xfrm>
            <a:off x="596646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95060" y="2743200"/>
            <a:ext cx="2594610" cy="1371600"/>
          </a:xfrm>
          <a:prstGeom prst="roundRect">
            <a:avLst/>
          </a:prstGeom>
          <a:solidFill>
            <a:srgbClr val="FFFFFF"/>
          </a:solidFill>
          <a:ln w="31750">
            <a:solidFill>
              <a:srgbClr val="C4534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C4534F"/>
                </a:solidFill>
                <a:latin typeface="Avenir Next"/>
              </a:rPr>
              <a:t>3 · Backprop</a:t>
            </a:r>
          </a:p>
          <a:p>
            <a:pPr algn="ctr"/>
            <a:r>
              <a:rPr sz="1200" b="0" i="0">
                <a:solidFill>
                  <a:srgbClr val="8A9099"/>
                </a:solidFill>
                <a:latin typeface="Avenir Next"/>
              </a:rPr>
              <a:t>assign the blame</a:t>
            </a:r>
          </a:p>
        </p:txBody>
      </p:sp>
      <p:cxnSp>
        <p:nvCxnSpPr>
          <p:cNvPr id="10" name="Connector 9"/>
          <p:cNvCxnSpPr/>
          <p:nvPr/>
        </p:nvCxnSpPr>
        <p:spPr>
          <a:xfrm>
            <a:off x="878967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018270" y="2743200"/>
            <a:ext cx="2594610" cy="1371600"/>
          </a:xfrm>
          <a:prstGeom prst="roundRect">
            <a:avLst/>
          </a:prstGeom>
          <a:solidFill>
            <a:srgbClr val="FFFFFF"/>
          </a:solidFill>
          <a:ln w="3175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dirty="0">
                <a:solidFill>
                  <a:srgbClr val="0E7C7B"/>
                </a:solidFill>
                <a:latin typeface="Avenir Next"/>
              </a:rPr>
              <a:t>4 · Step</a:t>
            </a:r>
          </a:p>
          <a:p>
            <a:pPr algn="ctr"/>
            <a:r>
              <a:rPr lang="en-US" sz="1200" b="0" i="0" dirty="0">
                <a:solidFill>
                  <a:srgbClr val="8A9099"/>
                </a:solidFill>
                <a:latin typeface="Avenir Next"/>
              </a:rPr>
              <a:t>adjust</a:t>
            </a:r>
            <a:r>
              <a:rPr sz="1200" b="0" i="0" dirty="0">
                <a:solidFill>
                  <a:srgbClr val="8A9099"/>
                </a:solidFill>
                <a:latin typeface="Avenir Next"/>
              </a:rPr>
              <a:t> weights</a:t>
            </a:r>
          </a:p>
        </p:txBody>
      </p:sp>
      <p:sp>
        <p:nvSpPr>
          <p:cNvPr id="12" name="Rectangle 11"/>
          <p:cNvSpPr/>
          <p:nvPr/>
        </p:nvSpPr>
        <p:spPr>
          <a:xfrm>
            <a:off x="548640" y="493776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These four boxes ARE the PyTorch training loop you will read at the end of the hour. Everything in between just opens each box in turn. Repeat for many batches (an 'epoch'), many epochs.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ONE · LOSS = THE 'HOW WRONG' NUMBER</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Loss = distance between guess and truth</a:t>
            </a:r>
          </a:p>
        </p:txBody>
      </p:sp>
      <p:pic>
        <p:nvPicPr>
          <p:cNvPr id="5" name="Picture 4" descr="fig_loss_mse.png"/>
          <p:cNvPicPr>
            <a:picLocks noChangeAspect="1"/>
          </p:cNvPicPr>
          <p:nvPr/>
        </p:nvPicPr>
        <p:blipFill>
          <a:blip r:embed="rId3"/>
          <a:stretch>
            <a:fillRect/>
          </a:stretch>
        </p:blipFill>
        <p:spPr>
          <a:xfrm>
            <a:off x="2650980" y="1828800"/>
            <a:ext cx="6859560" cy="3657600"/>
          </a:xfrm>
          <a:prstGeom prst="rect">
            <a:avLst/>
          </a:prstGeom>
        </p:spPr>
      </p:pic>
      <p:sp>
        <p:nvSpPr>
          <p:cNvPr id="6" name="Rectangle 5"/>
          <p:cNvSpPr/>
          <p:nvPr/>
        </p:nvSpPr>
        <p:spPr>
          <a:xfrm>
            <a:off x="548640" y="5577840"/>
            <a:ext cx="10515600" cy="92354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1200" b="1" i="0" dirty="0">
                <a:solidFill>
                  <a:srgbClr val="0E7C7B"/>
                </a:solidFill>
                <a:latin typeface="Menlo"/>
              </a:rPr>
              <a:t>MATH</a:t>
            </a:r>
            <a:r>
              <a:rPr sz="1200" b="1" i="0" dirty="0">
                <a:solidFill>
                  <a:srgbClr val="0E7C7B"/>
                </a:solidFill>
                <a:latin typeface="Menlo"/>
              </a:rPr>
              <a:t>· </a:t>
            </a:r>
            <a:r>
              <a:rPr sz="1700" b="0" i="0" dirty="0">
                <a:solidFill>
                  <a:srgbClr val="3D444C"/>
                </a:solidFill>
                <a:latin typeface="Avenir Next"/>
              </a:rPr>
              <a:t>MSE = average of (guess − truth)². Squaring makes every gap positive and punishes big misses hardest. One number for the whole dataset: small = good, big = bad.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TWO · GRADIENT DESCENT (I-DO)</a:t>
            </a:r>
          </a:p>
        </p:txBody>
      </p:sp>
      <p:sp>
        <p:nvSpPr>
          <p:cNvPr id="4" name="TextBox 3"/>
          <p:cNvSpPr txBox="1"/>
          <p:nvPr/>
        </p:nvSpPr>
        <p:spPr>
          <a:xfrm>
            <a:off x="548640" y="731520"/>
            <a:ext cx="11064240" cy="561552"/>
          </a:xfrm>
          <a:prstGeom prst="rect">
            <a:avLst/>
          </a:prstGeom>
          <a:noFill/>
        </p:spPr>
        <p:txBody>
          <a:bodyPr wrap="square" anchor="t">
            <a:spAutoFit/>
          </a:bodyPr>
          <a:lstStyle/>
          <a:p>
            <a:r>
              <a:rPr sz="3400" b="1" i="0">
                <a:solidFill>
                  <a:srgbClr val="1B2025"/>
                </a:solidFill>
                <a:latin typeface="Avenir Next"/>
              </a:rPr>
              <a:t>Downhill = the direction that lowers the loss</a:t>
            </a:r>
          </a:p>
        </p:txBody>
      </p:sp>
      <p:sp>
        <p:nvSpPr>
          <p:cNvPr id="15" name="object 6">
            <a:extLst>
              <a:ext uri="{FF2B5EF4-FFF2-40B4-BE49-F238E27FC236}">
                <a16:creationId xmlns:a16="http://schemas.microsoft.com/office/drawing/2014/main" id="{0D5CB11C-EC98-27DD-EEE8-8759E67221D4}"/>
              </a:ext>
            </a:extLst>
          </p:cNvPr>
          <p:cNvSpPr/>
          <p:nvPr/>
        </p:nvSpPr>
        <p:spPr>
          <a:xfrm>
            <a:off x="1644293" y="5671057"/>
            <a:ext cx="8281670" cy="114300"/>
          </a:xfrm>
          <a:custGeom>
            <a:avLst/>
            <a:gdLst/>
            <a:ahLst/>
            <a:cxnLst/>
            <a:rect l="l" t="t" r="r" b="b"/>
            <a:pathLst>
              <a:path w="8281670" h="114300">
                <a:moveTo>
                  <a:pt x="8166861" y="0"/>
                </a:moveTo>
                <a:lnTo>
                  <a:pt x="8166861" y="114299"/>
                </a:lnTo>
                <a:lnTo>
                  <a:pt x="8243061" y="76199"/>
                </a:lnTo>
                <a:lnTo>
                  <a:pt x="8185911" y="76199"/>
                </a:lnTo>
                <a:lnTo>
                  <a:pt x="8185911" y="38099"/>
                </a:lnTo>
                <a:lnTo>
                  <a:pt x="8243061" y="38099"/>
                </a:lnTo>
                <a:lnTo>
                  <a:pt x="8166861" y="0"/>
                </a:lnTo>
                <a:close/>
              </a:path>
              <a:path w="8281670" h="114300">
                <a:moveTo>
                  <a:pt x="8166861" y="38099"/>
                </a:moveTo>
                <a:lnTo>
                  <a:pt x="0" y="38099"/>
                </a:lnTo>
                <a:lnTo>
                  <a:pt x="0" y="76199"/>
                </a:lnTo>
                <a:lnTo>
                  <a:pt x="8166861" y="76199"/>
                </a:lnTo>
                <a:lnTo>
                  <a:pt x="8166861" y="38099"/>
                </a:lnTo>
                <a:close/>
              </a:path>
              <a:path w="8281670" h="114300">
                <a:moveTo>
                  <a:pt x="8243061" y="38099"/>
                </a:moveTo>
                <a:lnTo>
                  <a:pt x="8185911" y="38099"/>
                </a:lnTo>
                <a:lnTo>
                  <a:pt x="8185911" y="76199"/>
                </a:lnTo>
                <a:lnTo>
                  <a:pt x="8243061" y="76199"/>
                </a:lnTo>
                <a:lnTo>
                  <a:pt x="8281161" y="57149"/>
                </a:lnTo>
                <a:lnTo>
                  <a:pt x="8243061" y="38099"/>
                </a:lnTo>
                <a:close/>
              </a:path>
            </a:pathLst>
          </a:custGeom>
          <a:solidFill>
            <a:srgbClr val="000000"/>
          </a:solidFill>
        </p:spPr>
        <p:txBody>
          <a:bodyPr wrap="square" lIns="0" tIns="0" rIns="0" bIns="0" rtlCol="0"/>
          <a:lstStyle/>
          <a:p>
            <a:endParaRPr/>
          </a:p>
        </p:txBody>
      </p:sp>
      <p:sp>
        <p:nvSpPr>
          <p:cNvPr id="16" name="object 7">
            <a:extLst>
              <a:ext uri="{FF2B5EF4-FFF2-40B4-BE49-F238E27FC236}">
                <a16:creationId xmlns:a16="http://schemas.microsoft.com/office/drawing/2014/main" id="{22E5B4D3-AC75-53B1-1F02-64E308FC7669}"/>
              </a:ext>
            </a:extLst>
          </p:cNvPr>
          <p:cNvSpPr txBox="1"/>
          <p:nvPr/>
        </p:nvSpPr>
        <p:spPr>
          <a:xfrm>
            <a:off x="9448447" y="5638546"/>
            <a:ext cx="242570" cy="415925"/>
          </a:xfrm>
          <a:prstGeom prst="rect">
            <a:avLst/>
          </a:prstGeom>
        </p:spPr>
        <p:txBody>
          <a:bodyPr vert="horz" wrap="square" lIns="0" tIns="13970" rIns="0" bIns="0" rtlCol="0">
            <a:spAutoFit/>
          </a:bodyPr>
          <a:lstStyle/>
          <a:p>
            <a:pPr marL="12700">
              <a:spcBef>
                <a:spcPts val="110"/>
              </a:spcBef>
            </a:pPr>
            <a:r>
              <a:rPr sz="2550" i="1" dirty="0">
                <a:latin typeface="Times New Roman"/>
                <a:cs typeface="Times New Roman"/>
              </a:rPr>
              <a:t>w</a:t>
            </a:r>
            <a:endParaRPr sz="2550">
              <a:latin typeface="Times New Roman"/>
              <a:cs typeface="Times New Roman"/>
            </a:endParaRPr>
          </a:p>
        </p:txBody>
      </p:sp>
      <p:sp>
        <p:nvSpPr>
          <p:cNvPr id="17" name="object 9">
            <a:extLst>
              <a:ext uri="{FF2B5EF4-FFF2-40B4-BE49-F238E27FC236}">
                <a16:creationId xmlns:a16="http://schemas.microsoft.com/office/drawing/2014/main" id="{7668A112-56D0-80A9-6C6E-FEB6623F4F3A}"/>
              </a:ext>
            </a:extLst>
          </p:cNvPr>
          <p:cNvSpPr/>
          <p:nvPr/>
        </p:nvSpPr>
        <p:spPr>
          <a:xfrm>
            <a:off x="2111399" y="2083562"/>
            <a:ext cx="6681470" cy="4209415"/>
          </a:xfrm>
          <a:custGeom>
            <a:avLst/>
            <a:gdLst/>
            <a:ahLst/>
            <a:cxnLst/>
            <a:rect l="l" t="t" r="r" b="b"/>
            <a:pathLst>
              <a:path w="6681470" h="4209415">
                <a:moveTo>
                  <a:pt x="0" y="0"/>
                </a:moveTo>
                <a:lnTo>
                  <a:pt x="11304" y="55642"/>
                </a:lnTo>
                <a:lnTo>
                  <a:pt x="23084" y="110995"/>
                </a:lnTo>
                <a:lnTo>
                  <a:pt x="35337" y="166048"/>
                </a:lnTo>
                <a:lnTo>
                  <a:pt x="48062" y="220789"/>
                </a:lnTo>
                <a:lnTo>
                  <a:pt x="61255" y="275206"/>
                </a:lnTo>
                <a:lnTo>
                  <a:pt x="74914" y="329288"/>
                </a:lnTo>
                <a:lnTo>
                  <a:pt x="89037" y="383022"/>
                </a:lnTo>
                <a:lnTo>
                  <a:pt x="103621" y="436397"/>
                </a:lnTo>
                <a:lnTo>
                  <a:pt x="118664" y="489402"/>
                </a:lnTo>
                <a:lnTo>
                  <a:pt x="134163" y="542025"/>
                </a:lnTo>
                <a:lnTo>
                  <a:pt x="150117" y="594253"/>
                </a:lnTo>
                <a:lnTo>
                  <a:pt x="166521" y="646076"/>
                </a:lnTo>
                <a:lnTo>
                  <a:pt x="183375" y="697482"/>
                </a:lnTo>
                <a:lnTo>
                  <a:pt x="200676" y="748459"/>
                </a:lnTo>
                <a:lnTo>
                  <a:pt x="218421" y="798995"/>
                </a:lnTo>
                <a:lnTo>
                  <a:pt x="236608" y="849079"/>
                </a:lnTo>
                <a:lnTo>
                  <a:pt x="255234" y="898699"/>
                </a:lnTo>
                <a:lnTo>
                  <a:pt x="274297" y="947843"/>
                </a:lnTo>
                <a:lnTo>
                  <a:pt x="293794" y="996499"/>
                </a:lnTo>
                <a:lnTo>
                  <a:pt x="313724" y="1044657"/>
                </a:lnTo>
                <a:lnTo>
                  <a:pt x="334083" y="1092304"/>
                </a:lnTo>
                <a:lnTo>
                  <a:pt x="354870" y="1139429"/>
                </a:lnTo>
                <a:lnTo>
                  <a:pt x="376081" y="1186019"/>
                </a:lnTo>
                <a:lnTo>
                  <a:pt x="397715" y="1232064"/>
                </a:lnTo>
                <a:lnTo>
                  <a:pt x="419768" y="1277552"/>
                </a:lnTo>
                <a:lnTo>
                  <a:pt x="442239" y="1322470"/>
                </a:lnTo>
                <a:lnTo>
                  <a:pt x="465125" y="1366807"/>
                </a:lnTo>
                <a:lnTo>
                  <a:pt x="488424" y="1410552"/>
                </a:lnTo>
                <a:lnTo>
                  <a:pt x="512133" y="1453693"/>
                </a:lnTo>
                <a:lnTo>
                  <a:pt x="536250" y="1496218"/>
                </a:lnTo>
                <a:lnTo>
                  <a:pt x="560772" y="1538116"/>
                </a:lnTo>
                <a:lnTo>
                  <a:pt x="585697" y="1579375"/>
                </a:lnTo>
                <a:lnTo>
                  <a:pt x="611022" y="1619982"/>
                </a:lnTo>
                <a:lnTo>
                  <a:pt x="636746" y="1659927"/>
                </a:lnTo>
                <a:lnTo>
                  <a:pt x="662865" y="1699198"/>
                </a:lnTo>
                <a:lnTo>
                  <a:pt x="689377" y="1737783"/>
                </a:lnTo>
                <a:lnTo>
                  <a:pt x="716280" y="1775670"/>
                </a:lnTo>
                <a:lnTo>
                  <a:pt x="743571" y="1812848"/>
                </a:lnTo>
                <a:lnTo>
                  <a:pt x="771248" y="1849306"/>
                </a:lnTo>
                <a:lnTo>
                  <a:pt x="799308" y="1885030"/>
                </a:lnTo>
                <a:lnTo>
                  <a:pt x="827750" y="1920011"/>
                </a:lnTo>
                <a:lnTo>
                  <a:pt x="856570" y="1954235"/>
                </a:lnTo>
                <a:lnTo>
                  <a:pt x="885766" y="1987692"/>
                </a:lnTo>
                <a:lnTo>
                  <a:pt x="915336" y="2020369"/>
                </a:lnTo>
                <a:lnTo>
                  <a:pt x="945277" y="2052256"/>
                </a:lnTo>
                <a:lnTo>
                  <a:pt x="975588" y="2083339"/>
                </a:lnTo>
                <a:lnTo>
                  <a:pt x="1006264" y="2113609"/>
                </a:lnTo>
                <a:lnTo>
                  <a:pt x="1037305" y="2143052"/>
                </a:lnTo>
                <a:lnTo>
                  <a:pt x="1068707" y="2171658"/>
                </a:lnTo>
                <a:lnTo>
                  <a:pt x="1100468" y="2199414"/>
                </a:lnTo>
                <a:lnTo>
                  <a:pt x="1132586" y="2226310"/>
                </a:lnTo>
                <a:lnTo>
                  <a:pt x="1168975" y="2255042"/>
                </a:lnTo>
                <a:lnTo>
                  <a:pt x="1206504" y="2282598"/>
                </a:lnTo>
                <a:lnTo>
                  <a:pt x="1245125" y="2309002"/>
                </a:lnTo>
                <a:lnTo>
                  <a:pt x="1284793" y="2334278"/>
                </a:lnTo>
                <a:lnTo>
                  <a:pt x="1325462" y="2358451"/>
                </a:lnTo>
                <a:lnTo>
                  <a:pt x="1367088" y="2381544"/>
                </a:lnTo>
                <a:lnTo>
                  <a:pt x="1409625" y="2403583"/>
                </a:lnTo>
                <a:lnTo>
                  <a:pt x="1453027" y="2424590"/>
                </a:lnTo>
                <a:lnTo>
                  <a:pt x="1497248" y="2444592"/>
                </a:lnTo>
                <a:lnTo>
                  <a:pt x="1542244" y="2463611"/>
                </a:lnTo>
                <a:lnTo>
                  <a:pt x="1587968" y="2481672"/>
                </a:lnTo>
                <a:lnTo>
                  <a:pt x="1634376" y="2498799"/>
                </a:lnTo>
                <a:lnTo>
                  <a:pt x="1681421" y="2515017"/>
                </a:lnTo>
                <a:lnTo>
                  <a:pt x="1729059" y="2530350"/>
                </a:lnTo>
                <a:lnTo>
                  <a:pt x="1777243" y="2544822"/>
                </a:lnTo>
                <a:lnTo>
                  <a:pt x="1825929" y="2558457"/>
                </a:lnTo>
                <a:lnTo>
                  <a:pt x="1875070" y="2571280"/>
                </a:lnTo>
                <a:lnTo>
                  <a:pt x="1924621" y="2583315"/>
                </a:lnTo>
                <a:lnTo>
                  <a:pt x="1974537" y="2594587"/>
                </a:lnTo>
                <a:lnTo>
                  <a:pt x="2024772" y="2605118"/>
                </a:lnTo>
                <a:lnTo>
                  <a:pt x="2075281" y="2614935"/>
                </a:lnTo>
                <a:lnTo>
                  <a:pt x="2126018" y="2624060"/>
                </a:lnTo>
                <a:lnTo>
                  <a:pt x="2176938" y="2632519"/>
                </a:lnTo>
                <a:lnTo>
                  <a:pt x="2227995" y="2640335"/>
                </a:lnTo>
                <a:lnTo>
                  <a:pt x="2279144" y="2647534"/>
                </a:lnTo>
                <a:lnTo>
                  <a:pt x="2330339" y="2654138"/>
                </a:lnTo>
                <a:lnTo>
                  <a:pt x="2381535" y="2660172"/>
                </a:lnTo>
                <a:lnTo>
                  <a:pt x="2432685" y="2665662"/>
                </a:lnTo>
                <a:lnTo>
                  <a:pt x="2483746" y="2670630"/>
                </a:lnTo>
                <a:lnTo>
                  <a:pt x="2534671" y="2675101"/>
                </a:lnTo>
                <a:lnTo>
                  <a:pt x="2585414" y="2679100"/>
                </a:lnTo>
                <a:lnTo>
                  <a:pt x="2635931" y="2682650"/>
                </a:lnTo>
                <a:lnTo>
                  <a:pt x="2686175" y="2685777"/>
                </a:lnTo>
                <a:lnTo>
                  <a:pt x="2736102" y="2688504"/>
                </a:lnTo>
                <a:lnTo>
                  <a:pt x="2785665" y="2690855"/>
                </a:lnTo>
                <a:lnTo>
                  <a:pt x="2834820" y="2692855"/>
                </a:lnTo>
                <a:lnTo>
                  <a:pt x="2883520" y="2694528"/>
                </a:lnTo>
                <a:lnTo>
                  <a:pt x="2931720" y="2695898"/>
                </a:lnTo>
                <a:lnTo>
                  <a:pt x="2979376" y="2696990"/>
                </a:lnTo>
                <a:lnTo>
                  <a:pt x="3026440" y="2697828"/>
                </a:lnTo>
                <a:lnTo>
                  <a:pt x="3072868" y="2698436"/>
                </a:lnTo>
                <a:lnTo>
                  <a:pt x="3118614" y="2698838"/>
                </a:lnTo>
                <a:lnTo>
                  <a:pt x="3163633" y="2699059"/>
                </a:lnTo>
                <a:lnTo>
                  <a:pt x="3207879" y="2699123"/>
                </a:lnTo>
                <a:lnTo>
                  <a:pt x="3251307" y="2699054"/>
                </a:lnTo>
                <a:lnTo>
                  <a:pt x="3293872" y="2698877"/>
                </a:lnTo>
                <a:lnTo>
                  <a:pt x="3342309" y="2700105"/>
                </a:lnTo>
                <a:lnTo>
                  <a:pt x="3390715" y="2704222"/>
                </a:lnTo>
                <a:lnTo>
                  <a:pt x="3439063" y="2711078"/>
                </a:lnTo>
                <a:lnTo>
                  <a:pt x="3487324" y="2720522"/>
                </a:lnTo>
                <a:lnTo>
                  <a:pt x="3535473" y="2732403"/>
                </a:lnTo>
                <a:lnTo>
                  <a:pt x="3583482" y="2746570"/>
                </a:lnTo>
                <a:lnTo>
                  <a:pt x="3631324" y="2762872"/>
                </a:lnTo>
                <a:lnTo>
                  <a:pt x="3678971" y="2781159"/>
                </a:lnTo>
                <a:lnTo>
                  <a:pt x="3726397" y="2801280"/>
                </a:lnTo>
                <a:lnTo>
                  <a:pt x="3773574" y="2823083"/>
                </a:lnTo>
                <a:lnTo>
                  <a:pt x="3820476" y="2846420"/>
                </a:lnTo>
                <a:lnTo>
                  <a:pt x="3867075" y="2871137"/>
                </a:lnTo>
                <a:lnTo>
                  <a:pt x="3913343" y="2897085"/>
                </a:lnTo>
                <a:lnTo>
                  <a:pt x="3959255" y="2924113"/>
                </a:lnTo>
                <a:lnTo>
                  <a:pt x="4004782" y="2952070"/>
                </a:lnTo>
                <a:lnTo>
                  <a:pt x="4049897" y="2980806"/>
                </a:lnTo>
                <a:lnTo>
                  <a:pt x="4094574" y="3010169"/>
                </a:lnTo>
                <a:lnTo>
                  <a:pt x="4138786" y="3040009"/>
                </a:lnTo>
                <a:lnTo>
                  <a:pt x="4182504" y="3070175"/>
                </a:lnTo>
                <a:lnTo>
                  <a:pt x="4225702" y="3100516"/>
                </a:lnTo>
                <a:lnTo>
                  <a:pt x="4268353" y="3130881"/>
                </a:lnTo>
                <a:lnTo>
                  <a:pt x="4310430" y="3161120"/>
                </a:lnTo>
                <a:lnTo>
                  <a:pt x="4351905" y="3191082"/>
                </a:lnTo>
                <a:lnTo>
                  <a:pt x="4392752" y="3220616"/>
                </a:lnTo>
                <a:lnTo>
                  <a:pt x="4432942" y="3249571"/>
                </a:lnTo>
                <a:lnTo>
                  <a:pt x="4472450" y="3277797"/>
                </a:lnTo>
                <a:lnTo>
                  <a:pt x="4511248" y="3305142"/>
                </a:lnTo>
                <a:lnTo>
                  <a:pt x="4549308" y="3331456"/>
                </a:lnTo>
                <a:lnTo>
                  <a:pt x="4586605" y="3356589"/>
                </a:lnTo>
                <a:lnTo>
                  <a:pt x="4623109" y="3380388"/>
                </a:lnTo>
                <a:lnTo>
                  <a:pt x="4658795" y="3402705"/>
                </a:lnTo>
                <a:lnTo>
                  <a:pt x="4693635" y="3423387"/>
                </a:lnTo>
                <a:lnTo>
                  <a:pt x="4727602" y="3442284"/>
                </a:lnTo>
                <a:lnTo>
                  <a:pt x="4792809" y="3474120"/>
                </a:lnTo>
                <a:lnTo>
                  <a:pt x="4854198" y="3497007"/>
                </a:lnTo>
                <a:lnTo>
                  <a:pt x="4911552" y="3509738"/>
                </a:lnTo>
                <a:lnTo>
                  <a:pt x="4938649" y="3511918"/>
                </a:lnTo>
                <a:lnTo>
                  <a:pt x="4982820" y="3509893"/>
                </a:lnTo>
                <a:lnTo>
                  <a:pt x="5023134" y="3501676"/>
                </a:lnTo>
                <a:lnTo>
                  <a:pt x="5059838" y="3487750"/>
                </a:lnTo>
                <a:lnTo>
                  <a:pt x="5093181" y="3468600"/>
                </a:lnTo>
                <a:lnTo>
                  <a:pt x="5123411" y="3444710"/>
                </a:lnTo>
                <a:lnTo>
                  <a:pt x="5150777" y="3416562"/>
                </a:lnTo>
                <a:lnTo>
                  <a:pt x="5175527" y="3384642"/>
                </a:lnTo>
                <a:lnTo>
                  <a:pt x="5197910" y="3349433"/>
                </a:lnTo>
                <a:lnTo>
                  <a:pt x="5218174" y="3311419"/>
                </a:lnTo>
                <a:lnTo>
                  <a:pt x="5236568" y="3271083"/>
                </a:lnTo>
                <a:lnTo>
                  <a:pt x="5253341" y="3228910"/>
                </a:lnTo>
                <a:lnTo>
                  <a:pt x="5268740" y="3185384"/>
                </a:lnTo>
                <a:lnTo>
                  <a:pt x="5283015" y="3140988"/>
                </a:lnTo>
                <a:lnTo>
                  <a:pt x="5296414" y="3096206"/>
                </a:lnTo>
                <a:lnTo>
                  <a:pt x="5309185" y="3051522"/>
                </a:lnTo>
                <a:lnTo>
                  <a:pt x="5321577" y="3007420"/>
                </a:lnTo>
                <a:lnTo>
                  <a:pt x="5333838" y="2964384"/>
                </a:lnTo>
                <a:lnTo>
                  <a:pt x="5346218" y="2922897"/>
                </a:lnTo>
                <a:lnTo>
                  <a:pt x="5358964" y="2883444"/>
                </a:lnTo>
                <a:lnTo>
                  <a:pt x="5372324" y="2846509"/>
                </a:lnTo>
                <a:lnTo>
                  <a:pt x="5401885" y="2782126"/>
                </a:lnTo>
                <a:lnTo>
                  <a:pt x="5440947" y="2720822"/>
                </a:lnTo>
                <a:lnTo>
                  <a:pt x="5461045" y="2682881"/>
                </a:lnTo>
                <a:lnTo>
                  <a:pt x="5479246" y="2642783"/>
                </a:lnTo>
                <a:lnTo>
                  <a:pt x="5495920" y="2601486"/>
                </a:lnTo>
                <a:lnTo>
                  <a:pt x="5511436" y="2559950"/>
                </a:lnTo>
                <a:lnTo>
                  <a:pt x="5526164" y="2519135"/>
                </a:lnTo>
                <a:lnTo>
                  <a:pt x="5540475" y="2479998"/>
                </a:lnTo>
                <a:lnTo>
                  <a:pt x="5554736" y="2443500"/>
                </a:lnTo>
                <a:lnTo>
                  <a:pt x="5584593" y="2382258"/>
                </a:lnTo>
                <a:lnTo>
                  <a:pt x="5618694" y="2343082"/>
                </a:lnTo>
                <a:lnTo>
                  <a:pt x="5659996" y="2333647"/>
                </a:lnTo>
                <a:lnTo>
                  <a:pt x="5684273" y="2342480"/>
                </a:lnTo>
                <a:lnTo>
                  <a:pt x="5741924" y="2392045"/>
                </a:lnTo>
                <a:lnTo>
                  <a:pt x="5775589" y="2435851"/>
                </a:lnTo>
                <a:lnTo>
                  <a:pt x="5813579" y="2495285"/>
                </a:lnTo>
                <a:lnTo>
                  <a:pt x="5834010" y="2530266"/>
                </a:lnTo>
                <a:lnTo>
                  <a:pt x="5855301" y="2568440"/>
                </a:lnTo>
                <a:lnTo>
                  <a:pt x="5877377" y="2609567"/>
                </a:lnTo>
                <a:lnTo>
                  <a:pt x="5900164" y="2653409"/>
                </a:lnTo>
                <a:lnTo>
                  <a:pt x="5923590" y="2699728"/>
                </a:lnTo>
                <a:lnTo>
                  <a:pt x="5947579" y="2748286"/>
                </a:lnTo>
                <a:lnTo>
                  <a:pt x="5972059" y="2798844"/>
                </a:lnTo>
                <a:lnTo>
                  <a:pt x="5996954" y="2851165"/>
                </a:lnTo>
                <a:lnTo>
                  <a:pt x="6022192" y="2905009"/>
                </a:lnTo>
                <a:lnTo>
                  <a:pt x="6047699" y="2960138"/>
                </a:lnTo>
                <a:lnTo>
                  <a:pt x="6073400" y="3016314"/>
                </a:lnTo>
                <a:lnTo>
                  <a:pt x="6099222" y="3073299"/>
                </a:lnTo>
                <a:lnTo>
                  <a:pt x="6125091" y="3130854"/>
                </a:lnTo>
                <a:lnTo>
                  <a:pt x="6150934" y="3188741"/>
                </a:lnTo>
                <a:lnTo>
                  <a:pt x="6176675" y="3246722"/>
                </a:lnTo>
                <a:lnTo>
                  <a:pt x="6202243" y="3304558"/>
                </a:lnTo>
                <a:lnTo>
                  <a:pt x="6227561" y="3362011"/>
                </a:lnTo>
                <a:lnTo>
                  <a:pt x="6252558" y="3418843"/>
                </a:lnTo>
                <a:lnTo>
                  <a:pt x="6277158" y="3474815"/>
                </a:lnTo>
                <a:lnTo>
                  <a:pt x="6301289" y="3529689"/>
                </a:lnTo>
                <a:lnTo>
                  <a:pt x="6324876" y="3583227"/>
                </a:lnTo>
                <a:lnTo>
                  <a:pt x="6347845" y="3635190"/>
                </a:lnTo>
                <a:lnTo>
                  <a:pt x="6370123" y="3685340"/>
                </a:lnTo>
                <a:lnTo>
                  <a:pt x="6391635" y="3733439"/>
                </a:lnTo>
                <a:lnTo>
                  <a:pt x="6412309" y="3779249"/>
                </a:lnTo>
                <a:lnTo>
                  <a:pt x="6432069" y="3822530"/>
                </a:lnTo>
                <a:lnTo>
                  <a:pt x="6450842" y="3863045"/>
                </a:lnTo>
                <a:lnTo>
                  <a:pt x="6468555" y="3900556"/>
                </a:lnTo>
                <a:lnTo>
                  <a:pt x="6500504" y="3965610"/>
                </a:lnTo>
                <a:lnTo>
                  <a:pt x="6561347" y="4077532"/>
                </a:lnTo>
                <a:lnTo>
                  <a:pt x="6598135" y="4138646"/>
                </a:lnTo>
                <a:lnTo>
                  <a:pt x="6626201" y="4178986"/>
                </a:lnTo>
                <a:lnTo>
                  <a:pt x="6661152" y="4209217"/>
                </a:lnTo>
                <a:lnTo>
                  <a:pt x="6670529" y="4205044"/>
                </a:lnTo>
                <a:lnTo>
                  <a:pt x="6676168" y="4191968"/>
                </a:lnTo>
                <a:lnTo>
                  <a:pt x="6679315" y="4172958"/>
                </a:lnTo>
                <a:lnTo>
                  <a:pt x="6681216" y="4150982"/>
                </a:lnTo>
              </a:path>
            </a:pathLst>
          </a:custGeom>
          <a:ln w="64008">
            <a:solidFill>
              <a:srgbClr val="7E5F00"/>
            </a:solidFill>
          </a:ln>
        </p:spPr>
        <p:txBody>
          <a:bodyPr wrap="square" lIns="0" tIns="0" rIns="0" bIns="0" rtlCol="0"/>
          <a:lstStyle/>
          <a:p>
            <a:endParaRPr/>
          </a:p>
        </p:txBody>
      </p:sp>
      <p:sp>
        <p:nvSpPr>
          <p:cNvPr id="18" name="object 10">
            <a:extLst>
              <a:ext uri="{FF2B5EF4-FFF2-40B4-BE49-F238E27FC236}">
                <a16:creationId xmlns:a16="http://schemas.microsoft.com/office/drawing/2014/main" id="{811C844C-87EA-24E5-84E9-60E4EFEF2889}"/>
              </a:ext>
            </a:extLst>
          </p:cNvPr>
          <p:cNvSpPr/>
          <p:nvPr/>
        </p:nvSpPr>
        <p:spPr>
          <a:xfrm>
            <a:off x="8777374" y="4421009"/>
            <a:ext cx="1483360" cy="1875155"/>
          </a:xfrm>
          <a:custGeom>
            <a:avLst/>
            <a:gdLst/>
            <a:ahLst/>
            <a:cxnLst/>
            <a:rect l="l" t="t" r="r" b="b"/>
            <a:pathLst>
              <a:path w="1483359" h="1875154">
                <a:moveTo>
                  <a:pt x="1482852" y="1014506"/>
                </a:moveTo>
                <a:lnTo>
                  <a:pt x="1463041" y="977358"/>
                </a:lnTo>
                <a:lnTo>
                  <a:pt x="1444647" y="937039"/>
                </a:lnTo>
                <a:lnTo>
                  <a:pt x="1427874" y="894883"/>
                </a:lnTo>
                <a:lnTo>
                  <a:pt x="1412475" y="851374"/>
                </a:lnTo>
                <a:lnTo>
                  <a:pt x="1398200" y="806994"/>
                </a:lnTo>
                <a:lnTo>
                  <a:pt x="1384801" y="762229"/>
                </a:lnTo>
                <a:lnTo>
                  <a:pt x="1372030" y="717560"/>
                </a:lnTo>
                <a:lnTo>
                  <a:pt x="1359638" y="673473"/>
                </a:lnTo>
                <a:lnTo>
                  <a:pt x="1347377" y="630451"/>
                </a:lnTo>
                <a:lnTo>
                  <a:pt x="1334997" y="588976"/>
                </a:lnTo>
                <a:lnTo>
                  <a:pt x="1322251" y="549534"/>
                </a:lnTo>
                <a:lnTo>
                  <a:pt x="1308891" y="512607"/>
                </a:lnTo>
                <a:lnTo>
                  <a:pt x="1279330" y="448234"/>
                </a:lnTo>
                <a:lnTo>
                  <a:pt x="1240268" y="386954"/>
                </a:lnTo>
                <a:lnTo>
                  <a:pt x="1220170" y="349036"/>
                </a:lnTo>
                <a:lnTo>
                  <a:pt x="1201969" y="308959"/>
                </a:lnTo>
                <a:lnTo>
                  <a:pt x="1185295" y="267684"/>
                </a:lnTo>
                <a:lnTo>
                  <a:pt x="1169779" y="226169"/>
                </a:lnTo>
                <a:lnTo>
                  <a:pt x="1155051" y="185373"/>
                </a:lnTo>
                <a:lnTo>
                  <a:pt x="1140740" y="146256"/>
                </a:lnTo>
                <a:lnTo>
                  <a:pt x="1126479" y="109776"/>
                </a:lnTo>
                <a:lnTo>
                  <a:pt x="1096622" y="48566"/>
                </a:lnTo>
                <a:lnTo>
                  <a:pt x="1062521" y="9416"/>
                </a:lnTo>
                <a:lnTo>
                  <a:pt x="1021219" y="0"/>
                </a:lnTo>
                <a:lnTo>
                  <a:pt x="996942" y="8839"/>
                </a:lnTo>
                <a:lnTo>
                  <a:pt x="939292" y="58408"/>
                </a:lnTo>
                <a:lnTo>
                  <a:pt x="905626" y="102170"/>
                </a:lnTo>
                <a:lnTo>
                  <a:pt x="867636" y="161559"/>
                </a:lnTo>
                <a:lnTo>
                  <a:pt x="847205" y="196518"/>
                </a:lnTo>
                <a:lnTo>
                  <a:pt x="825914" y="234669"/>
                </a:lnTo>
                <a:lnTo>
                  <a:pt x="803838" y="275773"/>
                </a:lnTo>
                <a:lnTo>
                  <a:pt x="781051" y="319592"/>
                </a:lnTo>
                <a:lnTo>
                  <a:pt x="757625" y="365888"/>
                </a:lnTo>
                <a:lnTo>
                  <a:pt x="733636" y="414423"/>
                </a:lnTo>
                <a:lnTo>
                  <a:pt x="709156" y="464958"/>
                </a:lnTo>
                <a:lnTo>
                  <a:pt x="684261" y="517256"/>
                </a:lnTo>
                <a:lnTo>
                  <a:pt x="659023" y="571077"/>
                </a:lnTo>
                <a:lnTo>
                  <a:pt x="633516" y="626183"/>
                </a:lnTo>
                <a:lnTo>
                  <a:pt x="607815" y="682337"/>
                </a:lnTo>
                <a:lnTo>
                  <a:pt x="581993" y="739300"/>
                </a:lnTo>
                <a:lnTo>
                  <a:pt x="556124" y="796833"/>
                </a:lnTo>
                <a:lnTo>
                  <a:pt x="530281" y="854699"/>
                </a:lnTo>
                <a:lnTo>
                  <a:pt x="504540" y="912658"/>
                </a:lnTo>
                <a:lnTo>
                  <a:pt x="478972" y="970474"/>
                </a:lnTo>
                <a:lnTo>
                  <a:pt x="453654" y="1027906"/>
                </a:lnTo>
                <a:lnTo>
                  <a:pt x="428657" y="1084718"/>
                </a:lnTo>
                <a:lnTo>
                  <a:pt x="404057" y="1140671"/>
                </a:lnTo>
                <a:lnTo>
                  <a:pt x="379926" y="1195527"/>
                </a:lnTo>
                <a:lnTo>
                  <a:pt x="356339" y="1249046"/>
                </a:lnTo>
                <a:lnTo>
                  <a:pt x="333370" y="1300992"/>
                </a:lnTo>
                <a:lnTo>
                  <a:pt x="311092" y="1351125"/>
                </a:lnTo>
                <a:lnTo>
                  <a:pt x="289580" y="1399208"/>
                </a:lnTo>
                <a:lnTo>
                  <a:pt x="268906" y="1445002"/>
                </a:lnTo>
                <a:lnTo>
                  <a:pt x="249146" y="1488269"/>
                </a:lnTo>
                <a:lnTo>
                  <a:pt x="230373" y="1528770"/>
                </a:lnTo>
                <a:lnTo>
                  <a:pt x="212660" y="1566267"/>
                </a:lnTo>
                <a:lnTo>
                  <a:pt x="180711" y="1631298"/>
                </a:lnTo>
                <a:lnTo>
                  <a:pt x="119868" y="1743180"/>
                </a:lnTo>
                <a:lnTo>
                  <a:pt x="83080" y="1804273"/>
                </a:lnTo>
                <a:lnTo>
                  <a:pt x="55014" y="1844599"/>
                </a:lnTo>
                <a:lnTo>
                  <a:pt x="20063" y="1874819"/>
                </a:lnTo>
                <a:lnTo>
                  <a:pt x="10686" y="1870647"/>
                </a:lnTo>
                <a:lnTo>
                  <a:pt x="5047" y="1857574"/>
                </a:lnTo>
                <a:lnTo>
                  <a:pt x="1900" y="1838568"/>
                </a:lnTo>
                <a:lnTo>
                  <a:pt x="0" y="1816596"/>
                </a:lnTo>
              </a:path>
            </a:pathLst>
          </a:custGeom>
          <a:ln w="64007">
            <a:solidFill>
              <a:srgbClr val="7E5F00"/>
            </a:solidFill>
          </a:ln>
        </p:spPr>
        <p:txBody>
          <a:bodyPr wrap="square" lIns="0" tIns="0" rIns="0" bIns="0" rtlCol="0"/>
          <a:lstStyle/>
          <a:p>
            <a:endParaRPr/>
          </a:p>
        </p:txBody>
      </p:sp>
      <p:sp>
        <p:nvSpPr>
          <p:cNvPr id="19" name="object 13">
            <a:extLst>
              <a:ext uri="{FF2B5EF4-FFF2-40B4-BE49-F238E27FC236}">
                <a16:creationId xmlns:a16="http://schemas.microsoft.com/office/drawing/2014/main" id="{D039C53D-4C40-4295-B624-2ECDB4E1A67D}"/>
              </a:ext>
            </a:extLst>
          </p:cNvPr>
          <p:cNvSpPr txBox="1"/>
          <p:nvPr/>
        </p:nvSpPr>
        <p:spPr>
          <a:xfrm>
            <a:off x="4005477" y="2382478"/>
            <a:ext cx="3558540" cy="1664588"/>
          </a:xfrm>
          <a:prstGeom prst="rect">
            <a:avLst/>
          </a:prstGeom>
        </p:spPr>
        <p:txBody>
          <a:bodyPr vert="horz" wrap="square" lIns="0" tIns="126364" rIns="0" bIns="0" rtlCol="0">
            <a:spAutoFit/>
          </a:bodyPr>
          <a:lstStyle/>
          <a:p>
            <a:pPr marL="480059" indent="-457200">
              <a:spcBef>
                <a:spcPts val="994"/>
              </a:spcBef>
              <a:buFont typeface="Wingdings"/>
              <a:buChar char=""/>
              <a:tabLst>
                <a:tab pos="479425" algn="l"/>
                <a:tab pos="480059" algn="l"/>
              </a:tabLst>
            </a:pPr>
            <a:r>
              <a:rPr sz="2400" dirty="0">
                <a:latin typeface="Calibri"/>
                <a:cs typeface="Calibri"/>
              </a:rPr>
              <a:t>Pick </a:t>
            </a:r>
            <a:r>
              <a:rPr sz="2400" spc="-5" dirty="0">
                <a:latin typeface="Calibri"/>
                <a:cs typeface="Calibri"/>
              </a:rPr>
              <a:t>an </a:t>
            </a:r>
            <a:r>
              <a:rPr sz="2400" dirty="0">
                <a:latin typeface="Calibri"/>
                <a:cs typeface="Calibri"/>
              </a:rPr>
              <a:t>initial </a:t>
            </a:r>
            <a:r>
              <a:rPr sz="2400" spc="-15" dirty="0">
                <a:latin typeface="Calibri"/>
                <a:cs typeface="Calibri"/>
              </a:rPr>
              <a:t>value </a:t>
            </a:r>
            <a:r>
              <a:rPr sz="2400" spc="-20" dirty="0">
                <a:latin typeface="Calibri"/>
                <a:cs typeface="Calibri"/>
              </a:rPr>
              <a:t>for</a:t>
            </a:r>
            <a:r>
              <a:rPr sz="2400" spc="-90" dirty="0">
                <a:latin typeface="Calibri"/>
                <a:cs typeface="Calibri"/>
              </a:rPr>
              <a:t> </a:t>
            </a:r>
            <a:r>
              <a:rPr sz="2400" dirty="0">
                <a:latin typeface="Calibri"/>
                <a:cs typeface="Calibri"/>
              </a:rPr>
              <a:t>w</a:t>
            </a:r>
            <a:endParaRPr sz="2400">
              <a:latin typeface="Calibri"/>
              <a:cs typeface="Calibri"/>
            </a:endParaRPr>
          </a:p>
          <a:p>
            <a:pPr marL="469900" indent="-457200">
              <a:spcBef>
                <a:spcPts val="894"/>
              </a:spcBef>
              <a:buFont typeface="Wingdings"/>
              <a:buChar char=""/>
              <a:tabLst>
                <a:tab pos="469265" algn="l"/>
                <a:tab pos="469900" algn="l"/>
              </a:tabLst>
            </a:pPr>
            <a:r>
              <a:rPr sz="2400" spc="-10" dirty="0">
                <a:latin typeface="Calibri"/>
                <a:cs typeface="Calibri"/>
              </a:rPr>
              <a:t>Compute </a:t>
            </a:r>
            <a:r>
              <a:rPr sz="2400" spc="15" dirty="0">
                <a:latin typeface="Cambria Math"/>
                <a:cs typeface="Cambria Math"/>
              </a:rPr>
              <a:t>𝜕𝐿</a:t>
            </a:r>
            <a:r>
              <a:rPr sz="3600" spc="345" baseline="2314" dirty="0">
                <a:latin typeface="Cambria Math"/>
                <a:cs typeface="Cambria Math"/>
              </a:rPr>
              <a:t> </a:t>
            </a:r>
            <a:r>
              <a:rPr sz="2400" spc="-5" dirty="0">
                <a:latin typeface="Cambria Math"/>
                <a:cs typeface="Cambria Math"/>
              </a:rPr>
              <a:t>𝜕𝑤</a:t>
            </a:r>
            <a:endParaRPr sz="2400">
              <a:latin typeface="Cambria Math"/>
              <a:cs typeface="Cambria Math"/>
            </a:endParaRPr>
          </a:p>
        </p:txBody>
      </p:sp>
      <p:sp>
        <p:nvSpPr>
          <p:cNvPr id="20" name="object 37">
            <a:extLst>
              <a:ext uri="{FF2B5EF4-FFF2-40B4-BE49-F238E27FC236}">
                <a16:creationId xmlns:a16="http://schemas.microsoft.com/office/drawing/2014/main" id="{4F50C5C3-6183-A2CB-4550-BDB8DEA493DC}"/>
              </a:ext>
            </a:extLst>
          </p:cNvPr>
          <p:cNvSpPr/>
          <p:nvPr/>
        </p:nvSpPr>
        <p:spPr>
          <a:xfrm>
            <a:off x="3106572" y="2940049"/>
            <a:ext cx="1348105" cy="1243330"/>
          </a:xfrm>
          <a:custGeom>
            <a:avLst/>
            <a:gdLst/>
            <a:ahLst/>
            <a:cxnLst/>
            <a:rect l="l" t="t" r="r" b="b"/>
            <a:pathLst>
              <a:path w="1348104" h="1243329">
                <a:moveTo>
                  <a:pt x="69087" y="1061466"/>
                </a:moveTo>
                <a:lnTo>
                  <a:pt x="0" y="1242949"/>
                </a:lnTo>
                <a:lnTo>
                  <a:pt x="186689" y="1189355"/>
                </a:lnTo>
                <a:lnTo>
                  <a:pt x="165435" y="1166241"/>
                </a:lnTo>
                <a:lnTo>
                  <a:pt x="126111" y="1166241"/>
                </a:lnTo>
                <a:lnTo>
                  <a:pt x="86994" y="1123696"/>
                </a:lnTo>
                <a:lnTo>
                  <a:pt x="108295" y="1104102"/>
                </a:lnTo>
                <a:lnTo>
                  <a:pt x="69087" y="1061466"/>
                </a:lnTo>
                <a:close/>
              </a:path>
              <a:path w="1348104" h="1243329">
                <a:moveTo>
                  <a:pt x="108295" y="1104102"/>
                </a:moveTo>
                <a:lnTo>
                  <a:pt x="86994" y="1123696"/>
                </a:lnTo>
                <a:lnTo>
                  <a:pt x="126111" y="1166241"/>
                </a:lnTo>
                <a:lnTo>
                  <a:pt x="147417" y="1146646"/>
                </a:lnTo>
                <a:lnTo>
                  <a:pt x="108295" y="1104102"/>
                </a:lnTo>
                <a:close/>
              </a:path>
              <a:path w="1348104" h="1243329">
                <a:moveTo>
                  <a:pt x="147417" y="1146646"/>
                </a:moveTo>
                <a:lnTo>
                  <a:pt x="126111" y="1166241"/>
                </a:lnTo>
                <a:lnTo>
                  <a:pt x="165435" y="1166241"/>
                </a:lnTo>
                <a:lnTo>
                  <a:pt x="147417" y="1146646"/>
                </a:lnTo>
                <a:close/>
              </a:path>
              <a:path w="1348104" h="1243329">
                <a:moveTo>
                  <a:pt x="1308608" y="0"/>
                </a:moveTo>
                <a:lnTo>
                  <a:pt x="108295" y="1104102"/>
                </a:lnTo>
                <a:lnTo>
                  <a:pt x="147417" y="1146646"/>
                </a:lnTo>
                <a:lnTo>
                  <a:pt x="1347851" y="42672"/>
                </a:lnTo>
                <a:lnTo>
                  <a:pt x="1308608" y="0"/>
                </a:lnTo>
                <a:close/>
              </a:path>
            </a:pathLst>
          </a:custGeom>
          <a:solidFill>
            <a:srgbClr val="0000FF"/>
          </a:solidFill>
        </p:spPr>
        <p:txBody>
          <a:bodyPr wrap="square" lIns="0" tIns="0" rIns="0" bIns="0" rtlCol="0"/>
          <a:lstStyle/>
          <a:p>
            <a:endParaRPr/>
          </a:p>
        </p:txBody>
      </p:sp>
      <p:sp>
        <p:nvSpPr>
          <p:cNvPr id="21" name="object 39">
            <a:extLst>
              <a:ext uri="{FF2B5EF4-FFF2-40B4-BE49-F238E27FC236}">
                <a16:creationId xmlns:a16="http://schemas.microsoft.com/office/drawing/2014/main" id="{39D35F59-A861-9F7C-9D33-F1DC42760F64}"/>
              </a:ext>
            </a:extLst>
          </p:cNvPr>
          <p:cNvSpPr/>
          <p:nvPr/>
        </p:nvSpPr>
        <p:spPr>
          <a:xfrm>
            <a:off x="2478682" y="3173222"/>
            <a:ext cx="1164336" cy="1164336"/>
          </a:xfrm>
          <a:prstGeom prst="rect">
            <a:avLst/>
          </a:prstGeom>
          <a:blipFill>
            <a:blip r:embed="rId3" cstate="print"/>
            <a:stretch>
              <a:fillRect/>
            </a:stretch>
          </a:blipFill>
        </p:spPr>
        <p:txBody>
          <a:bodyPr wrap="square" lIns="0" tIns="0" rIns="0" bIns="0" rtlCol="0"/>
          <a:lstStyle/>
          <a:p>
            <a:endParaRPr/>
          </a:p>
        </p:txBody>
      </p:sp>
      <p:sp>
        <p:nvSpPr>
          <p:cNvPr id="22" name="object 44">
            <a:extLst>
              <a:ext uri="{FF2B5EF4-FFF2-40B4-BE49-F238E27FC236}">
                <a16:creationId xmlns:a16="http://schemas.microsoft.com/office/drawing/2014/main" id="{30F991ED-96EB-E90F-1FFE-8C279916DE3C}"/>
              </a:ext>
            </a:extLst>
          </p:cNvPr>
          <p:cNvSpPr txBox="1"/>
          <p:nvPr/>
        </p:nvSpPr>
        <p:spPr>
          <a:xfrm>
            <a:off x="1477250" y="1347936"/>
            <a:ext cx="9483193" cy="979678"/>
          </a:xfrm>
          <a:prstGeom prst="rect">
            <a:avLst/>
          </a:prstGeom>
        </p:spPr>
        <p:style>
          <a:lnRef idx="1">
            <a:schemeClr val="dk1"/>
          </a:lnRef>
          <a:fillRef idx="2">
            <a:schemeClr val="dk1"/>
          </a:fillRef>
          <a:effectRef idx="1">
            <a:schemeClr val="dk1"/>
          </a:effectRef>
          <a:fontRef idx="minor">
            <a:schemeClr val="dk1"/>
          </a:fontRef>
        </p:style>
        <p:txBody>
          <a:bodyPr vert="horz" wrap="square" lIns="0" tIns="12065" rIns="0" bIns="0" rtlCol="0">
            <a:spAutoFit/>
          </a:bodyPr>
          <a:lstStyle/>
          <a:p>
            <a:pPr marL="90805">
              <a:spcBef>
                <a:spcPts val="95"/>
              </a:spcBef>
            </a:pPr>
            <a:r>
              <a:rPr sz="2800" spc="-10" dirty="0">
                <a:solidFill>
                  <a:schemeClr val="tx1"/>
                </a:solidFill>
                <a:cs typeface="Calibri"/>
              </a:rPr>
              <a:t>Find </a:t>
            </a:r>
            <a:r>
              <a:rPr sz="2800" b="1" i="1" spc="-10" dirty="0">
                <a:solidFill>
                  <a:schemeClr val="tx1"/>
                </a:solidFill>
                <a:cs typeface="Calibri"/>
              </a:rPr>
              <a:t>network parameters </a:t>
            </a:r>
            <a:r>
              <a:rPr sz="2800" spc="-5" dirty="0">
                <a:solidFill>
                  <a:schemeClr val="tx1"/>
                </a:solidFill>
                <a:cs typeface="Cambria Math"/>
              </a:rPr>
              <a:t>𝜽</a:t>
            </a:r>
            <a:r>
              <a:rPr sz="3075" spc="-7" baseline="27100" dirty="0">
                <a:solidFill>
                  <a:schemeClr val="tx1"/>
                </a:solidFill>
                <a:cs typeface="Cambria Math"/>
              </a:rPr>
              <a:t>∗ </a:t>
            </a:r>
            <a:r>
              <a:rPr sz="2800" spc="-10" dirty="0">
                <a:solidFill>
                  <a:schemeClr val="tx1"/>
                </a:solidFill>
                <a:cs typeface="Calibri"/>
              </a:rPr>
              <a:t>that </a:t>
            </a:r>
            <a:r>
              <a:rPr sz="2800" spc="-15" dirty="0">
                <a:solidFill>
                  <a:schemeClr val="tx1"/>
                </a:solidFill>
                <a:cs typeface="Calibri"/>
              </a:rPr>
              <a:t>minimize </a:t>
            </a:r>
            <a:r>
              <a:rPr sz="2800" spc="-20" dirty="0">
                <a:solidFill>
                  <a:schemeClr val="tx1"/>
                </a:solidFill>
                <a:cs typeface="Calibri"/>
              </a:rPr>
              <a:t>total </a:t>
            </a:r>
            <a:r>
              <a:rPr sz="2800" spc="-5" dirty="0">
                <a:solidFill>
                  <a:schemeClr val="tx1"/>
                </a:solidFill>
                <a:cs typeface="Calibri"/>
              </a:rPr>
              <a:t>loss</a:t>
            </a:r>
            <a:r>
              <a:rPr sz="2800" spc="50" dirty="0">
                <a:solidFill>
                  <a:schemeClr val="tx1"/>
                </a:solidFill>
                <a:cs typeface="Calibri"/>
              </a:rPr>
              <a:t> </a:t>
            </a:r>
            <a:r>
              <a:rPr sz="2800" spc="-5" dirty="0">
                <a:solidFill>
                  <a:schemeClr val="tx1"/>
                </a:solidFill>
                <a:cs typeface="Calibri"/>
              </a:rPr>
              <a:t>L</a:t>
            </a:r>
            <a:endParaRPr sz="2800" dirty="0">
              <a:solidFill>
                <a:schemeClr val="tx1"/>
              </a:solidFill>
              <a:cs typeface="Calibri"/>
            </a:endParaRPr>
          </a:p>
        </p:txBody>
      </p:sp>
      <p:sp>
        <p:nvSpPr>
          <p:cNvPr id="23" name="object 14">
            <a:extLst>
              <a:ext uri="{FF2B5EF4-FFF2-40B4-BE49-F238E27FC236}">
                <a16:creationId xmlns:a16="http://schemas.microsoft.com/office/drawing/2014/main" id="{C23E3787-8F9F-309F-BB56-55A04A547CDF}"/>
              </a:ext>
            </a:extLst>
          </p:cNvPr>
          <p:cNvSpPr/>
          <p:nvPr/>
        </p:nvSpPr>
        <p:spPr>
          <a:xfrm>
            <a:off x="2450994" y="3637724"/>
            <a:ext cx="1591310" cy="1508125"/>
          </a:xfrm>
          <a:custGeom>
            <a:avLst/>
            <a:gdLst/>
            <a:ahLst/>
            <a:cxnLst/>
            <a:rect l="l" t="t" r="r" b="b"/>
            <a:pathLst>
              <a:path w="1591310" h="1508125">
                <a:moveTo>
                  <a:pt x="0" y="0"/>
                </a:moveTo>
                <a:lnTo>
                  <a:pt x="1591310" y="1507998"/>
                </a:lnTo>
              </a:path>
            </a:pathLst>
          </a:custGeom>
          <a:ln w="57912">
            <a:solidFill>
              <a:srgbClr val="0000FF"/>
            </a:solidFill>
            <a:prstDash val="dash"/>
          </a:ln>
        </p:spPr>
        <p:txBody>
          <a:bodyPr wrap="square" lIns="0" tIns="0" rIns="0" bIns="0" rtlCol="0"/>
          <a:lstStyle/>
          <a:p>
            <a:endParaRPr dirty="0"/>
          </a:p>
        </p:txBody>
      </p:sp>
      <p:sp>
        <p:nvSpPr>
          <p:cNvPr id="24" name="object 12">
            <a:extLst>
              <a:ext uri="{FF2B5EF4-FFF2-40B4-BE49-F238E27FC236}">
                <a16:creationId xmlns:a16="http://schemas.microsoft.com/office/drawing/2014/main" id="{5E58C623-1407-6B34-D2B7-65FA3D570835}"/>
              </a:ext>
            </a:extLst>
          </p:cNvPr>
          <p:cNvSpPr/>
          <p:nvPr/>
        </p:nvSpPr>
        <p:spPr>
          <a:xfrm>
            <a:off x="3106572" y="4234298"/>
            <a:ext cx="0" cy="1471930"/>
          </a:xfrm>
          <a:custGeom>
            <a:avLst/>
            <a:gdLst/>
            <a:ahLst/>
            <a:cxnLst/>
            <a:rect l="l" t="t" r="r" b="b"/>
            <a:pathLst>
              <a:path h="1471929">
                <a:moveTo>
                  <a:pt x="0" y="0"/>
                </a:moveTo>
                <a:lnTo>
                  <a:pt x="0" y="1471879"/>
                </a:lnTo>
              </a:path>
            </a:pathLst>
          </a:custGeom>
          <a:ln w="57912">
            <a:solidFill>
              <a:srgbClr val="FF0000"/>
            </a:solidFill>
            <a:prstDash val="dash"/>
          </a:ln>
        </p:spPr>
        <p:txBody>
          <a:bodyPr wrap="square" lIns="0" tIns="0" rIns="0" bIns="0" rtlCol="0"/>
          <a:lstStyle/>
          <a:p>
            <a:endParaRPr/>
          </a:p>
        </p:txBody>
      </p:sp>
      <p:sp>
        <p:nvSpPr>
          <p:cNvPr id="25" name="object 36">
            <a:extLst>
              <a:ext uri="{FF2B5EF4-FFF2-40B4-BE49-F238E27FC236}">
                <a16:creationId xmlns:a16="http://schemas.microsoft.com/office/drawing/2014/main" id="{322DC6FD-F80F-A9EA-CAD4-D7E1EE8123E6}"/>
              </a:ext>
            </a:extLst>
          </p:cNvPr>
          <p:cNvSpPr/>
          <p:nvPr/>
        </p:nvSpPr>
        <p:spPr>
          <a:xfrm>
            <a:off x="3297072" y="5639425"/>
            <a:ext cx="605155" cy="248920"/>
          </a:xfrm>
          <a:custGeom>
            <a:avLst/>
            <a:gdLst/>
            <a:ahLst/>
            <a:cxnLst/>
            <a:rect l="l" t="t" r="r" b="b"/>
            <a:pathLst>
              <a:path w="605155" h="248920">
                <a:moveTo>
                  <a:pt x="0" y="62103"/>
                </a:moveTo>
                <a:lnTo>
                  <a:pt x="480821" y="62103"/>
                </a:lnTo>
                <a:lnTo>
                  <a:pt x="480821" y="0"/>
                </a:lnTo>
                <a:lnTo>
                  <a:pt x="605027" y="124206"/>
                </a:lnTo>
                <a:lnTo>
                  <a:pt x="480821" y="248412"/>
                </a:lnTo>
                <a:lnTo>
                  <a:pt x="480821" y="186309"/>
                </a:lnTo>
                <a:lnTo>
                  <a:pt x="0" y="186309"/>
                </a:lnTo>
                <a:lnTo>
                  <a:pt x="0" y="62103"/>
                </a:lnTo>
                <a:close/>
              </a:path>
            </a:pathLst>
          </a:custGeom>
          <a:solidFill>
            <a:srgbClr val="FF0000"/>
          </a:solidFill>
          <a:ln w="12192">
            <a:solidFill>
              <a:srgbClr val="FF0000"/>
            </a:solidFill>
          </a:ln>
        </p:spPr>
        <p:txBody>
          <a:bodyPr wrap="square" lIns="0" tIns="0" rIns="0" bIns="0" rtlCol="0"/>
          <a:lstStyle/>
          <a:p>
            <a:endParaRPr/>
          </a:p>
        </p:txBody>
      </p:sp>
      <p:sp>
        <p:nvSpPr>
          <p:cNvPr id="26" name="object 11">
            <a:extLst>
              <a:ext uri="{FF2B5EF4-FFF2-40B4-BE49-F238E27FC236}">
                <a16:creationId xmlns:a16="http://schemas.microsoft.com/office/drawing/2014/main" id="{472F3708-2511-52EB-5546-6DBF96A17973}"/>
              </a:ext>
            </a:extLst>
          </p:cNvPr>
          <p:cNvSpPr/>
          <p:nvPr/>
        </p:nvSpPr>
        <p:spPr>
          <a:xfrm>
            <a:off x="3009799" y="5649781"/>
            <a:ext cx="192024" cy="192024"/>
          </a:xfrm>
          <a:prstGeom prst="rect">
            <a:avLst/>
          </a:prstGeom>
          <a:blipFill>
            <a:blip r:embed="rId4" cstate="print"/>
            <a:stretch>
              <a:fillRect/>
            </a:stretch>
          </a:blipFill>
        </p:spPr>
        <p:txBody>
          <a:bodyPr wrap="square" lIns="0" tIns="0" rIns="0" bIns="0" rtlCol="0"/>
          <a:lstStyle/>
          <a:p>
            <a:endParaRPr/>
          </a:p>
        </p:txBody>
      </p:sp>
      <p:sp>
        <p:nvSpPr>
          <p:cNvPr id="27" name="object 3">
            <a:extLst>
              <a:ext uri="{FF2B5EF4-FFF2-40B4-BE49-F238E27FC236}">
                <a16:creationId xmlns:a16="http://schemas.microsoft.com/office/drawing/2014/main" id="{CCF72CF7-63E5-546D-7B41-8DECD16E0E1F}"/>
              </a:ext>
            </a:extLst>
          </p:cNvPr>
          <p:cNvSpPr txBox="1"/>
          <p:nvPr/>
        </p:nvSpPr>
        <p:spPr>
          <a:xfrm>
            <a:off x="498159" y="2593386"/>
            <a:ext cx="784225" cy="1137158"/>
          </a:xfrm>
          <a:prstGeom prst="rect">
            <a:avLst/>
          </a:prstGeom>
        </p:spPr>
        <p:txBody>
          <a:bodyPr vert="horz" wrap="square" lIns="0" tIns="10795" rIns="0" bIns="0" rtlCol="0">
            <a:spAutoFit/>
          </a:bodyPr>
          <a:lstStyle/>
          <a:p>
            <a:pPr marL="12700" marR="5080" indent="83820">
              <a:lnSpc>
                <a:spcPct val="100400"/>
              </a:lnSpc>
              <a:spcBef>
                <a:spcPts val="85"/>
              </a:spcBef>
            </a:pPr>
            <a:r>
              <a:rPr sz="2400" spc="-55" dirty="0">
                <a:latin typeface="Calibri"/>
                <a:cs typeface="Calibri"/>
              </a:rPr>
              <a:t>Total  </a:t>
            </a:r>
            <a:r>
              <a:rPr sz="2400" spc="-5" dirty="0">
                <a:latin typeface="Calibri"/>
                <a:cs typeface="Calibri"/>
              </a:rPr>
              <a:t>Loss</a:t>
            </a:r>
            <a:r>
              <a:rPr sz="2400" spc="-90" dirty="0">
                <a:latin typeface="Calibri"/>
                <a:cs typeface="Calibri"/>
              </a:rPr>
              <a:t> </a:t>
            </a:r>
            <a:r>
              <a:rPr sz="2400" dirty="0">
                <a:latin typeface="Cambria Math"/>
                <a:cs typeface="Cambria Math"/>
              </a:rPr>
              <a:t>𝐿</a:t>
            </a:r>
          </a:p>
        </p:txBody>
      </p:sp>
      <p:sp>
        <p:nvSpPr>
          <p:cNvPr id="28" name="object 8">
            <a:extLst>
              <a:ext uri="{FF2B5EF4-FFF2-40B4-BE49-F238E27FC236}">
                <a16:creationId xmlns:a16="http://schemas.microsoft.com/office/drawing/2014/main" id="{0BAAFE4F-0CA0-6F8F-E10F-2E177A81C5D9}"/>
              </a:ext>
            </a:extLst>
          </p:cNvPr>
          <p:cNvSpPr/>
          <p:nvPr/>
        </p:nvSpPr>
        <p:spPr>
          <a:xfrm>
            <a:off x="1574954" y="1896919"/>
            <a:ext cx="173990" cy="3877310"/>
          </a:xfrm>
          <a:custGeom>
            <a:avLst/>
            <a:gdLst/>
            <a:ahLst/>
            <a:cxnLst/>
            <a:rect l="l" t="t" r="r" b="b"/>
            <a:pathLst>
              <a:path w="173990" h="3877310">
                <a:moveTo>
                  <a:pt x="115824" y="144779"/>
                </a:moveTo>
                <a:lnTo>
                  <a:pt x="57912" y="144779"/>
                </a:lnTo>
                <a:lnTo>
                  <a:pt x="57912" y="3877170"/>
                </a:lnTo>
                <a:lnTo>
                  <a:pt x="115824" y="3877170"/>
                </a:lnTo>
                <a:lnTo>
                  <a:pt x="115824" y="144779"/>
                </a:lnTo>
                <a:close/>
              </a:path>
              <a:path w="173990" h="3877310">
                <a:moveTo>
                  <a:pt x="86868" y="0"/>
                </a:moveTo>
                <a:lnTo>
                  <a:pt x="0" y="173735"/>
                </a:lnTo>
                <a:lnTo>
                  <a:pt x="57912" y="173735"/>
                </a:lnTo>
                <a:lnTo>
                  <a:pt x="57912" y="144779"/>
                </a:lnTo>
                <a:lnTo>
                  <a:pt x="159258" y="144779"/>
                </a:lnTo>
                <a:lnTo>
                  <a:pt x="86868" y="0"/>
                </a:lnTo>
                <a:close/>
              </a:path>
              <a:path w="173990" h="3877310">
                <a:moveTo>
                  <a:pt x="159258" y="144779"/>
                </a:moveTo>
                <a:lnTo>
                  <a:pt x="115824" y="144779"/>
                </a:lnTo>
                <a:lnTo>
                  <a:pt x="115824" y="173735"/>
                </a:lnTo>
                <a:lnTo>
                  <a:pt x="173735" y="173735"/>
                </a:lnTo>
                <a:lnTo>
                  <a:pt x="159258" y="144779"/>
                </a:lnTo>
                <a:close/>
              </a:path>
            </a:pathLst>
          </a:custGeom>
          <a:solidFill>
            <a:srgbClr val="000000"/>
          </a:solidFill>
        </p:spPr>
        <p:txBody>
          <a:bodyPr wrap="square" lIns="0" tIns="0" rIns="0" bIns="0" rtlCol="0"/>
          <a:lstStyle/>
          <a:p>
            <a:endParaRPr/>
          </a:p>
        </p:txBody>
      </p:sp>
      <p:pic>
        <p:nvPicPr>
          <p:cNvPr id="47" name="Picture 46">
            <a:extLst>
              <a:ext uri="{FF2B5EF4-FFF2-40B4-BE49-F238E27FC236}">
                <a16:creationId xmlns:a16="http://schemas.microsoft.com/office/drawing/2014/main" id="{2BFB3BBF-56EB-36E5-1342-E6FA2623B64B}"/>
              </a:ext>
            </a:extLst>
          </p:cNvPr>
          <p:cNvPicPr>
            <a:picLocks noChangeAspect="1"/>
          </p:cNvPicPr>
          <p:nvPr/>
        </p:nvPicPr>
        <p:blipFill>
          <a:blip r:embed="rId5"/>
          <a:stretch>
            <a:fillRect/>
          </a:stretch>
        </p:blipFill>
        <p:spPr>
          <a:xfrm>
            <a:off x="7442047" y="2877244"/>
            <a:ext cx="3957423" cy="11035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7FA32-BAAF-1902-454E-A14C738906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7D9DC6-F78A-57C8-198F-7AE833A502DE}"/>
              </a:ext>
            </a:extLst>
          </p:cNvPr>
          <p:cNvSpPr txBox="1"/>
          <p:nvPr/>
        </p:nvSpPr>
        <p:spPr>
          <a:xfrm>
            <a:off x="548640" y="320040"/>
            <a:ext cx="10972800" cy="292388"/>
          </a:xfrm>
          <a:prstGeom prst="rect">
            <a:avLst/>
          </a:prstGeom>
          <a:noFill/>
        </p:spPr>
        <p:txBody>
          <a:bodyPr wrap="square" anchor="t">
            <a:spAutoFit/>
          </a:bodyPr>
          <a:lstStyle/>
          <a:p>
            <a:r>
              <a:rPr sz="1300" b="1" i="0" dirty="0">
                <a:solidFill>
                  <a:srgbClr val="8A9099"/>
                </a:solidFill>
                <a:latin typeface="Menlo"/>
              </a:rPr>
              <a:t>PART TWO · GRADIENT DESCENT </a:t>
            </a:r>
          </a:p>
        </p:txBody>
      </p:sp>
      <p:sp>
        <p:nvSpPr>
          <p:cNvPr id="2" name="object 3">
            <a:extLst>
              <a:ext uri="{FF2B5EF4-FFF2-40B4-BE49-F238E27FC236}">
                <a16:creationId xmlns:a16="http://schemas.microsoft.com/office/drawing/2014/main" id="{3E6FD9B5-1C25-DA01-9018-D85842FC7E70}"/>
              </a:ext>
            </a:extLst>
          </p:cNvPr>
          <p:cNvSpPr txBox="1"/>
          <p:nvPr/>
        </p:nvSpPr>
        <p:spPr>
          <a:xfrm>
            <a:off x="1649159" y="2624025"/>
            <a:ext cx="784225" cy="758825"/>
          </a:xfrm>
          <a:prstGeom prst="rect">
            <a:avLst/>
          </a:prstGeom>
        </p:spPr>
        <p:txBody>
          <a:bodyPr vert="horz" wrap="square" lIns="0" tIns="10795" rIns="0" bIns="0" rtlCol="0">
            <a:spAutoFit/>
          </a:bodyPr>
          <a:lstStyle/>
          <a:p>
            <a:pPr marL="12700" marR="5080" indent="83820">
              <a:lnSpc>
                <a:spcPct val="100400"/>
              </a:lnSpc>
              <a:spcBef>
                <a:spcPts val="85"/>
              </a:spcBef>
            </a:pPr>
            <a:r>
              <a:rPr sz="2400" spc="-55" dirty="0">
                <a:latin typeface="Calibri"/>
                <a:cs typeface="Calibri"/>
              </a:rPr>
              <a:t>Total  </a:t>
            </a:r>
            <a:r>
              <a:rPr sz="2400" spc="-5" dirty="0">
                <a:latin typeface="Calibri"/>
                <a:cs typeface="Calibri"/>
              </a:rPr>
              <a:t>Loss</a:t>
            </a:r>
            <a:r>
              <a:rPr sz="2400" spc="-90" dirty="0">
                <a:latin typeface="Calibri"/>
                <a:cs typeface="Calibri"/>
              </a:rPr>
              <a:t> </a:t>
            </a:r>
            <a:r>
              <a:rPr sz="2400" dirty="0">
                <a:latin typeface="Cambria Math"/>
                <a:cs typeface="Cambria Math"/>
              </a:rPr>
              <a:t>𝐿</a:t>
            </a:r>
            <a:endParaRPr sz="2400">
              <a:latin typeface="Cambria Math"/>
              <a:cs typeface="Cambria Math"/>
            </a:endParaRPr>
          </a:p>
        </p:txBody>
      </p:sp>
      <p:sp>
        <p:nvSpPr>
          <p:cNvPr id="5" name="object 6">
            <a:extLst>
              <a:ext uri="{FF2B5EF4-FFF2-40B4-BE49-F238E27FC236}">
                <a16:creationId xmlns:a16="http://schemas.microsoft.com/office/drawing/2014/main" id="{6737A5EB-C92B-AE98-5475-D45D94CF8317}"/>
              </a:ext>
            </a:extLst>
          </p:cNvPr>
          <p:cNvSpPr/>
          <p:nvPr/>
        </p:nvSpPr>
        <p:spPr>
          <a:xfrm>
            <a:off x="1837882" y="5503369"/>
            <a:ext cx="8281670" cy="114300"/>
          </a:xfrm>
          <a:custGeom>
            <a:avLst/>
            <a:gdLst/>
            <a:ahLst/>
            <a:cxnLst/>
            <a:rect l="l" t="t" r="r" b="b"/>
            <a:pathLst>
              <a:path w="8281670" h="114300">
                <a:moveTo>
                  <a:pt x="8166861" y="0"/>
                </a:moveTo>
                <a:lnTo>
                  <a:pt x="8166861" y="114299"/>
                </a:lnTo>
                <a:lnTo>
                  <a:pt x="8243061" y="76199"/>
                </a:lnTo>
                <a:lnTo>
                  <a:pt x="8185911" y="76199"/>
                </a:lnTo>
                <a:lnTo>
                  <a:pt x="8185911" y="38099"/>
                </a:lnTo>
                <a:lnTo>
                  <a:pt x="8243061" y="38099"/>
                </a:lnTo>
                <a:lnTo>
                  <a:pt x="8166861" y="0"/>
                </a:lnTo>
                <a:close/>
              </a:path>
              <a:path w="8281670" h="114300">
                <a:moveTo>
                  <a:pt x="8166861" y="38099"/>
                </a:moveTo>
                <a:lnTo>
                  <a:pt x="0" y="38099"/>
                </a:lnTo>
                <a:lnTo>
                  <a:pt x="0" y="76199"/>
                </a:lnTo>
                <a:lnTo>
                  <a:pt x="8166861" y="76199"/>
                </a:lnTo>
                <a:lnTo>
                  <a:pt x="8166861" y="38099"/>
                </a:lnTo>
                <a:close/>
              </a:path>
              <a:path w="8281670" h="114300">
                <a:moveTo>
                  <a:pt x="8243061" y="38099"/>
                </a:moveTo>
                <a:lnTo>
                  <a:pt x="8185911" y="38099"/>
                </a:lnTo>
                <a:lnTo>
                  <a:pt x="8185911" y="76199"/>
                </a:lnTo>
                <a:lnTo>
                  <a:pt x="8243061" y="76199"/>
                </a:lnTo>
                <a:lnTo>
                  <a:pt x="8281161" y="57149"/>
                </a:lnTo>
                <a:lnTo>
                  <a:pt x="8243061" y="38099"/>
                </a:lnTo>
                <a:close/>
              </a:path>
            </a:pathLst>
          </a:custGeom>
          <a:solidFill>
            <a:srgbClr val="000000"/>
          </a:solidFill>
        </p:spPr>
        <p:txBody>
          <a:bodyPr wrap="square" lIns="0" tIns="0" rIns="0" bIns="0" rtlCol="0"/>
          <a:lstStyle/>
          <a:p>
            <a:endParaRPr/>
          </a:p>
        </p:txBody>
      </p:sp>
      <p:sp>
        <p:nvSpPr>
          <p:cNvPr id="6" name="object 7">
            <a:extLst>
              <a:ext uri="{FF2B5EF4-FFF2-40B4-BE49-F238E27FC236}">
                <a16:creationId xmlns:a16="http://schemas.microsoft.com/office/drawing/2014/main" id="{E2DB13ED-CBE6-542D-E297-59EA5006F5DA}"/>
              </a:ext>
            </a:extLst>
          </p:cNvPr>
          <p:cNvSpPr txBox="1"/>
          <p:nvPr/>
        </p:nvSpPr>
        <p:spPr>
          <a:xfrm>
            <a:off x="9642036" y="5470857"/>
            <a:ext cx="242570" cy="415925"/>
          </a:xfrm>
          <a:prstGeom prst="rect">
            <a:avLst/>
          </a:prstGeom>
        </p:spPr>
        <p:txBody>
          <a:bodyPr vert="horz" wrap="square" lIns="0" tIns="13970" rIns="0" bIns="0" rtlCol="0">
            <a:spAutoFit/>
          </a:bodyPr>
          <a:lstStyle/>
          <a:p>
            <a:pPr marL="12700">
              <a:lnSpc>
                <a:spcPct val="100000"/>
              </a:lnSpc>
              <a:spcBef>
                <a:spcPts val="110"/>
              </a:spcBef>
            </a:pPr>
            <a:r>
              <a:rPr sz="2550" i="1" spc="0" dirty="0">
                <a:latin typeface="Times New Roman"/>
                <a:cs typeface="Times New Roman"/>
              </a:rPr>
              <a:t>w</a:t>
            </a:r>
            <a:endParaRPr sz="2550">
              <a:latin typeface="Times New Roman"/>
              <a:cs typeface="Times New Roman"/>
            </a:endParaRPr>
          </a:p>
        </p:txBody>
      </p:sp>
      <p:sp>
        <p:nvSpPr>
          <p:cNvPr id="7" name="object 8">
            <a:extLst>
              <a:ext uri="{FF2B5EF4-FFF2-40B4-BE49-F238E27FC236}">
                <a16:creationId xmlns:a16="http://schemas.microsoft.com/office/drawing/2014/main" id="{A44DD4F2-1497-5DAA-0D8C-2913229A62CF}"/>
              </a:ext>
            </a:extLst>
          </p:cNvPr>
          <p:cNvSpPr/>
          <p:nvPr/>
        </p:nvSpPr>
        <p:spPr>
          <a:xfrm>
            <a:off x="2562543" y="2005790"/>
            <a:ext cx="173990" cy="3877310"/>
          </a:xfrm>
          <a:custGeom>
            <a:avLst/>
            <a:gdLst/>
            <a:ahLst/>
            <a:cxnLst/>
            <a:rect l="l" t="t" r="r" b="b"/>
            <a:pathLst>
              <a:path w="173990" h="3877310">
                <a:moveTo>
                  <a:pt x="115824" y="144779"/>
                </a:moveTo>
                <a:lnTo>
                  <a:pt x="57912" y="144779"/>
                </a:lnTo>
                <a:lnTo>
                  <a:pt x="57912" y="3877170"/>
                </a:lnTo>
                <a:lnTo>
                  <a:pt x="115824" y="3877170"/>
                </a:lnTo>
                <a:lnTo>
                  <a:pt x="115824" y="144779"/>
                </a:lnTo>
                <a:close/>
              </a:path>
              <a:path w="173990" h="3877310">
                <a:moveTo>
                  <a:pt x="86868" y="0"/>
                </a:moveTo>
                <a:lnTo>
                  <a:pt x="0" y="173735"/>
                </a:lnTo>
                <a:lnTo>
                  <a:pt x="57912" y="173735"/>
                </a:lnTo>
                <a:lnTo>
                  <a:pt x="57912" y="144779"/>
                </a:lnTo>
                <a:lnTo>
                  <a:pt x="159258" y="144779"/>
                </a:lnTo>
                <a:lnTo>
                  <a:pt x="86868" y="0"/>
                </a:lnTo>
                <a:close/>
              </a:path>
              <a:path w="173990" h="3877310">
                <a:moveTo>
                  <a:pt x="159258" y="144779"/>
                </a:moveTo>
                <a:lnTo>
                  <a:pt x="115824" y="144779"/>
                </a:lnTo>
                <a:lnTo>
                  <a:pt x="115824" y="173735"/>
                </a:lnTo>
                <a:lnTo>
                  <a:pt x="173735" y="173735"/>
                </a:lnTo>
                <a:lnTo>
                  <a:pt x="159258" y="144779"/>
                </a:lnTo>
                <a:close/>
              </a:path>
            </a:pathLst>
          </a:custGeom>
          <a:solidFill>
            <a:srgbClr val="000000"/>
          </a:solidFill>
        </p:spPr>
        <p:txBody>
          <a:bodyPr wrap="square" lIns="0" tIns="0" rIns="0" bIns="0" rtlCol="0"/>
          <a:lstStyle/>
          <a:p>
            <a:endParaRPr/>
          </a:p>
        </p:txBody>
      </p:sp>
      <p:sp>
        <p:nvSpPr>
          <p:cNvPr id="8" name="object 11">
            <a:extLst>
              <a:ext uri="{FF2B5EF4-FFF2-40B4-BE49-F238E27FC236}">
                <a16:creationId xmlns:a16="http://schemas.microsoft.com/office/drawing/2014/main" id="{D2A53674-364B-2BE9-FA5A-85CEEF58362A}"/>
              </a:ext>
            </a:extLst>
          </p:cNvPr>
          <p:cNvSpPr/>
          <p:nvPr/>
        </p:nvSpPr>
        <p:spPr>
          <a:xfrm>
            <a:off x="3204148" y="5399737"/>
            <a:ext cx="192024" cy="192024"/>
          </a:xfrm>
          <a:prstGeom prst="rect">
            <a:avLst/>
          </a:prstGeom>
          <a:blipFill>
            <a:blip r:embed="rId3" cstate="print"/>
            <a:stretch>
              <a:fillRect/>
            </a:stretch>
          </a:blipFill>
        </p:spPr>
        <p:txBody>
          <a:bodyPr wrap="square" lIns="0" tIns="0" rIns="0" bIns="0" rtlCol="0"/>
          <a:lstStyle/>
          <a:p>
            <a:endParaRPr/>
          </a:p>
        </p:txBody>
      </p:sp>
      <p:sp>
        <p:nvSpPr>
          <p:cNvPr id="9" name="object 12">
            <a:extLst>
              <a:ext uri="{FF2B5EF4-FFF2-40B4-BE49-F238E27FC236}">
                <a16:creationId xmlns:a16="http://schemas.microsoft.com/office/drawing/2014/main" id="{28D6BA2E-E0DD-2337-756F-2A9B166481CA}"/>
              </a:ext>
            </a:extLst>
          </p:cNvPr>
          <p:cNvSpPr/>
          <p:nvPr/>
        </p:nvSpPr>
        <p:spPr>
          <a:xfrm>
            <a:off x="3281871" y="4014422"/>
            <a:ext cx="0" cy="1471930"/>
          </a:xfrm>
          <a:custGeom>
            <a:avLst/>
            <a:gdLst/>
            <a:ahLst/>
            <a:cxnLst/>
            <a:rect l="l" t="t" r="r" b="b"/>
            <a:pathLst>
              <a:path h="1471929">
                <a:moveTo>
                  <a:pt x="0" y="0"/>
                </a:moveTo>
                <a:lnTo>
                  <a:pt x="0" y="1471879"/>
                </a:lnTo>
              </a:path>
            </a:pathLst>
          </a:custGeom>
          <a:ln w="57912">
            <a:solidFill>
              <a:srgbClr val="767070"/>
            </a:solidFill>
            <a:prstDash val="dash"/>
          </a:ln>
        </p:spPr>
        <p:txBody>
          <a:bodyPr wrap="square" lIns="0" tIns="0" rIns="0" bIns="0" rtlCol="0"/>
          <a:lstStyle/>
          <a:p>
            <a:endParaRPr/>
          </a:p>
        </p:txBody>
      </p:sp>
      <p:sp>
        <p:nvSpPr>
          <p:cNvPr id="10" name="object 13">
            <a:extLst>
              <a:ext uri="{FF2B5EF4-FFF2-40B4-BE49-F238E27FC236}">
                <a16:creationId xmlns:a16="http://schemas.microsoft.com/office/drawing/2014/main" id="{60A5A135-FE77-25A7-4570-82E59B3FDE6B}"/>
              </a:ext>
            </a:extLst>
          </p:cNvPr>
          <p:cNvSpPr/>
          <p:nvPr/>
        </p:nvSpPr>
        <p:spPr>
          <a:xfrm>
            <a:off x="2582355" y="3385010"/>
            <a:ext cx="1591310" cy="1508125"/>
          </a:xfrm>
          <a:custGeom>
            <a:avLst/>
            <a:gdLst/>
            <a:ahLst/>
            <a:cxnLst/>
            <a:rect l="l" t="t" r="r" b="b"/>
            <a:pathLst>
              <a:path w="1591310" h="1508125">
                <a:moveTo>
                  <a:pt x="0" y="0"/>
                </a:moveTo>
                <a:lnTo>
                  <a:pt x="1591310" y="1507998"/>
                </a:lnTo>
              </a:path>
            </a:pathLst>
          </a:custGeom>
          <a:ln w="57912">
            <a:solidFill>
              <a:srgbClr val="0000FF"/>
            </a:solidFill>
            <a:prstDash val="dash"/>
          </a:ln>
        </p:spPr>
        <p:txBody>
          <a:bodyPr wrap="square" lIns="0" tIns="0" rIns="0" bIns="0" rtlCol="0"/>
          <a:lstStyle/>
          <a:p>
            <a:endParaRPr/>
          </a:p>
        </p:txBody>
      </p:sp>
      <p:sp>
        <p:nvSpPr>
          <p:cNvPr id="11" name="object 14">
            <a:extLst>
              <a:ext uri="{FF2B5EF4-FFF2-40B4-BE49-F238E27FC236}">
                <a16:creationId xmlns:a16="http://schemas.microsoft.com/office/drawing/2014/main" id="{05D3E740-830C-7668-F802-FD5E54E002E4}"/>
              </a:ext>
            </a:extLst>
          </p:cNvPr>
          <p:cNvSpPr/>
          <p:nvPr/>
        </p:nvSpPr>
        <p:spPr>
          <a:xfrm>
            <a:off x="4845495" y="5451554"/>
            <a:ext cx="192024" cy="192023"/>
          </a:xfrm>
          <a:prstGeom prst="rect">
            <a:avLst/>
          </a:prstGeom>
          <a:blipFill>
            <a:blip r:embed="rId4" cstate="print"/>
            <a:stretch>
              <a:fillRect/>
            </a:stretch>
          </a:blipFill>
        </p:spPr>
        <p:txBody>
          <a:bodyPr wrap="square" lIns="0" tIns="0" rIns="0" bIns="0" rtlCol="0"/>
          <a:lstStyle/>
          <a:p>
            <a:endParaRPr/>
          </a:p>
        </p:txBody>
      </p:sp>
      <p:sp>
        <p:nvSpPr>
          <p:cNvPr id="12" name="object 15">
            <a:extLst>
              <a:ext uri="{FF2B5EF4-FFF2-40B4-BE49-F238E27FC236}">
                <a16:creationId xmlns:a16="http://schemas.microsoft.com/office/drawing/2014/main" id="{A58CDA62-0E67-81AE-EAFA-88FA15817338}"/>
              </a:ext>
            </a:extLst>
          </p:cNvPr>
          <p:cNvSpPr txBox="1"/>
          <p:nvPr/>
        </p:nvSpPr>
        <p:spPr>
          <a:xfrm>
            <a:off x="3478214" y="5610456"/>
            <a:ext cx="131445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0000"/>
                </a:solidFill>
                <a:latin typeface="Cambria Math"/>
                <a:cs typeface="Cambria Math"/>
              </a:rPr>
              <a:t>−𝜂𝜕𝐿</a:t>
            </a:r>
            <a:r>
              <a:rPr sz="3600" spc="247" baseline="2314" dirty="0">
                <a:solidFill>
                  <a:srgbClr val="FF0000"/>
                </a:solidFill>
                <a:latin typeface="Cambria Math"/>
                <a:cs typeface="Cambria Math"/>
              </a:rPr>
              <a:t> </a:t>
            </a:r>
            <a:r>
              <a:rPr sz="2400" spc="-5" dirty="0">
                <a:solidFill>
                  <a:srgbClr val="FF0000"/>
                </a:solidFill>
                <a:latin typeface="Cambria Math"/>
                <a:cs typeface="Cambria Math"/>
              </a:rPr>
              <a:t>𝜕𝑤</a:t>
            </a:r>
            <a:endParaRPr sz="2400">
              <a:latin typeface="Cambria Math"/>
              <a:cs typeface="Cambria Math"/>
            </a:endParaRPr>
          </a:p>
        </p:txBody>
      </p:sp>
      <p:sp>
        <p:nvSpPr>
          <p:cNvPr id="29" name="object 19">
            <a:extLst>
              <a:ext uri="{FF2B5EF4-FFF2-40B4-BE49-F238E27FC236}">
                <a16:creationId xmlns:a16="http://schemas.microsoft.com/office/drawing/2014/main" id="{0C382274-5036-AFA7-00E5-62DC39B0A8C3}"/>
              </a:ext>
            </a:extLst>
          </p:cNvPr>
          <p:cNvSpPr txBox="1"/>
          <p:nvPr/>
        </p:nvSpPr>
        <p:spPr>
          <a:xfrm>
            <a:off x="5374324" y="5021582"/>
            <a:ext cx="2379345" cy="878840"/>
          </a:xfrm>
          <a:prstGeom prst="rect">
            <a:avLst/>
          </a:prstGeom>
        </p:spPr>
        <p:style>
          <a:lnRef idx="1">
            <a:schemeClr val="dk1"/>
          </a:lnRef>
          <a:fillRef idx="2">
            <a:schemeClr val="dk1"/>
          </a:fillRef>
          <a:effectRef idx="1">
            <a:schemeClr val="dk1"/>
          </a:effectRef>
          <a:fontRef idx="minor">
            <a:schemeClr val="dk1"/>
          </a:fontRef>
        </p:style>
        <p:txBody>
          <a:bodyPr vert="horz" wrap="square" lIns="0" tIns="12065" rIns="0" bIns="0" rtlCol="0">
            <a:spAutoFit/>
          </a:bodyPr>
          <a:lstStyle/>
          <a:p>
            <a:pPr marL="92075" marR="68580">
              <a:lnSpc>
                <a:spcPct val="100000"/>
              </a:lnSpc>
              <a:spcBef>
                <a:spcPts val="95"/>
              </a:spcBef>
            </a:pPr>
            <a:r>
              <a:rPr sz="2800" spc="-5" dirty="0">
                <a:solidFill>
                  <a:srgbClr val="FFFFFF"/>
                </a:solidFill>
                <a:latin typeface="Calibri"/>
                <a:cs typeface="Calibri"/>
              </a:rPr>
              <a:t>η is </a:t>
            </a:r>
            <a:r>
              <a:rPr sz="2800" spc="-10" dirty="0">
                <a:solidFill>
                  <a:srgbClr val="FFFFFF"/>
                </a:solidFill>
                <a:latin typeface="Calibri"/>
                <a:cs typeface="Calibri"/>
              </a:rPr>
              <a:t>called  </a:t>
            </a:r>
            <a:r>
              <a:rPr sz="2800" spc="-5" dirty="0">
                <a:solidFill>
                  <a:srgbClr val="FFFFFF"/>
                </a:solidFill>
                <a:latin typeface="Calibri"/>
                <a:cs typeface="Calibri"/>
              </a:rPr>
              <a:t>“</a:t>
            </a:r>
            <a:r>
              <a:rPr sz="2800" b="1" i="1" spc="-5" dirty="0">
                <a:solidFill>
                  <a:srgbClr val="FFFFFF"/>
                </a:solidFill>
                <a:latin typeface="Calibri"/>
                <a:cs typeface="Calibri"/>
              </a:rPr>
              <a:t>learning</a:t>
            </a:r>
            <a:r>
              <a:rPr sz="2800" b="1" i="1" spc="-45" dirty="0">
                <a:solidFill>
                  <a:srgbClr val="FFFFFF"/>
                </a:solidFill>
                <a:latin typeface="Calibri"/>
                <a:cs typeface="Calibri"/>
              </a:rPr>
              <a:t> </a:t>
            </a:r>
            <a:r>
              <a:rPr sz="2800" b="1" i="1" spc="-15" dirty="0">
                <a:solidFill>
                  <a:srgbClr val="FFFFFF"/>
                </a:solidFill>
                <a:latin typeface="Calibri"/>
                <a:cs typeface="Calibri"/>
              </a:rPr>
              <a:t>rate</a:t>
            </a:r>
            <a:r>
              <a:rPr sz="2800" spc="-15" dirty="0">
                <a:solidFill>
                  <a:srgbClr val="FFFFFF"/>
                </a:solidFill>
                <a:latin typeface="Calibri"/>
                <a:cs typeface="Calibri"/>
              </a:rPr>
              <a:t>”</a:t>
            </a:r>
            <a:endParaRPr sz="2800" dirty="0">
              <a:latin typeface="Calibri"/>
              <a:cs typeface="Calibri"/>
            </a:endParaRPr>
          </a:p>
        </p:txBody>
      </p:sp>
      <p:sp>
        <p:nvSpPr>
          <p:cNvPr id="30" name="object 20">
            <a:extLst>
              <a:ext uri="{FF2B5EF4-FFF2-40B4-BE49-F238E27FC236}">
                <a16:creationId xmlns:a16="http://schemas.microsoft.com/office/drawing/2014/main" id="{96141930-2AF5-EF34-5E92-54766B6A2569}"/>
              </a:ext>
            </a:extLst>
          </p:cNvPr>
          <p:cNvSpPr/>
          <p:nvPr/>
        </p:nvSpPr>
        <p:spPr>
          <a:xfrm>
            <a:off x="3282633" y="5149040"/>
            <a:ext cx="1663064" cy="312420"/>
          </a:xfrm>
          <a:custGeom>
            <a:avLst/>
            <a:gdLst/>
            <a:ahLst/>
            <a:cxnLst/>
            <a:rect l="l" t="t" r="r" b="b"/>
            <a:pathLst>
              <a:path w="1663064" h="312420">
                <a:moveTo>
                  <a:pt x="0" y="312419"/>
                </a:moveTo>
                <a:lnTo>
                  <a:pt x="21118" y="257913"/>
                </a:lnTo>
                <a:lnTo>
                  <a:pt x="79390" y="211776"/>
                </a:lnTo>
                <a:lnTo>
                  <a:pt x="120075" y="192949"/>
                </a:lnTo>
                <a:lnTo>
                  <a:pt x="167188" y="177537"/>
                </a:lnTo>
                <a:lnTo>
                  <a:pt x="219776" y="165983"/>
                </a:lnTo>
                <a:lnTo>
                  <a:pt x="276887" y="158726"/>
                </a:lnTo>
                <a:lnTo>
                  <a:pt x="337565" y="156209"/>
                </a:lnTo>
                <a:lnTo>
                  <a:pt x="493775" y="156209"/>
                </a:lnTo>
                <a:lnTo>
                  <a:pt x="554454" y="153693"/>
                </a:lnTo>
                <a:lnTo>
                  <a:pt x="611565" y="146436"/>
                </a:lnTo>
                <a:lnTo>
                  <a:pt x="664153" y="134882"/>
                </a:lnTo>
                <a:lnTo>
                  <a:pt x="711266" y="119470"/>
                </a:lnTo>
                <a:lnTo>
                  <a:pt x="751951" y="100643"/>
                </a:lnTo>
                <a:lnTo>
                  <a:pt x="785255" y="78841"/>
                </a:lnTo>
                <a:lnTo>
                  <a:pt x="825903" y="28078"/>
                </a:lnTo>
                <a:lnTo>
                  <a:pt x="831342" y="0"/>
                </a:lnTo>
                <a:lnTo>
                  <a:pt x="836780" y="28078"/>
                </a:lnTo>
                <a:lnTo>
                  <a:pt x="877428" y="78841"/>
                </a:lnTo>
                <a:lnTo>
                  <a:pt x="910732" y="100643"/>
                </a:lnTo>
                <a:lnTo>
                  <a:pt x="951417" y="119470"/>
                </a:lnTo>
                <a:lnTo>
                  <a:pt x="998530" y="134882"/>
                </a:lnTo>
                <a:lnTo>
                  <a:pt x="1051118" y="146436"/>
                </a:lnTo>
                <a:lnTo>
                  <a:pt x="1108229" y="153693"/>
                </a:lnTo>
                <a:lnTo>
                  <a:pt x="1168908" y="156209"/>
                </a:lnTo>
                <a:lnTo>
                  <a:pt x="1325118" y="156209"/>
                </a:lnTo>
                <a:lnTo>
                  <a:pt x="1385796" y="158726"/>
                </a:lnTo>
                <a:lnTo>
                  <a:pt x="1442907" y="165983"/>
                </a:lnTo>
                <a:lnTo>
                  <a:pt x="1495495" y="177537"/>
                </a:lnTo>
                <a:lnTo>
                  <a:pt x="1542608" y="192949"/>
                </a:lnTo>
                <a:lnTo>
                  <a:pt x="1583293" y="211776"/>
                </a:lnTo>
                <a:lnTo>
                  <a:pt x="1616597" y="233578"/>
                </a:lnTo>
                <a:lnTo>
                  <a:pt x="1657245" y="284341"/>
                </a:lnTo>
                <a:lnTo>
                  <a:pt x="1662683" y="312419"/>
                </a:lnTo>
              </a:path>
            </a:pathLst>
          </a:custGeom>
          <a:ln w="28956">
            <a:solidFill>
              <a:srgbClr val="FF0000"/>
            </a:solidFill>
          </a:ln>
        </p:spPr>
        <p:txBody>
          <a:bodyPr wrap="square" lIns="0" tIns="0" rIns="0" bIns="0" rtlCol="0"/>
          <a:lstStyle/>
          <a:p>
            <a:endParaRPr/>
          </a:p>
        </p:txBody>
      </p:sp>
      <p:sp>
        <p:nvSpPr>
          <p:cNvPr id="31" name="object 21">
            <a:extLst>
              <a:ext uri="{FF2B5EF4-FFF2-40B4-BE49-F238E27FC236}">
                <a16:creationId xmlns:a16="http://schemas.microsoft.com/office/drawing/2014/main" id="{69F95FB4-7CFA-EBD5-9C1E-F5817E004E8E}"/>
              </a:ext>
            </a:extLst>
          </p:cNvPr>
          <p:cNvSpPr txBox="1"/>
          <p:nvPr/>
        </p:nvSpPr>
        <p:spPr>
          <a:xfrm>
            <a:off x="4135439" y="2398432"/>
            <a:ext cx="4151629" cy="957580"/>
          </a:xfrm>
          <a:prstGeom prst="rect">
            <a:avLst/>
          </a:prstGeom>
          <a:ln w="57911">
            <a:solidFill>
              <a:srgbClr val="0000FF"/>
            </a:solidFill>
          </a:ln>
        </p:spPr>
        <p:txBody>
          <a:bodyPr vert="horz" wrap="square" lIns="0" tIns="27305" rIns="0" bIns="0" rtlCol="0">
            <a:spAutoFit/>
          </a:bodyPr>
          <a:lstStyle/>
          <a:p>
            <a:pPr marL="548640" indent="-457200">
              <a:lnSpc>
                <a:spcPct val="100000"/>
              </a:lnSpc>
              <a:spcBef>
                <a:spcPts val="215"/>
              </a:spcBef>
              <a:buFont typeface="Wingdings"/>
              <a:buChar char=""/>
              <a:tabLst>
                <a:tab pos="548640" algn="l"/>
                <a:tab pos="549275" algn="l"/>
              </a:tabLst>
            </a:pPr>
            <a:r>
              <a:rPr sz="2400" spc="-10" dirty="0">
                <a:latin typeface="Calibri"/>
                <a:cs typeface="Calibri"/>
              </a:rPr>
              <a:t>Compute </a:t>
            </a:r>
            <a:r>
              <a:rPr sz="2400" spc="15" dirty="0">
                <a:latin typeface="Cambria Math"/>
                <a:cs typeface="Cambria Math"/>
              </a:rPr>
              <a:t>𝜕𝐿</a:t>
            </a:r>
            <a:r>
              <a:rPr sz="3600" spc="352" baseline="2314" dirty="0">
                <a:latin typeface="Cambria Math"/>
                <a:cs typeface="Cambria Math"/>
              </a:rPr>
              <a:t> </a:t>
            </a:r>
            <a:r>
              <a:rPr sz="2400" spc="-5" dirty="0">
                <a:latin typeface="Cambria Math"/>
                <a:cs typeface="Cambria Math"/>
              </a:rPr>
              <a:t>𝜕𝑤</a:t>
            </a:r>
            <a:endParaRPr sz="2400">
              <a:latin typeface="Cambria Math"/>
              <a:cs typeface="Cambria Math"/>
            </a:endParaRPr>
          </a:p>
          <a:p>
            <a:pPr marL="1617345">
              <a:lnSpc>
                <a:spcPct val="100000"/>
              </a:lnSpc>
              <a:spcBef>
                <a:spcPts val="585"/>
              </a:spcBef>
            </a:pPr>
            <a:r>
              <a:rPr sz="2400" dirty="0">
                <a:latin typeface="Cambria Math"/>
                <a:cs typeface="Cambria Math"/>
              </a:rPr>
              <a:t>𝑤 ← 𝑤 − </a:t>
            </a:r>
            <a:r>
              <a:rPr sz="2400" spc="10" dirty="0">
                <a:latin typeface="Cambria Math"/>
                <a:cs typeface="Cambria Math"/>
              </a:rPr>
              <a:t>𝜂𝜕𝐿</a:t>
            </a:r>
            <a:r>
              <a:rPr sz="3600" spc="509" baseline="2314" dirty="0">
                <a:latin typeface="Cambria Math"/>
                <a:cs typeface="Cambria Math"/>
              </a:rPr>
              <a:t> </a:t>
            </a:r>
            <a:r>
              <a:rPr sz="2400" spc="-5" dirty="0">
                <a:latin typeface="Cambria Math"/>
                <a:cs typeface="Cambria Math"/>
              </a:rPr>
              <a:t>𝜕𝑤</a:t>
            </a:r>
            <a:endParaRPr sz="2400">
              <a:latin typeface="Cambria Math"/>
              <a:cs typeface="Cambria Math"/>
            </a:endParaRPr>
          </a:p>
        </p:txBody>
      </p:sp>
      <p:sp>
        <p:nvSpPr>
          <p:cNvPr id="32" name="object 22">
            <a:extLst>
              <a:ext uri="{FF2B5EF4-FFF2-40B4-BE49-F238E27FC236}">
                <a16:creationId xmlns:a16="http://schemas.microsoft.com/office/drawing/2014/main" id="{E2823DBE-395C-CC7A-3354-F35E7D341F1C}"/>
              </a:ext>
            </a:extLst>
          </p:cNvPr>
          <p:cNvSpPr txBox="1"/>
          <p:nvPr/>
        </p:nvSpPr>
        <p:spPr>
          <a:xfrm>
            <a:off x="4720019" y="3496007"/>
            <a:ext cx="897255" cy="391160"/>
          </a:xfrm>
          <a:prstGeom prst="rect">
            <a:avLst/>
          </a:prstGeom>
        </p:spPr>
        <p:txBody>
          <a:bodyPr vert="horz" wrap="square" lIns="0" tIns="12700" rIns="0" bIns="0" rtlCol="0">
            <a:spAutoFit/>
          </a:bodyPr>
          <a:lstStyle/>
          <a:p>
            <a:pPr marL="12700">
              <a:lnSpc>
                <a:spcPct val="100000"/>
              </a:lnSpc>
              <a:spcBef>
                <a:spcPts val="100"/>
              </a:spcBef>
            </a:pPr>
            <a:r>
              <a:rPr sz="2400" spc="-35" dirty="0">
                <a:solidFill>
                  <a:srgbClr val="0000FF"/>
                </a:solidFill>
                <a:latin typeface="Calibri"/>
                <a:cs typeface="Calibri"/>
              </a:rPr>
              <a:t>R</a:t>
            </a:r>
            <a:r>
              <a:rPr sz="2400" dirty="0">
                <a:solidFill>
                  <a:srgbClr val="0000FF"/>
                </a:solidFill>
                <a:latin typeface="Calibri"/>
                <a:cs typeface="Calibri"/>
              </a:rPr>
              <a:t>ep</a:t>
            </a:r>
            <a:r>
              <a:rPr sz="2400" spc="0" dirty="0">
                <a:solidFill>
                  <a:srgbClr val="0000FF"/>
                </a:solidFill>
                <a:latin typeface="Calibri"/>
                <a:cs typeface="Calibri"/>
              </a:rPr>
              <a:t>e</a:t>
            </a:r>
            <a:r>
              <a:rPr sz="2400" spc="-25" dirty="0">
                <a:solidFill>
                  <a:srgbClr val="0000FF"/>
                </a:solidFill>
                <a:latin typeface="Calibri"/>
                <a:cs typeface="Calibri"/>
              </a:rPr>
              <a:t>a</a:t>
            </a:r>
            <a:r>
              <a:rPr sz="2400" dirty="0">
                <a:solidFill>
                  <a:srgbClr val="0000FF"/>
                </a:solidFill>
                <a:latin typeface="Calibri"/>
                <a:cs typeface="Calibri"/>
              </a:rPr>
              <a:t>t</a:t>
            </a:r>
            <a:endParaRPr sz="2400">
              <a:latin typeface="Calibri"/>
              <a:cs typeface="Calibri"/>
            </a:endParaRPr>
          </a:p>
        </p:txBody>
      </p:sp>
      <p:sp>
        <p:nvSpPr>
          <p:cNvPr id="33" name="object 23">
            <a:extLst>
              <a:ext uri="{FF2B5EF4-FFF2-40B4-BE49-F238E27FC236}">
                <a16:creationId xmlns:a16="http://schemas.microsoft.com/office/drawing/2014/main" id="{BDC16C4A-64C2-C8A7-8CD4-CB5C4162FE4A}"/>
              </a:ext>
            </a:extLst>
          </p:cNvPr>
          <p:cNvSpPr/>
          <p:nvPr/>
        </p:nvSpPr>
        <p:spPr>
          <a:xfrm>
            <a:off x="3949383" y="6055057"/>
            <a:ext cx="895985" cy="0"/>
          </a:xfrm>
          <a:custGeom>
            <a:avLst/>
            <a:gdLst/>
            <a:ahLst/>
            <a:cxnLst/>
            <a:rect l="l" t="t" r="r" b="b"/>
            <a:pathLst>
              <a:path w="895985">
                <a:moveTo>
                  <a:pt x="0" y="0"/>
                </a:moveTo>
                <a:lnTo>
                  <a:pt x="895604" y="0"/>
                </a:lnTo>
              </a:path>
            </a:pathLst>
          </a:custGeom>
          <a:ln w="57912">
            <a:solidFill>
              <a:srgbClr val="00AF50"/>
            </a:solidFill>
          </a:ln>
        </p:spPr>
        <p:txBody>
          <a:bodyPr wrap="square" lIns="0" tIns="0" rIns="0" bIns="0" rtlCol="0"/>
          <a:lstStyle/>
          <a:p>
            <a:endParaRPr/>
          </a:p>
        </p:txBody>
      </p:sp>
      <p:sp>
        <p:nvSpPr>
          <p:cNvPr id="34" name="object 24">
            <a:extLst>
              <a:ext uri="{FF2B5EF4-FFF2-40B4-BE49-F238E27FC236}">
                <a16:creationId xmlns:a16="http://schemas.microsoft.com/office/drawing/2014/main" id="{A628BC3C-0D43-B7A8-3F21-D73A6615A41D}"/>
              </a:ext>
            </a:extLst>
          </p:cNvPr>
          <p:cNvSpPr/>
          <p:nvPr/>
        </p:nvSpPr>
        <p:spPr>
          <a:xfrm>
            <a:off x="3693351" y="6041341"/>
            <a:ext cx="205104" cy="0"/>
          </a:xfrm>
          <a:custGeom>
            <a:avLst/>
            <a:gdLst/>
            <a:ahLst/>
            <a:cxnLst/>
            <a:rect l="l" t="t" r="r" b="b"/>
            <a:pathLst>
              <a:path w="205105">
                <a:moveTo>
                  <a:pt x="0" y="0"/>
                </a:moveTo>
                <a:lnTo>
                  <a:pt x="205105" y="0"/>
                </a:lnTo>
              </a:path>
            </a:pathLst>
          </a:custGeom>
          <a:ln w="57912">
            <a:solidFill>
              <a:srgbClr val="00AF50"/>
            </a:solidFill>
          </a:ln>
        </p:spPr>
        <p:txBody>
          <a:bodyPr wrap="square" lIns="0" tIns="0" rIns="0" bIns="0" rtlCol="0"/>
          <a:lstStyle/>
          <a:p>
            <a:endParaRPr/>
          </a:p>
        </p:txBody>
      </p:sp>
      <p:sp>
        <p:nvSpPr>
          <p:cNvPr id="36" name="object 26">
            <a:extLst>
              <a:ext uri="{FF2B5EF4-FFF2-40B4-BE49-F238E27FC236}">
                <a16:creationId xmlns:a16="http://schemas.microsoft.com/office/drawing/2014/main" id="{BA3BCF19-8D9A-F77A-9B7A-3676190D41F1}"/>
              </a:ext>
            </a:extLst>
          </p:cNvPr>
          <p:cNvSpPr/>
          <p:nvPr/>
        </p:nvSpPr>
        <p:spPr>
          <a:xfrm>
            <a:off x="1501839" y="1277318"/>
            <a:ext cx="8377428" cy="865631"/>
          </a:xfrm>
          <a:prstGeom prst="rect">
            <a:avLst/>
          </a:prstGeom>
          <a:blipFill>
            <a:blip r:embed="rId5" cstate="print"/>
            <a:stretch>
              <a:fillRect/>
            </a:stretch>
          </a:blipFill>
        </p:spPr>
        <p:txBody>
          <a:bodyPr wrap="square" lIns="0" tIns="0" rIns="0" bIns="0" rtlCol="0"/>
          <a:lstStyle/>
          <a:p>
            <a:endParaRPr/>
          </a:p>
        </p:txBody>
      </p:sp>
      <p:sp>
        <p:nvSpPr>
          <p:cNvPr id="37" name="object 27">
            <a:extLst>
              <a:ext uri="{FF2B5EF4-FFF2-40B4-BE49-F238E27FC236}">
                <a16:creationId xmlns:a16="http://schemas.microsoft.com/office/drawing/2014/main" id="{33184617-33CC-DE20-150E-B6234496F695}"/>
              </a:ext>
            </a:extLst>
          </p:cNvPr>
          <p:cNvSpPr/>
          <p:nvPr/>
        </p:nvSpPr>
        <p:spPr>
          <a:xfrm>
            <a:off x="1683195" y="1376378"/>
            <a:ext cx="8353044" cy="524256"/>
          </a:xfrm>
          <a:prstGeom prst="rect">
            <a:avLst/>
          </a:prstGeom>
          <a:blipFill>
            <a:blip r:embed="rId6" cstate="print"/>
            <a:stretch>
              <a:fillRect/>
            </a:stretch>
          </a:blipFill>
        </p:spPr>
        <p:txBody>
          <a:bodyPr wrap="square" lIns="0" tIns="0" rIns="0" bIns="0" rtlCol="0"/>
          <a:lstStyle/>
          <a:p>
            <a:endParaRPr/>
          </a:p>
        </p:txBody>
      </p:sp>
      <p:sp>
        <p:nvSpPr>
          <p:cNvPr id="38" name="object 28">
            <a:extLst>
              <a:ext uri="{FF2B5EF4-FFF2-40B4-BE49-F238E27FC236}">
                <a16:creationId xmlns:a16="http://schemas.microsoft.com/office/drawing/2014/main" id="{10ECF28A-82E7-69CB-CD79-B9B88D4F7986}"/>
              </a:ext>
            </a:extLst>
          </p:cNvPr>
          <p:cNvSpPr/>
          <p:nvPr/>
        </p:nvSpPr>
        <p:spPr>
          <a:xfrm>
            <a:off x="2473720" y="1844119"/>
            <a:ext cx="3464560" cy="0"/>
          </a:xfrm>
          <a:custGeom>
            <a:avLst/>
            <a:gdLst/>
            <a:ahLst/>
            <a:cxnLst/>
            <a:rect l="l" t="t" r="r" b="b"/>
            <a:pathLst>
              <a:path w="3464560">
                <a:moveTo>
                  <a:pt x="0" y="0"/>
                </a:moveTo>
                <a:lnTo>
                  <a:pt x="3464102" y="0"/>
                </a:lnTo>
              </a:path>
            </a:pathLst>
          </a:custGeom>
          <a:ln w="10668">
            <a:solidFill>
              <a:srgbClr val="FFFFFF"/>
            </a:solidFill>
          </a:ln>
        </p:spPr>
        <p:txBody>
          <a:bodyPr wrap="square" lIns="0" tIns="0" rIns="0" bIns="0" rtlCol="0"/>
          <a:lstStyle/>
          <a:p>
            <a:endParaRPr/>
          </a:p>
        </p:txBody>
      </p:sp>
      <p:sp>
        <p:nvSpPr>
          <p:cNvPr id="39" name="object 29">
            <a:extLst>
              <a:ext uri="{FF2B5EF4-FFF2-40B4-BE49-F238E27FC236}">
                <a16:creationId xmlns:a16="http://schemas.microsoft.com/office/drawing/2014/main" id="{047C3584-D9EA-E56D-EF6B-8F9E971B7A50}"/>
              </a:ext>
            </a:extLst>
          </p:cNvPr>
          <p:cNvSpPr txBox="1"/>
          <p:nvPr/>
        </p:nvSpPr>
        <p:spPr>
          <a:xfrm>
            <a:off x="1664068" y="926797"/>
            <a:ext cx="8844737" cy="1258037"/>
          </a:xfrm>
          <a:prstGeom prst="rect">
            <a:avLst/>
          </a:prstGeom>
        </p:spPr>
        <p:style>
          <a:lnRef idx="1">
            <a:schemeClr val="dk1"/>
          </a:lnRef>
          <a:fillRef idx="2">
            <a:schemeClr val="dk1"/>
          </a:fillRef>
          <a:effectRef idx="1">
            <a:schemeClr val="dk1"/>
          </a:effectRef>
          <a:fontRef idx="minor">
            <a:schemeClr val="dk1"/>
          </a:fontRef>
        </p:style>
        <p:txBody>
          <a:bodyPr vert="horz" wrap="square" lIns="0" tIns="250190" rIns="0" bIns="0" rtlCol="0">
            <a:spAutoFit/>
          </a:bodyPr>
          <a:lstStyle/>
          <a:p>
            <a:pPr marL="90805">
              <a:lnSpc>
                <a:spcPct val="100000"/>
              </a:lnSpc>
              <a:spcBef>
                <a:spcPts val="1970"/>
              </a:spcBef>
            </a:pPr>
            <a:r>
              <a:rPr sz="2800" spc="-10" dirty="0">
                <a:solidFill>
                  <a:schemeClr val="tx1"/>
                </a:solidFill>
                <a:cs typeface="Calibri"/>
              </a:rPr>
              <a:t>Find </a:t>
            </a:r>
            <a:r>
              <a:rPr sz="2800" b="1" i="1" spc="-10" dirty="0">
                <a:solidFill>
                  <a:schemeClr val="tx1"/>
                </a:solidFill>
                <a:cs typeface="Calibri"/>
              </a:rPr>
              <a:t>network parameters </a:t>
            </a:r>
            <a:r>
              <a:rPr sz="2800" spc="-5" dirty="0">
                <a:solidFill>
                  <a:schemeClr val="tx1"/>
                </a:solidFill>
                <a:cs typeface="Cambria Math"/>
              </a:rPr>
              <a:t>𝜽</a:t>
            </a:r>
            <a:r>
              <a:rPr sz="3075" spc="-7" baseline="27100" dirty="0">
                <a:solidFill>
                  <a:schemeClr val="tx1"/>
                </a:solidFill>
                <a:cs typeface="Cambria Math"/>
              </a:rPr>
              <a:t>∗ </a:t>
            </a:r>
            <a:r>
              <a:rPr sz="2800" spc="-10" dirty="0">
                <a:solidFill>
                  <a:schemeClr val="tx1"/>
                </a:solidFill>
                <a:cs typeface="Calibri"/>
              </a:rPr>
              <a:t>that </a:t>
            </a:r>
            <a:r>
              <a:rPr sz="2800" spc="-15" dirty="0">
                <a:solidFill>
                  <a:schemeClr val="tx1"/>
                </a:solidFill>
                <a:cs typeface="Calibri"/>
              </a:rPr>
              <a:t>minimize </a:t>
            </a:r>
            <a:r>
              <a:rPr sz="2800" spc="-20" dirty="0">
                <a:solidFill>
                  <a:schemeClr val="tx1"/>
                </a:solidFill>
                <a:cs typeface="Calibri"/>
              </a:rPr>
              <a:t>total </a:t>
            </a:r>
            <a:r>
              <a:rPr sz="2800" spc="-5" dirty="0">
                <a:solidFill>
                  <a:schemeClr val="tx1"/>
                </a:solidFill>
                <a:cs typeface="Calibri"/>
              </a:rPr>
              <a:t>loss</a:t>
            </a:r>
            <a:r>
              <a:rPr sz="2800" spc="50" dirty="0">
                <a:solidFill>
                  <a:schemeClr val="tx1"/>
                </a:solidFill>
                <a:cs typeface="Calibri"/>
              </a:rPr>
              <a:t> </a:t>
            </a:r>
            <a:r>
              <a:rPr sz="2800" spc="-5" dirty="0">
                <a:solidFill>
                  <a:schemeClr val="tx1"/>
                </a:solidFill>
                <a:cs typeface="Calibri"/>
              </a:rPr>
              <a:t>L</a:t>
            </a:r>
            <a:endParaRPr sz="2800" dirty="0">
              <a:solidFill>
                <a:schemeClr val="tx1"/>
              </a:solidFill>
              <a:cs typeface="Calibri"/>
            </a:endParaRPr>
          </a:p>
          <a:p>
            <a:pPr marL="2995930" indent="-457200">
              <a:lnSpc>
                <a:spcPct val="100000"/>
              </a:lnSpc>
              <a:spcBef>
                <a:spcPts val="1605"/>
              </a:spcBef>
              <a:buFont typeface="Wingdings"/>
              <a:buChar char=""/>
              <a:tabLst>
                <a:tab pos="2995295" algn="l"/>
                <a:tab pos="2995930" algn="l"/>
              </a:tabLst>
            </a:pPr>
            <a:r>
              <a:rPr sz="2400" dirty="0">
                <a:latin typeface="Calibri"/>
                <a:cs typeface="Calibri"/>
              </a:rPr>
              <a:t>Pick </a:t>
            </a:r>
            <a:r>
              <a:rPr sz="2400" spc="-5" dirty="0">
                <a:latin typeface="Calibri"/>
                <a:cs typeface="Calibri"/>
              </a:rPr>
              <a:t>an </a:t>
            </a:r>
            <a:r>
              <a:rPr sz="2400" dirty="0">
                <a:latin typeface="Calibri"/>
                <a:cs typeface="Calibri"/>
              </a:rPr>
              <a:t>initial </a:t>
            </a:r>
            <a:r>
              <a:rPr sz="2400" spc="-15" dirty="0">
                <a:latin typeface="Calibri"/>
                <a:cs typeface="Calibri"/>
              </a:rPr>
              <a:t>value </a:t>
            </a:r>
            <a:r>
              <a:rPr sz="2400" spc="-20" dirty="0">
                <a:latin typeface="Calibri"/>
                <a:cs typeface="Calibri"/>
              </a:rPr>
              <a:t>for</a:t>
            </a:r>
            <a:r>
              <a:rPr sz="2400" spc="-30" dirty="0">
                <a:latin typeface="Calibri"/>
                <a:cs typeface="Calibri"/>
              </a:rPr>
              <a:t> </a:t>
            </a:r>
            <a:r>
              <a:rPr sz="2400" dirty="0">
                <a:latin typeface="Calibri"/>
                <a:cs typeface="Calibri"/>
              </a:rPr>
              <a:t>w</a:t>
            </a:r>
          </a:p>
        </p:txBody>
      </p:sp>
    </p:spTree>
    <p:extLst>
      <p:ext uri="{BB962C8B-B14F-4D97-AF65-F5344CB8AC3E}">
        <p14:creationId xmlns:p14="http://schemas.microsoft.com/office/powerpoint/2010/main" val="1419697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92388"/>
          </a:xfrm>
          <a:prstGeom prst="rect">
            <a:avLst/>
          </a:prstGeom>
          <a:noFill/>
        </p:spPr>
        <p:txBody>
          <a:bodyPr wrap="square" anchor="t">
            <a:spAutoFit/>
          </a:bodyPr>
          <a:lstStyle/>
          <a:p>
            <a:r>
              <a:rPr sz="1300" b="1" i="0" dirty="0">
                <a:solidFill>
                  <a:srgbClr val="8A9099"/>
                </a:solidFill>
                <a:latin typeface="Menlo"/>
              </a:rPr>
              <a:t>PART TWO · THE LEARNING RATE</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Learning rate = step size: too small, just right, too big</a:t>
            </a:r>
          </a:p>
        </p:txBody>
      </p:sp>
      <p:pic>
        <p:nvPicPr>
          <p:cNvPr id="5" name="Picture 4" descr="fig_lr_three_modes.png"/>
          <p:cNvPicPr>
            <a:picLocks noChangeAspect="1"/>
          </p:cNvPicPr>
          <p:nvPr/>
        </p:nvPicPr>
        <p:blipFill>
          <a:blip r:embed="rId3"/>
          <a:stretch>
            <a:fillRect/>
          </a:stretch>
        </p:blipFill>
        <p:spPr>
          <a:xfrm>
            <a:off x="1615086" y="1828800"/>
            <a:ext cx="8931348" cy="3566160"/>
          </a:xfrm>
          <a:prstGeom prst="rect">
            <a:avLst/>
          </a:prstGeom>
        </p:spPr>
      </p:pic>
      <p:sp>
        <p:nvSpPr>
          <p:cNvPr id="6" name="Rectangle 5"/>
          <p:cNvSpPr/>
          <p:nvPr/>
        </p:nvSpPr>
        <p:spPr>
          <a:xfrm>
            <a:off x="548640" y="548640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Same downhill rule, three step sizes. Too small crawls (and can stall short); too big overshoots and can blow up; just right settles fast. The learning rate is the single most important dial you tune all week.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E666D-6D8A-1B04-EF5E-92E1D5357EDC}"/>
              </a:ext>
            </a:extLst>
          </p:cNvPr>
          <p:cNvSpPr>
            <a:spLocks noGrp="1"/>
          </p:cNvSpPr>
          <p:nvPr>
            <p:ph type="title"/>
          </p:nvPr>
        </p:nvSpPr>
        <p:spPr/>
        <p:txBody>
          <a:bodyPr>
            <a:normAutofit/>
          </a:bodyPr>
          <a:lstStyle/>
          <a:p>
            <a:r>
              <a:rPr lang="en-US" sz="3200" dirty="0"/>
              <a:t>A 2D-view: Gradient Descent</a:t>
            </a:r>
          </a:p>
        </p:txBody>
      </p:sp>
      <p:sp>
        <p:nvSpPr>
          <p:cNvPr id="5" name="Text Placeholder 4">
            <a:extLst>
              <a:ext uri="{FF2B5EF4-FFF2-40B4-BE49-F238E27FC236}">
                <a16:creationId xmlns:a16="http://schemas.microsoft.com/office/drawing/2014/main" id="{E66B4CAC-B819-9D2C-039D-EBFCE91B1273}"/>
              </a:ext>
            </a:extLst>
          </p:cNvPr>
          <p:cNvSpPr>
            <a:spLocks noGrp="1"/>
          </p:cNvSpPr>
          <p:nvPr>
            <p:ph type="body" sz="quarter" idx="13"/>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9099"/>
                </a:solidFill>
                <a:effectLst/>
                <a:uLnTx/>
                <a:uFillTx/>
                <a:latin typeface="Menlo"/>
                <a:ea typeface="+mn-ea"/>
                <a:cs typeface="+mn-cs"/>
              </a:rPr>
              <a:t>PART TWO · More on Gradient Descent</a:t>
            </a:r>
          </a:p>
          <a:p>
            <a:endParaRPr lang="en-US" dirty="0"/>
          </a:p>
        </p:txBody>
      </p:sp>
      <p:sp>
        <p:nvSpPr>
          <p:cNvPr id="6" name="object 2">
            <a:extLst>
              <a:ext uri="{FF2B5EF4-FFF2-40B4-BE49-F238E27FC236}">
                <a16:creationId xmlns:a16="http://schemas.microsoft.com/office/drawing/2014/main" id="{FB666927-2AFD-2671-8E87-1AFCED0C0B55}"/>
              </a:ext>
            </a:extLst>
          </p:cNvPr>
          <p:cNvSpPr/>
          <p:nvPr/>
        </p:nvSpPr>
        <p:spPr>
          <a:xfrm>
            <a:off x="2740494" y="1438807"/>
            <a:ext cx="5816010" cy="4548842"/>
          </a:xfrm>
          <a:prstGeom prst="rect">
            <a:avLst/>
          </a:prstGeom>
          <a:blipFill>
            <a:blip r:embed="rId2" cstate="print"/>
            <a:stretch>
              <a:fillRect/>
            </a:stretch>
          </a:blipFill>
        </p:spPr>
        <p:txBody>
          <a:bodyPr wrap="square" lIns="0" tIns="0" rIns="0" bIns="0" rtlCol="0"/>
          <a:lstStyle/>
          <a:p>
            <a:endParaRPr/>
          </a:p>
        </p:txBody>
      </p:sp>
      <p:sp>
        <p:nvSpPr>
          <p:cNvPr id="7" name="object 3">
            <a:extLst>
              <a:ext uri="{FF2B5EF4-FFF2-40B4-BE49-F238E27FC236}">
                <a16:creationId xmlns:a16="http://schemas.microsoft.com/office/drawing/2014/main" id="{34824FC1-82F8-3155-5F56-1FBF53EC1BF0}"/>
              </a:ext>
            </a:extLst>
          </p:cNvPr>
          <p:cNvSpPr txBox="1"/>
          <p:nvPr/>
        </p:nvSpPr>
        <p:spPr>
          <a:xfrm>
            <a:off x="5600620" y="5885994"/>
            <a:ext cx="361950" cy="391160"/>
          </a:xfrm>
          <a:prstGeom prst="rect">
            <a:avLst/>
          </a:prstGeom>
        </p:spPr>
        <p:txBody>
          <a:bodyPr vert="horz" wrap="square" lIns="0" tIns="12700" rIns="0" bIns="0" rtlCol="0">
            <a:spAutoFit/>
          </a:bodyPr>
          <a:lstStyle/>
          <a:p>
            <a:pPr marL="12700">
              <a:lnSpc>
                <a:spcPct val="100000"/>
              </a:lnSpc>
              <a:spcBef>
                <a:spcPts val="100"/>
              </a:spcBef>
            </a:pPr>
            <a:r>
              <a:rPr sz="2400" spc="-145" dirty="0">
                <a:latin typeface="Cambria Math"/>
                <a:cs typeface="Cambria Math"/>
              </a:rPr>
              <a:t>𝑤</a:t>
            </a:r>
            <a:r>
              <a:rPr sz="2625" spc="52" baseline="-15873" dirty="0">
                <a:latin typeface="Cambria Math"/>
                <a:cs typeface="Cambria Math"/>
              </a:rPr>
              <a:t>1</a:t>
            </a:r>
            <a:endParaRPr sz="2625" baseline="-15873">
              <a:latin typeface="Cambria Math"/>
              <a:cs typeface="Cambria Math"/>
            </a:endParaRPr>
          </a:p>
        </p:txBody>
      </p:sp>
      <p:sp>
        <p:nvSpPr>
          <p:cNvPr id="8" name="object 4">
            <a:extLst>
              <a:ext uri="{FF2B5EF4-FFF2-40B4-BE49-F238E27FC236}">
                <a16:creationId xmlns:a16="http://schemas.microsoft.com/office/drawing/2014/main" id="{8DC839B0-299D-28E7-3BD2-946921CDC7C1}"/>
              </a:ext>
            </a:extLst>
          </p:cNvPr>
          <p:cNvSpPr txBox="1"/>
          <p:nvPr/>
        </p:nvSpPr>
        <p:spPr>
          <a:xfrm>
            <a:off x="2314495" y="3393923"/>
            <a:ext cx="369570" cy="391160"/>
          </a:xfrm>
          <a:prstGeom prst="rect">
            <a:avLst/>
          </a:prstGeom>
        </p:spPr>
        <p:txBody>
          <a:bodyPr vert="horz" wrap="square" lIns="0" tIns="12700" rIns="0" bIns="0" rtlCol="0">
            <a:spAutoFit/>
          </a:bodyPr>
          <a:lstStyle/>
          <a:p>
            <a:pPr marL="12700">
              <a:lnSpc>
                <a:spcPct val="100000"/>
              </a:lnSpc>
              <a:spcBef>
                <a:spcPts val="100"/>
              </a:spcBef>
            </a:pPr>
            <a:r>
              <a:rPr sz="2400" spc="-85" dirty="0">
                <a:latin typeface="Cambria Math"/>
                <a:cs typeface="Cambria Math"/>
              </a:rPr>
              <a:t>𝑤</a:t>
            </a:r>
            <a:r>
              <a:rPr sz="2625" spc="52" baseline="-15873" dirty="0">
                <a:latin typeface="Cambria Math"/>
                <a:cs typeface="Cambria Math"/>
              </a:rPr>
              <a:t>2</a:t>
            </a:r>
            <a:endParaRPr sz="2625" baseline="-15873" dirty="0">
              <a:latin typeface="Cambria Math"/>
              <a:cs typeface="Cambria Math"/>
            </a:endParaRPr>
          </a:p>
        </p:txBody>
      </p:sp>
      <p:sp>
        <p:nvSpPr>
          <p:cNvPr id="9" name="object 6">
            <a:extLst>
              <a:ext uri="{FF2B5EF4-FFF2-40B4-BE49-F238E27FC236}">
                <a16:creationId xmlns:a16="http://schemas.microsoft.com/office/drawing/2014/main" id="{E148BB9E-7CC0-1183-9175-136523914E14}"/>
              </a:ext>
            </a:extLst>
          </p:cNvPr>
          <p:cNvSpPr/>
          <p:nvPr/>
        </p:nvSpPr>
        <p:spPr>
          <a:xfrm>
            <a:off x="3550714" y="4903827"/>
            <a:ext cx="216407" cy="214884"/>
          </a:xfrm>
          <a:prstGeom prst="rect">
            <a:avLst/>
          </a:prstGeom>
          <a:blipFill>
            <a:blip r:embed="rId3" cstate="print"/>
            <a:stretch>
              <a:fillRect/>
            </a:stretch>
          </a:blipFill>
        </p:spPr>
        <p:txBody>
          <a:bodyPr wrap="square" lIns="0" tIns="0" rIns="0" bIns="0" rtlCol="0"/>
          <a:lstStyle/>
          <a:p>
            <a:endParaRPr/>
          </a:p>
        </p:txBody>
      </p:sp>
      <p:sp>
        <p:nvSpPr>
          <p:cNvPr id="10" name="object 7">
            <a:extLst>
              <a:ext uri="{FF2B5EF4-FFF2-40B4-BE49-F238E27FC236}">
                <a16:creationId xmlns:a16="http://schemas.microsoft.com/office/drawing/2014/main" id="{2FB0556B-6535-F929-952B-6FE61EA4F3A6}"/>
              </a:ext>
            </a:extLst>
          </p:cNvPr>
          <p:cNvSpPr/>
          <p:nvPr/>
        </p:nvSpPr>
        <p:spPr>
          <a:xfrm>
            <a:off x="3676571" y="3993236"/>
            <a:ext cx="323850" cy="924560"/>
          </a:xfrm>
          <a:custGeom>
            <a:avLst/>
            <a:gdLst/>
            <a:ahLst/>
            <a:cxnLst/>
            <a:rect l="l" t="t" r="r" b="b"/>
            <a:pathLst>
              <a:path w="323850" h="924560">
                <a:moveTo>
                  <a:pt x="250512" y="103584"/>
                </a:moveTo>
                <a:lnTo>
                  <a:pt x="0" y="912876"/>
                </a:lnTo>
                <a:lnTo>
                  <a:pt x="36321" y="924051"/>
                </a:lnTo>
                <a:lnTo>
                  <a:pt x="286853" y="114824"/>
                </a:lnTo>
                <a:lnTo>
                  <a:pt x="250512" y="103584"/>
                </a:lnTo>
                <a:close/>
              </a:path>
              <a:path w="323850" h="924560">
                <a:moveTo>
                  <a:pt x="316609" y="85343"/>
                </a:moveTo>
                <a:lnTo>
                  <a:pt x="256158" y="85343"/>
                </a:lnTo>
                <a:lnTo>
                  <a:pt x="292481" y="96646"/>
                </a:lnTo>
                <a:lnTo>
                  <a:pt x="286853" y="114824"/>
                </a:lnTo>
                <a:lnTo>
                  <a:pt x="323341" y="126110"/>
                </a:lnTo>
                <a:lnTo>
                  <a:pt x="316609" y="85343"/>
                </a:lnTo>
                <a:close/>
              </a:path>
              <a:path w="323850" h="924560">
                <a:moveTo>
                  <a:pt x="256158" y="85343"/>
                </a:moveTo>
                <a:lnTo>
                  <a:pt x="250512" y="103584"/>
                </a:lnTo>
                <a:lnTo>
                  <a:pt x="286853" y="114824"/>
                </a:lnTo>
                <a:lnTo>
                  <a:pt x="292481" y="96646"/>
                </a:lnTo>
                <a:lnTo>
                  <a:pt x="256158" y="85343"/>
                </a:lnTo>
                <a:close/>
              </a:path>
              <a:path w="323850" h="924560">
                <a:moveTo>
                  <a:pt x="302513" y="0"/>
                </a:moveTo>
                <a:lnTo>
                  <a:pt x="214121" y="92328"/>
                </a:lnTo>
                <a:lnTo>
                  <a:pt x="250512" y="103584"/>
                </a:lnTo>
                <a:lnTo>
                  <a:pt x="256158" y="85343"/>
                </a:lnTo>
                <a:lnTo>
                  <a:pt x="316609" y="85343"/>
                </a:lnTo>
                <a:lnTo>
                  <a:pt x="302513" y="0"/>
                </a:lnTo>
                <a:close/>
              </a:path>
            </a:pathLst>
          </a:custGeom>
          <a:solidFill>
            <a:srgbClr val="FF0000"/>
          </a:solidFill>
        </p:spPr>
        <p:txBody>
          <a:bodyPr wrap="square" lIns="0" tIns="0" rIns="0" bIns="0" rtlCol="0"/>
          <a:lstStyle/>
          <a:p>
            <a:endParaRPr/>
          </a:p>
        </p:txBody>
      </p:sp>
      <p:sp>
        <p:nvSpPr>
          <p:cNvPr id="11" name="object 8">
            <a:extLst>
              <a:ext uri="{FF2B5EF4-FFF2-40B4-BE49-F238E27FC236}">
                <a16:creationId xmlns:a16="http://schemas.microsoft.com/office/drawing/2014/main" id="{6B33E3EE-C61F-BE46-5D1D-2367719666C8}"/>
              </a:ext>
            </a:extLst>
          </p:cNvPr>
          <p:cNvSpPr/>
          <p:nvPr/>
        </p:nvSpPr>
        <p:spPr>
          <a:xfrm>
            <a:off x="3927142" y="3786735"/>
            <a:ext cx="216407" cy="216408"/>
          </a:xfrm>
          <a:prstGeom prst="rect">
            <a:avLst/>
          </a:prstGeom>
          <a:blipFill>
            <a:blip r:embed="rId4" cstate="print"/>
            <a:stretch>
              <a:fillRect/>
            </a:stretch>
          </a:blipFill>
        </p:spPr>
        <p:txBody>
          <a:bodyPr wrap="square" lIns="0" tIns="0" rIns="0" bIns="0" rtlCol="0"/>
          <a:lstStyle/>
          <a:p>
            <a:endParaRPr/>
          </a:p>
        </p:txBody>
      </p:sp>
      <p:sp>
        <p:nvSpPr>
          <p:cNvPr id="12" name="object 9">
            <a:extLst>
              <a:ext uri="{FF2B5EF4-FFF2-40B4-BE49-F238E27FC236}">
                <a16:creationId xmlns:a16="http://schemas.microsoft.com/office/drawing/2014/main" id="{A57B8297-4733-1475-F000-BB69B76E94A7}"/>
              </a:ext>
            </a:extLst>
          </p:cNvPr>
          <p:cNvSpPr/>
          <p:nvPr/>
        </p:nvSpPr>
        <p:spPr>
          <a:xfrm>
            <a:off x="4083352" y="3476600"/>
            <a:ext cx="401955" cy="338455"/>
          </a:xfrm>
          <a:custGeom>
            <a:avLst/>
            <a:gdLst/>
            <a:ahLst/>
            <a:cxnLst/>
            <a:rect l="l" t="t" r="r" b="b"/>
            <a:pathLst>
              <a:path w="401954" h="338454">
                <a:moveTo>
                  <a:pt x="301691" y="58270"/>
                </a:moveTo>
                <a:lnTo>
                  <a:pt x="0" y="308609"/>
                </a:lnTo>
                <a:lnTo>
                  <a:pt x="24383" y="337946"/>
                </a:lnTo>
                <a:lnTo>
                  <a:pt x="326050" y="87628"/>
                </a:lnTo>
                <a:lnTo>
                  <a:pt x="301691" y="58270"/>
                </a:lnTo>
                <a:close/>
              </a:path>
              <a:path w="401954" h="338454">
                <a:moveTo>
                  <a:pt x="381555" y="46100"/>
                </a:moveTo>
                <a:lnTo>
                  <a:pt x="316356" y="46100"/>
                </a:lnTo>
                <a:lnTo>
                  <a:pt x="340740" y="75437"/>
                </a:lnTo>
                <a:lnTo>
                  <a:pt x="326050" y="87628"/>
                </a:lnTo>
                <a:lnTo>
                  <a:pt x="350392" y="116967"/>
                </a:lnTo>
                <a:lnTo>
                  <a:pt x="381555" y="46100"/>
                </a:lnTo>
                <a:close/>
              </a:path>
              <a:path w="401954" h="338454">
                <a:moveTo>
                  <a:pt x="316356" y="46100"/>
                </a:moveTo>
                <a:lnTo>
                  <a:pt x="301691" y="58270"/>
                </a:lnTo>
                <a:lnTo>
                  <a:pt x="326050" y="87628"/>
                </a:lnTo>
                <a:lnTo>
                  <a:pt x="340740" y="75437"/>
                </a:lnTo>
                <a:lnTo>
                  <a:pt x="316356" y="46100"/>
                </a:lnTo>
                <a:close/>
              </a:path>
              <a:path w="401954" h="338454">
                <a:moveTo>
                  <a:pt x="401827" y="0"/>
                </a:moveTo>
                <a:lnTo>
                  <a:pt x="277367" y="28956"/>
                </a:lnTo>
                <a:lnTo>
                  <a:pt x="301691" y="58270"/>
                </a:lnTo>
                <a:lnTo>
                  <a:pt x="316356" y="46100"/>
                </a:lnTo>
                <a:lnTo>
                  <a:pt x="381555" y="46100"/>
                </a:lnTo>
                <a:lnTo>
                  <a:pt x="401827" y="0"/>
                </a:lnTo>
                <a:close/>
              </a:path>
            </a:pathLst>
          </a:custGeom>
          <a:solidFill>
            <a:srgbClr val="FF0000"/>
          </a:solidFill>
        </p:spPr>
        <p:txBody>
          <a:bodyPr wrap="square" lIns="0" tIns="0" rIns="0" bIns="0" rtlCol="0"/>
          <a:lstStyle/>
          <a:p>
            <a:endParaRPr/>
          </a:p>
        </p:txBody>
      </p:sp>
      <p:sp>
        <p:nvSpPr>
          <p:cNvPr id="13" name="object 10">
            <a:extLst>
              <a:ext uri="{FF2B5EF4-FFF2-40B4-BE49-F238E27FC236}">
                <a16:creationId xmlns:a16="http://schemas.microsoft.com/office/drawing/2014/main" id="{A6AA137E-AE16-848C-3C2B-1CBF375BC4AB}"/>
              </a:ext>
            </a:extLst>
          </p:cNvPr>
          <p:cNvSpPr/>
          <p:nvPr/>
        </p:nvSpPr>
        <p:spPr>
          <a:xfrm>
            <a:off x="4422442" y="3343250"/>
            <a:ext cx="216408" cy="216407"/>
          </a:xfrm>
          <a:prstGeom prst="rect">
            <a:avLst/>
          </a:prstGeom>
          <a:blipFill>
            <a:blip r:embed="rId4" cstate="print"/>
            <a:stretch>
              <a:fillRect/>
            </a:stretch>
          </a:blipFill>
        </p:spPr>
        <p:txBody>
          <a:bodyPr wrap="square" lIns="0" tIns="0" rIns="0" bIns="0" rtlCol="0"/>
          <a:lstStyle/>
          <a:p>
            <a:endParaRPr/>
          </a:p>
        </p:txBody>
      </p:sp>
      <p:sp>
        <p:nvSpPr>
          <p:cNvPr id="14" name="object 11">
            <a:extLst>
              <a:ext uri="{FF2B5EF4-FFF2-40B4-BE49-F238E27FC236}">
                <a16:creationId xmlns:a16="http://schemas.microsoft.com/office/drawing/2014/main" id="{ADD14E8D-4B1C-9183-45ED-5BC6C3C3DCDB}"/>
              </a:ext>
            </a:extLst>
          </p:cNvPr>
          <p:cNvSpPr/>
          <p:nvPr/>
        </p:nvSpPr>
        <p:spPr>
          <a:xfrm>
            <a:off x="4637452" y="3320263"/>
            <a:ext cx="528320" cy="123825"/>
          </a:xfrm>
          <a:custGeom>
            <a:avLst/>
            <a:gdLst/>
            <a:ahLst/>
            <a:cxnLst/>
            <a:rect l="l" t="t" r="r" b="b"/>
            <a:pathLst>
              <a:path w="528320" h="123825">
                <a:moveTo>
                  <a:pt x="412459" y="37897"/>
                </a:moveTo>
                <a:lnTo>
                  <a:pt x="0" y="85979"/>
                </a:lnTo>
                <a:lnTo>
                  <a:pt x="4317" y="123825"/>
                </a:lnTo>
                <a:lnTo>
                  <a:pt x="416862" y="75747"/>
                </a:lnTo>
                <a:lnTo>
                  <a:pt x="412459" y="37897"/>
                </a:lnTo>
                <a:close/>
              </a:path>
              <a:path w="528320" h="123825">
                <a:moveTo>
                  <a:pt x="506476" y="35687"/>
                </a:moveTo>
                <a:lnTo>
                  <a:pt x="431418" y="35687"/>
                </a:lnTo>
                <a:lnTo>
                  <a:pt x="435863" y="73532"/>
                </a:lnTo>
                <a:lnTo>
                  <a:pt x="416862" y="75747"/>
                </a:lnTo>
                <a:lnTo>
                  <a:pt x="421259" y="113537"/>
                </a:lnTo>
                <a:lnTo>
                  <a:pt x="528192" y="43561"/>
                </a:lnTo>
                <a:lnTo>
                  <a:pt x="506476" y="35687"/>
                </a:lnTo>
                <a:close/>
              </a:path>
              <a:path w="528320" h="123825">
                <a:moveTo>
                  <a:pt x="431418" y="35687"/>
                </a:moveTo>
                <a:lnTo>
                  <a:pt x="412459" y="37897"/>
                </a:lnTo>
                <a:lnTo>
                  <a:pt x="416862" y="75747"/>
                </a:lnTo>
                <a:lnTo>
                  <a:pt x="435863" y="73532"/>
                </a:lnTo>
                <a:lnTo>
                  <a:pt x="431418" y="35687"/>
                </a:lnTo>
                <a:close/>
              </a:path>
              <a:path w="528320" h="123825">
                <a:moveTo>
                  <a:pt x="408050" y="0"/>
                </a:moveTo>
                <a:lnTo>
                  <a:pt x="412459" y="37897"/>
                </a:lnTo>
                <a:lnTo>
                  <a:pt x="431418" y="35687"/>
                </a:lnTo>
                <a:lnTo>
                  <a:pt x="506476" y="35687"/>
                </a:lnTo>
                <a:lnTo>
                  <a:pt x="408050" y="0"/>
                </a:lnTo>
                <a:close/>
              </a:path>
            </a:pathLst>
          </a:custGeom>
          <a:solidFill>
            <a:srgbClr val="FF0000"/>
          </a:solidFill>
        </p:spPr>
        <p:txBody>
          <a:bodyPr wrap="square" lIns="0" tIns="0" rIns="0" bIns="0" rtlCol="0"/>
          <a:lstStyle/>
          <a:p>
            <a:endParaRPr/>
          </a:p>
        </p:txBody>
      </p:sp>
      <p:sp>
        <p:nvSpPr>
          <p:cNvPr id="15" name="object 13">
            <a:extLst>
              <a:ext uri="{FF2B5EF4-FFF2-40B4-BE49-F238E27FC236}">
                <a16:creationId xmlns:a16="http://schemas.microsoft.com/office/drawing/2014/main" id="{63AB5AC7-4288-A234-7DED-C7C9C19EA624}"/>
              </a:ext>
            </a:extLst>
          </p:cNvPr>
          <p:cNvSpPr/>
          <p:nvPr/>
        </p:nvSpPr>
        <p:spPr>
          <a:xfrm>
            <a:off x="3634533" y="4972406"/>
            <a:ext cx="4027932" cy="579119"/>
          </a:xfrm>
          <a:prstGeom prst="rect">
            <a:avLst/>
          </a:prstGeom>
          <a:blipFill>
            <a:blip r:embed="rId5" cstate="print"/>
            <a:stretch>
              <a:fillRect/>
            </a:stretch>
          </a:blipFill>
        </p:spPr>
        <p:txBody>
          <a:bodyPr wrap="square" lIns="0" tIns="0" rIns="0" bIns="0" rtlCol="0"/>
          <a:lstStyle/>
          <a:p>
            <a:endParaRPr/>
          </a:p>
        </p:txBody>
      </p:sp>
      <p:sp>
        <p:nvSpPr>
          <p:cNvPr id="16" name="object 15">
            <a:extLst>
              <a:ext uri="{FF2B5EF4-FFF2-40B4-BE49-F238E27FC236}">
                <a16:creationId xmlns:a16="http://schemas.microsoft.com/office/drawing/2014/main" id="{1CDCE4A5-69B1-AAF2-14ED-2BAD24703587}"/>
              </a:ext>
            </a:extLst>
          </p:cNvPr>
          <p:cNvSpPr/>
          <p:nvPr/>
        </p:nvSpPr>
        <p:spPr>
          <a:xfrm>
            <a:off x="3693970" y="5012030"/>
            <a:ext cx="3909059" cy="461772"/>
          </a:xfrm>
          <a:prstGeom prst="rect">
            <a:avLst/>
          </a:prstGeom>
          <a:blipFill>
            <a:blip r:embed="rId6" cstate="print"/>
            <a:stretch>
              <a:fillRect/>
            </a:stretch>
          </a:blipFill>
        </p:spPr>
        <p:txBody>
          <a:bodyPr wrap="square" lIns="0" tIns="0" rIns="0" bIns="0" rtlCol="0"/>
          <a:lstStyle/>
          <a:p>
            <a:endParaRPr/>
          </a:p>
        </p:txBody>
      </p:sp>
      <p:sp>
        <p:nvSpPr>
          <p:cNvPr id="17" name="object 16">
            <a:extLst>
              <a:ext uri="{FF2B5EF4-FFF2-40B4-BE49-F238E27FC236}">
                <a16:creationId xmlns:a16="http://schemas.microsoft.com/office/drawing/2014/main" id="{1A5DB013-B2E6-86D5-E5E6-980FB829A6E2}"/>
              </a:ext>
            </a:extLst>
          </p:cNvPr>
          <p:cNvSpPr/>
          <p:nvPr/>
        </p:nvSpPr>
        <p:spPr>
          <a:xfrm>
            <a:off x="4195365" y="4332327"/>
            <a:ext cx="3834384" cy="579119"/>
          </a:xfrm>
          <a:prstGeom prst="rect">
            <a:avLst/>
          </a:prstGeom>
          <a:blipFill>
            <a:blip r:embed="rId7" cstate="print"/>
            <a:stretch>
              <a:fillRect/>
            </a:stretch>
          </a:blipFill>
        </p:spPr>
        <p:txBody>
          <a:bodyPr wrap="square" lIns="0" tIns="0" rIns="0" bIns="0" rtlCol="0"/>
          <a:lstStyle/>
          <a:p>
            <a:endParaRPr/>
          </a:p>
        </p:txBody>
      </p:sp>
      <p:sp>
        <p:nvSpPr>
          <p:cNvPr id="18" name="object 17">
            <a:extLst>
              <a:ext uri="{FF2B5EF4-FFF2-40B4-BE49-F238E27FC236}">
                <a16:creationId xmlns:a16="http://schemas.microsoft.com/office/drawing/2014/main" id="{ABD32F6A-22A7-C662-E0EB-65B46D6984A0}"/>
              </a:ext>
            </a:extLst>
          </p:cNvPr>
          <p:cNvSpPr/>
          <p:nvPr/>
        </p:nvSpPr>
        <p:spPr>
          <a:xfrm>
            <a:off x="4228893" y="3744062"/>
            <a:ext cx="3924300" cy="2060448"/>
          </a:xfrm>
          <a:prstGeom prst="rect">
            <a:avLst/>
          </a:prstGeom>
          <a:blipFill>
            <a:blip r:embed="rId8" cstate="print"/>
            <a:stretch>
              <a:fillRect/>
            </a:stretch>
          </a:blipFill>
        </p:spPr>
        <p:txBody>
          <a:bodyPr wrap="square" lIns="0" tIns="0" rIns="0" bIns="0" rtlCol="0"/>
          <a:lstStyle/>
          <a:p>
            <a:endParaRPr/>
          </a:p>
        </p:txBody>
      </p:sp>
      <p:sp>
        <p:nvSpPr>
          <p:cNvPr id="19" name="object 18">
            <a:extLst>
              <a:ext uri="{FF2B5EF4-FFF2-40B4-BE49-F238E27FC236}">
                <a16:creationId xmlns:a16="http://schemas.microsoft.com/office/drawing/2014/main" id="{2B677114-DA3D-C4AF-E5C3-325133E06B4E}"/>
              </a:ext>
            </a:extLst>
          </p:cNvPr>
          <p:cNvSpPr/>
          <p:nvPr/>
        </p:nvSpPr>
        <p:spPr>
          <a:xfrm>
            <a:off x="4254802" y="4371950"/>
            <a:ext cx="3715511" cy="461771"/>
          </a:xfrm>
          <a:prstGeom prst="rect">
            <a:avLst/>
          </a:prstGeom>
          <a:blipFill>
            <a:blip r:embed="rId9" cstate="print"/>
            <a:stretch>
              <a:fillRect/>
            </a:stretch>
          </a:blipFill>
        </p:spPr>
        <p:txBody>
          <a:bodyPr wrap="square" lIns="0" tIns="0" rIns="0" bIns="0" rtlCol="0"/>
          <a:lstStyle/>
          <a:p>
            <a:endParaRPr/>
          </a:p>
        </p:txBody>
      </p:sp>
      <p:sp>
        <p:nvSpPr>
          <p:cNvPr id="20" name="object 19">
            <a:extLst>
              <a:ext uri="{FF2B5EF4-FFF2-40B4-BE49-F238E27FC236}">
                <a16:creationId xmlns:a16="http://schemas.microsoft.com/office/drawing/2014/main" id="{06AD2EE9-63B4-802B-A0D0-CAEAEDDB7FB0}"/>
              </a:ext>
            </a:extLst>
          </p:cNvPr>
          <p:cNvSpPr txBox="1"/>
          <p:nvPr/>
        </p:nvSpPr>
        <p:spPr>
          <a:xfrm>
            <a:off x="3924221" y="4387953"/>
            <a:ext cx="4046220" cy="1031240"/>
          </a:xfrm>
          <a:prstGeom prst="rect">
            <a:avLst/>
          </a:prstGeom>
        </p:spPr>
        <p:txBody>
          <a:bodyPr vert="horz" wrap="square" lIns="0" tIns="12700" rIns="0" bIns="0" rtlCol="0">
            <a:spAutoFit/>
          </a:bodyPr>
          <a:lstStyle/>
          <a:p>
            <a:pPr marL="504825">
              <a:lnSpc>
                <a:spcPct val="100000"/>
              </a:lnSpc>
              <a:spcBef>
                <a:spcPts val="100"/>
              </a:spcBef>
            </a:pPr>
            <a:r>
              <a:rPr sz="2400" spc="-5" dirty="0">
                <a:solidFill>
                  <a:srgbClr val="FFFFFF"/>
                </a:solidFill>
                <a:latin typeface="Cambria Math"/>
                <a:cs typeface="Cambria Math"/>
              </a:rPr>
              <a:t>(−𝜂 </a:t>
            </a:r>
            <a:r>
              <a:rPr sz="2400" spc="15" dirty="0">
                <a:solidFill>
                  <a:srgbClr val="FFFFFF"/>
                </a:solidFill>
                <a:latin typeface="Cambria Math"/>
                <a:cs typeface="Cambria Math"/>
              </a:rPr>
              <a:t>𝜕𝐿</a:t>
            </a:r>
            <a:r>
              <a:rPr sz="3600" spc="22" baseline="2314" dirty="0">
                <a:solidFill>
                  <a:srgbClr val="FFFFFF"/>
                </a:solidFill>
                <a:latin typeface="Cambria Math"/>
                <a:cs typeface="Cambria Math"/>
              </a:rPr>
              <a:t> </a:t>
            </a:r>
            <a:r>
              <a:rPr sz="2400" spc="5" dirty="0">
                <a:solidFill>
                  <a:srgbClr val="FFFFFF"/>
                </a:solidFill>
                <a:latin typeface="Cambria Math"/>
                <a:cs typeface="Cambria Math"/>
              </a:rPr>
              <a:t>𝜕𝑤</a:t>
            </a:r>
            <a:r>
              <a:rPr sz="2625" spc="7" baseline="-15873" dirty="0">
                <a:solidFill>
                  <a:srgbClr val="FFFFFF"/>
                </a:solidFill>
                <a:latin typeface="Cambria Math"/>
                <a:cs typeface="Cambria Math"/>
              </a:rPr>
              <a:t>1</a:t>
            </a:r>
            <a:r>
              <a:rPr sz="2400" spc="5" dirty="0">
                <a:solidFill>
                  <a:srgbClr val="FFFFFF"/>
                </a:solidFill>
                <a:latin typeface="Calibri"/>
                <a:cs typeface="Calibri"/>
              </a:rPr>
              <a:t>, </a:t>
            </a:r>
            <a:r>
              <a:rPr sz="2400" spc="-5" dirty="0">
                <a:solidFill>
                  <a:srgbClr val="FFFFFF"/>
                </a:solidFill>
                <a:latin typeface="Cambria Math"/>
                <a:cs typeface="Cambria Math"/>
              </a:rPr>
              <a:t>−𝜂 </a:t>
            </a:r>
            <a:r>
              <a:rPr sz="2400" spc="15" dirty="0">
                <a:solidFill>
                  <a:srgbClr val="FFFFFF"/>
                </a:solidFill>
                <a:latin typeface="Cambria Math"/>
                <a:cs typeface="Cambria Math"/>
              </a:rPr>
              <a:t>𝜕𝐿</a:t>
            </a:r>
            <a:r>
              <a:rPr sz="3600" spc="502" baseline="2314" dirty="0">
                <a:solidFill>
                  <a:srgbClr val="FFFFFF"/>
                </a:solidFill>
                <a:latin typeface="Cambria Math"/>
                <a:cs typeface="Cambria Math"/>
              </a:rPr>
              <a:t> </a:t>
            </a:r>
            <a:r>
              <a:rPr sz="2400" spc="25" dirty="0">
                <a:solidFill>
                  <a:srgbClr val="FFFFFF"/>
                </a:solidFill>
                <a:latin typeface="Cambria Math"/>
                <a:cs typeface="Cambria Math"/>
              </a:rPr>
              <a:t>𝜕𝑤</a:t>
            </a:r>
            <a:r>
              <a:rPr sz="2625" spc="37" baseline="-15873" dirty="0">
                <a:solidFill>
                  <a:srgbClr val="FFFFFF"/>
                </a:solidFill>
                <a:latin typeface="Cambria Math"/>
                <a:cs typeface="Cambria Math"/>
              </a:rPr>
              <a:t>2</a:t>
            </a:r>
            <a:r>
              <a:rPr sz="2400" spc="25" dirty="0">
                <a:solidFill>
                  <a:srgbClr val="FFFFFF"/>
                </a:solidFill>
                <a:latin typeface="Cambria Math"/>
                <a:cs typeface="Cambria Math"/>
              </a:rPr>
              <a:t>)</a:t>
            </a:r>
            <a:endParaRPr sz="2400">
              <a:latin typeface="Cambria Math"/>
              <a:cs typeface="Cambria Math"/>
            </a:endParaRPr>
          </a:p>
          <a:p>
            <a:pPr marL="12700">
              <a:lnSpc>
                <a:spcPct val="100000"/>
              </a:lnSpc>
              <a:spcBef>
                <a:spcPts val="2160"/>
              </a:spcBef>
            </a:pPr>
            <a:r>
              <a:rPr sz="2400" spc="-10" dirty="0">
                <a:solidFill>
                  <a:srgbClr val="FFFFFF"/>
                </a:solidFill>
                <a:latin typeface="Calibri"/>
                <a:cs typeface="Calibri"/>
              </a:rPr>
              <a:t>Compute </a:t>
            </a:r>
            <a:r>
              <a:rPr sz="2400" spc="15" dirty="0">
                <a:solidFill>
                  <a:srgbClr val="FFFFFF"/>
                </a:solidFill>
                <a:latin typeface="Cambria Math"/>
                <a:cs typeface="Cambria Math"/>
              </a:rPr>
              <a:t>𝜕𝐿</a:t>
            </a:r>
            <a:r>
              <a:rPr sz="3600" spc="22" baseline="2314" dirty="0">
                <a:solidFill>
                  <a:srgbClr val="FFFFFF"/>
                </a:solidFill>
                <a:latin typeface="Cambria Math"/>
                <a:cs typeface="Cambria Math"/>
              </a:rPr>
              <a:t> </a:t>
            </a:r>
            <a:r>
              <a:rPr sz="2400" spc="5" dirty="0">
                <a:solidFill>
                  <a:srgbClr val="FFFFFF"/>
                </a:solidFill>
                <a:latin typeface="Cambria Math"/>
                <a:cs typeface="Cambria Math"/>
              </a:rPr>
              <a:t>𝜕𝑤</a:t>
            </a:r>
            <a:r>
              <a:rPr sz="2625" spc="7" baseline="-15873" dirty="0">
                <a:solidFill>
                  <a:srgbClr val="FFFFFF"/>
                </a:solidFill>
                <a:latin typeface="Cambria Math"/>
                <a:cs typeface="Cambria Math"/>
              </a:rPr>
              <a:t>1</a:t>
            </a:r>
            <a:r>
              <a:rPr sz="2400" spc="5" dirty="0">
                <a:solidFill>
                  <a:srgbClr val="FFFFFF"/>
                </a:solidFill>
                <a:latin typeface="Calibri"/>
                <a:cs typeface="Calibri"/>
              </a:rPr>
              <a:t>, </a:t>
            </a:r>
            <a:r>
              <a:rPr sz="2400" spc="15" dirty="0">
                <a:solidFill>
                  <a:srgbClr val="FFFFFF"/>
                </a:solidFill>
                <a:latin typeface="Cambria Math"/>
                <a:cs typeface="Cambria Math"/>
              </a:rPr>
              <a:t>𝜕𝐿</a:t>
            </a:r>
            <a:r>
              <a:rPr sz="3600" spc="660" baseline="2314" dirty="0">
                <a:solidFill>
                  <a:srgbClr val="FFFFFF"/>
                </a:solidFill>
                <a:latin typeface="Cambria Math"/>
                <a:cs typeface="Cambria Math"/>
              </a:rPr>
              <a:t> </a:t>
            </a:r>
            <a:r>
              <a:rPr sz="2400" dirty="0">
                <a:solidFill>
                  <a:srgbClr val="FFFFFF"/>
                </a:solidFill>
                <a:latin typeface="Cambria Math"/>
                <a:cs typeface="Cambria Math"/>
              </a:rPr>
              <a:t>𝜕𝑤</a:t>
            </a:r>
            <a:r>
              <a:rPr sz="2625" baseline="-15873" dirty="0">
                <a:solidFill>
                  <a:srgbClr val="FFFFFF"/>
                </a:solidFill>
                <a:latin typeface="Cambria Math"/>
                <a:cs typeface="Cambria Math"/>
              </a:rPr>
              <a:t>2</a:t>
            </a:r>
            <a:endParaRPr sz="2625" baseline="-15873">
              <a:latin typeface="Cambria Math"/>
              <a:cs typeface="Cambria Math"/>
            </a:endParaRPr>
          </a:p>
        </p:txBody>
      </p:sp>
      <p:sp>
        <p:nvSpPr>
          <p:cNvPr id="21" name="object 20">
            <a:extLst>
              <a:ext uri="{FF2B5EF4-FFF2-40B4-BE49-F238E27FC236}">
                <a16:creationId xmlns:a16="http://schemas.microsoft.com/office/drawing/2014/main" id="{8454786B-08D6-0FEB-EE90-E41E008B91AE}"/>
              </a:ext>
            </a:extLst>
          </p:cNvPr>
          <p:cNvSpPr/>
          <p:nvPr/>
        </p:nvSpPr>
        <p:spPr>
          <a:xfrm>
            <a:off x="3835702" y="4371950"/>
            <a:ext cx="433070" cy="256540"/>
          </a:xfrm>
          <a:custGeom>
            <a:avLst/>
            <a:gdLst/>
            <a:ahLst/>
            <a:cxnLst/>
            <a:rect l="l" t="t" r="r" b="b"/>
            <a:pathLst>
              <a:path w="433070" h="256539">
                <a:moveTo>
                  <a:pt x="166152" y="58396"/>
                </a:moveTo>
                <a:lnTo>
                  <a:pt x="138180" y="109168"/>
                </a:lnTo>
                <a:lnTo>
                  <a:pt x="405129" y="256158"/>
                </a:lnTo>
                <a:lnTo>
                  <a:pt x="433069" y="205486"/>
                </a:lnTo>
                <a:lnTo>
                  <a:pt x="166152" y="58396"/>
                </a:lnTo>
                <a:close/>
              </a:path>
              <a:path w="433070" h="256539">
                <a:moveTo>
                  <a:pt x="0" y="0"/>
                </a:moveTo>
                <a:lnTo>
                  <a:pt x="110235" y="159893"/>
                </a:lnTo>
                <a:lnTo>
                  <a:pt x="138180" y="109168"/>
                </a:lnTo>
                <a:lnTo>
                  <a:pt x="112902" y="95250"/>
                </a:lnTo>
                <a:lnTo>
                  <a:pt x="140843" y="44450"/>
                </a:lnTo>
                <a:lnTo>
                  <a:pt x="173835" y="44450"/>
                </a:lnTo>
                <a:lnTo>
                  <a:pt x="194056" y="7746"/>
                </a:lnTo>
                <a:lnTo>
                  <a:pt x="0" y="0"/>
                </a:lnTo>
                <a:close/>
              </a:path>
              <a:path w="433070" h="256539">
                <a:moveTo>
                  <a:pt x="140843" y="44450"/>
                </a:moveTo>
                <a:lnTo>
                  <a:pt x="112902" y="95250"/>
                </a:lnTo>
                <a:lnTo>
                  <a:pt x="138180" y="109168"/>
                </a:lnTo>
                <a:lnTo>
                  <a:pt x="166152" y="58396"/>
                </a:lnTo>
                <a:lnTo>
                  <a:pt x="140843" y="44450"/>
                </a:lnTo>
                <a:close/>
              </a:path>
              <a:path w="433070" h="256539">
                <a:moveTo>
                  <a:pt x="173835" y="44450"/>
                </a:moveTo>
                <a:lnTo>
                  <a:pt x="140843" y="44450"/>
                </a:lnTo>
                <a:lnTo>
                  <a:pt x="166152" y="58396"/>
                </a:lnTo>
                <a:lnTo>
                  <a:pt x="173835" y="44450"/>
                </a:lnTo>
                <a:close/>
              </a:path>
            </a:pathLst>
          </a:custGeom>
          <a:solidFill>
            <a:srgbClr val="FFC000"/>
          </a:solidFill>
        </p:spPr>
        <p:txBody>
          <a:bodyPr wrap="square" lIns="0" tIns="0" rIns="0" bIns="0" rtlCol="0"/>
          <a:lstStyle/>
          <a:p>
            <a:endParaRPr/>
          </a:p>
        </p:txBody>
      </p:sp>
      <p:sp>
        <p:nvSpPr>
          <p:cNvPr id="25" name="object 24">
            <a:extLst>
              <a:ext uri="{FF2B5EF4-FFF2-40B4-BE49-F238E27FC236}">
                <a16:creationId xmlns:a16="http://schemas.microsoft.com/office/drawing/2014/main" id="{B5684833-50FF-AA09-C8E3-DEACF111A591}"/>
              </a:ext>
            </a:extLst>
          </p:cNvPr>
          <p:cNvSpPr txBox="1"/>
          <p:nvPr/>
        </p:nvSpPr>
        <p:spPr>
          <a:xfrm>
            <a:off x="5600620" y="2468842"/>
            <a:ext cx="2824839" cy="382156"/>
          </a:xfrm>
          <a:prstGeom prst="rect">
            <a:avLst/>
          </a:prstGeom>
        </p:spPr>
        <p:style>
          <a:lnRef idx="1">
            <a:schemeClr val="dk1"/>
          </a:lnRef>
          <a:fillRef idx="2">
            <a:schemeClr val="dk1"/>
          </a:fillRef>
          <a:effectRef idx="1">
            <a:schemeClr val="dk1"/>
          </a:effectRef>
          <a:fontRef idx="minor">
            <a:schemeClr val="dk1"/>
          </a:fontRef>
        </p:style>
        <p:txBody>
          <a:bodyPr vert="horz" wrap="square" lIns="0" tIns="12700" rIns="0" bIns="0" rtlCol="0">
            <a:spAutoFit/>
          </a:bodyPr>
          <a:lstStyle/>
          <a:p>
            <a:pPr algn="ctr">
              <a:spcBef>
                <a:spcPts val="100"/>
              </a:spcBef>
            </a:pPr>
            <a:r>
              <a:rPr sz="2400" spc="-5" dirty="0">
                <a:solidFill>
                  <a:schemeClr val="tx1"/>
                </a:solidFill>
                <a:latin typeface="Calibri"/>
                <a:cs typeface="Calibri"/>
              </a:rPr>
              <a:t>Color: </a:t>
            </a:r>
            <a:r>
              <a:rPr sz="2400" spc="-35" dirty="0">
                <a:solidFill>
                  <a:schemeClr val="tx1"/>
                </a:solidFill>
                <a:latin typeface="Calibri"/>
                <a:cs typeface="Calibri"/>
              </a:rPr>
              <a:t>Value</a:t>
            </a:r>
            <a:r>
              <a:rPr lang="en-US" sz="2400" spc="-35" dirty="0">
                <a:solidFill>
                  <a:schemeClr val="tx1"/>
                </a:solidFill>
                <a:latin typeface="Calibri"/>
                <a:cs typeface="Calibri"/>
              </a:rPr>
              <a:t> </a:t>
            </a:r>
            <a:r>
              <a:rPr lang="en-US" sz="2400" spc="-55" dirty="0">
                <a:solidFill>
                  <a:schemeClr val="tx1"/>
                </a:solidFill>
                <a:latin typeface="Calibri"/>
                <a:cs typeface="Calibri"/>
              </a:rPr>
              <a:t>Total </a:t>
            </a:r>
            <a:r>
              <a:rPr lang="en-US" sz="2400" spc="-5" dirty="0">
                <a:solidFill>
                  <a:schemeClr val="tx1"/>
                </a:solidFill>
                <a:latin typeface="Calibri"/>
                <a:cs typeface="Calibri"/>
              </a:rPr>
              <a:t>Loss</a:t>
            </a:r>
            <a:r>
              <a:rPr lang="en-US" sz="2400" spc="15" dirty="0">
                <a:solidFill>
                  <a:schemeClr val="tx1"/>
                </a:solidFill>
                <a:latin typeface="Calibri"/>
                <a:cs typeface="Calibri"/>
              </a:rPr>
              <a:t> </a:t>
            </a:r>
            <a:endParaRPr lang="en-US" sz="2400" dirty="0">
              <a:solidFill>
                <a:schemeClr val="tx1"/>
              </a:solidFill>
              <a:latin typeface="Calibri"/>
              <a:cs typeface="Calibri"/>
            </a:endParaRPr>
          </a:p>
        </p:txBody>
      </p:sp>
    </p:spTree>
    <p:extLst>
      <p:ext uri="{BB962C8B-B14F-4D97-AF65-F5344CB8AC3E}">
        <p14:creationId xmlns:p14="http://schemas.microsoft.com/office/powerpoint/2010/main" val="1956523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BE2C0-141E-4D9F-9B48-7A3988733644}"/>
              </a:ext>
            </a:extLst>
          </p:cNvPr>
          <p:cNvSpPr>
            <a:spLocks noGrp="1"/>
          </p:cNvSpPr>
          <p:nvPr>
            <p:ph type="title"/>
          </p:nvPr>
        </p:nvSpPr>
        <p:spPr>
          <a:xfrm>
            <a:off x="548640" y="731520"/>
            <a:ext cx="11091672" cy="677150"/>
          </a:xfrm>
        </p:spPr>
        <p:txBody>
          <a:bodyPr>
            <a:normAutofit/>
          </a:bodyPr>
          <a:lstStyle/>
          <a:p>
            <a:r>
              <a:rPr lang="en-US" sz="2800" dirty="0"/>
              <a:t>Difficulty of Gradient Descent</a:t>
            </a:r>
          </a:p>
        </p:txBody>
      </p:sp>
      <p:sp>
        <p:nvSpPr>
          <p:cNvPr id="4" name="Text Placeholder 3">
            <a:extLst>
              <a:ext uri="{FF2B5EF4-FFF2-40B4-BE49-F238E27FC236}">
                <a16:creationId xmlns:a16="http://schemas.microsoft.com/office/drawing/2014/main" id="{EE301BE8-54B5-1000-5B01-0F031609053C}"/>
              </a:ext>
            </a:extLst>
          </p:cNvPr>
          <p:cNvSpPr>
            <a:spLocks noGrp="1"/>
          </p:cNvSpPr>
          <p:nvPr>
            <p:ph type="body" sz="half" idx="2"/>
          </p:nvPr>
        </p:nvSpPr>
        <p:spPr>
          <a:xfrm>
            <a:off x="548640" y="5978374"/>
            <a:ext cx="11091672" cy="548513"/>
          </a:xfrm>
        </p:spPr>
        <p:style>
          <a:lnRef idx="1">
            <a:schemeClr val="dk1"/>
          </a:lnRef>
          <a:fillRef idx="2">
            <a:schemeClr val="dk1"/>
          </a:fillRef>
          <a:effectRef idx="1">
            <a:schemeClr val="dk1"/>
          </a:effectRef>
          <a:fontRef idx="minor">
            <a:schemeClr val="dk1"/>
          </a:fontRef>
        </p:style>
        <p:txBody>
          <a:bodyPr>
            <a:normAutofit fontScale="92500" lnSpcReduction="10000"/>
          </a:bodyPr>
          <a:lstStyle/>
          <a:p>
            <a:pPr marL="241300" marR="0" lvl="0" indent="-228600" algn="l" defTabSz="914400" rtl="0" eaLnBrk="1" fontAlgn="auto" latinLnBrk="0" hangingPunct="1">
              <a:lnSpc>
                <a:spcPct val="100000"/>
              </a:lnSpc>
              <a:spcBef>
                <a:spcPts val="95"/>
              </a:spcBef>
              <a:spcAft>
                <a:spcPts val="0"/>
              </a:spcAft>
              <a:buClrTx/>
              <a:buSzTx/>
              <a:buFont typeface="Arial"/>
              <a:buChar char="•"/>
              <a:tabLst>
                <a:tab pos="241300" algn="l"/>
              </a:tabLst>
              <a:defRPr/>
            </a:pPr>
            <a:r>
              <a:rPr kumimoji="0" lang="en-US" sz="2800" b="0" i="0" u="none" strike="noStrike" kern="1200" cap="none" spc="-20" normalizeH="0" baseline="0" noProof="0" dirty="0">
                <a:ln>
                  <a:noFill/>
                </a:ln>
                <a:solidFill>
                  <a:prstClr val="black"/>
                </a:solidFill>
                <a:effectLst/>
                <a:uLnTx/>
                <a:uFillTx/>
                <a:ea typeface="+mn-ea"/>
                <a:cs typeface="Calibri"/>
              </a:rPr>
              <a:t>Gradient </a:t>
            </a:r>
            <a:r>
              <a:rPr kumimoji="0" lang="en-US" sz="2800" b="0" i="0" u="none" strike="noStrike" kern="1200" cap="none" spc="-10" normalizeH="0" baseline="0" noProof="0" dirty="0">
                <a:ln>
                  <a:noFill/>
                </a:ln>
                <a:solidFill>
                  <a:prstClr val="black"/>
                </a:solidFill>
                <a:effectLst/>
                <a:uLnTx/>
                <a:uFillTx/>
                <a:ea typeface="+mn-ea"/>
                <a:cs typeface="Calibri"/>
              </a:rPr>
              <a:t>descent </a:t>
            </a:r>
            <a:r>
              <a:rPr kumimoji="0" lang="en-US" sz="2800" b="0" i="0" u="none" strike="noStrike" kern="1200" cap="none" spc="-15" normalizeH="0" baseline="0" noProof="0" dirty="0">
                <a:ln>
                  <a:noFill/>
                </a:ln>
                <a:solidFill>
                  <a:prstClr val="black"/>
                </a:solidFill>
                <a:effectLst/>
                <a:uLnTx/>
                <a:uFillTx/>
                <a:ea typeface="+mn-ea"/>
                <a:cs typeface="Calibri"/>
              </a:rPr>
              <a:t>never </a:t>
            </a:r>
            <a:r>
              <a:rPr kumimoji="0" lang="en-US" sz="2800" b="0" i="0" u="none" strike="noStrike" kern="1200" cap="none" spc="-20" normalizeH="0" baseline="0" noProof="0" dirty="0">
                <a:ln>
                  <a:noFill/>
                </a:ln>
                <a:solidFill>
                  <a:prstClr val="black"/>
                </a:solidFill>
                <a:effectLst/>
                <a:uLnTx/>
                <a:uFillTx/>
                <a:ea typeface="+mn-ea"/>
                <a:cs typeface="Calibri"/>
              </a:rPr>
              <a:t>guarantee </a:t>
            </a:r>
            <a:r>
              <a:rPr kumimoji="0" lang="en-US" sz="2800" b="0" i="0" u="none" strike="noStrike" kern="1200" cap="none" spc="-5" normalizeH="0" baseline="0" noProof="0" dirty="0">
                <a:ln>
                  <a:noFill/>
                </a:ln>
                <a:solidFill>
                  <a:prstClr val="black"/>
                </a:solidFill>
                <a:effectLst/>
                <a:uLnTx/>
                <a:uFillTx/>
                <a:ea typeface="+mn-ea"/>
                <a:cs typeface="Calibri"/>
              </a:rPr>
              <a:t>global</a:t>
            </a:r>
            <a:r>
              <a:rPr kumimoji="0" lang="en-US" sz="2800" b="0" i="0" u="none" strike="noStrike" kern="1200" cap="none" spc="90" normalizeH="0" baseline="0" noProof="0" dirty="0">
                <a:ln>
                  <a:noFill/>
                </a:ln>
                <a:solidFill>
                  <a:prstClr val="black"/>
                </a:solidFill>
                <a:effectLst/>
                <a:uLnTx/>
                <a:uFillTx/>
                <a:ea typeface="+mn-ea"/>
                <a:cs typeface="Calibri"/>
              </a:rPr>
              <a:t> </a:t>
            </a:r>
            <a:r>
              <a:rPr kumimoji="0" lang="en-US" sz="2800" b="0" i="0" u="none" strike="noStrike" kern="1200" cap="none" spc="-10" normalizeH="0" baseline="0" noProof="0" dirty="0">
                <a:ln>
                  <a:noFill/>
                </a:ln>
                <a:solidFill>
                  <a:prstClr val="black"/>
                </a:solidFill>
                <a:effectLst/>
                <a:uLnTx/>
                <a:uFillTx/>
                <a:ea typeface="+mn-ea"/>
                <a:cs typeface="Calibri"/>
              </a:rPr>
              <a:t>minima</a:t>
            </a:r>
            <a:endParaRPr kumimoji="0" lang="en-US" sz="2800" b="0" i="0" u="none" strike="noStrike" kern="1200" cap="none" spc="0" normalizeH="0" baseline="0" noProof="0" dirty="0">
              <a:ln>
                <a:noFill/>
              </a:ln>
              <a:solidFill>
                <a:prstClr val="black"/>
              </a:solidFill>
              <a:effectLst/>
              <a:uLnTx/>
              <a:uFillTx/>
              <a:ea typeface="+mn-ea"/>
              <a:cs typeface="Calibri"/>
            </a:endParaRPr>
          </a:p>
          <a:p>
            <a:endParaRPr lang="en-US" dirty="0"/>
          </a:p>
        </p:txBody>
      </p:sp>
      <p:sp>
        <p:nvSpPr>
          <p:cNvPr id="5" name="Text Placeholder 4">
            <a:extLst>
              <a:ext uri="{FF2B5EF4-FFF2-40B4-BE49-F238E27FC236}">
                <a16:creationId xmlns:a16="http://schemas.microsoft.com/office/drawing/2014/main" id="{386A28F1-50E3-39AC-3DA9-4F41D934CC69}"/>
              </a:ext>
            </a:extLst>
          </p:cNvPr>
          <p:cNvSpPr>
            <a:spLocks noGrp="1"/>
          </p:cNvSpPr>
          <p:nvPr>
            <p:ph type="body" sz="quarter" idx="13"/>
          </p:nvPr>
        </p:nvSpPr>
        <p:spPr/>
        <p:txBody>
          <a:bodyPr/>
          <a:lstStyle/>
          <a:p>
            <a:r>
              <a:rPr lang="en-US" dirty="0"/>
              <a:t>Part two – More on Gradient descent</a:t>
            </a:r>
          </a:p>
        </p:txBody>
      </p:sp>
      <p:pic>
        <p:nvPicPr>
          <p:cNvPr id="6" name="Picture 5">
            <a:extLst>
              <a:ext uri="{FF2B5EF4-FFF2-40B4-BE49-F238E27FC236}">
                <a16:creationId xmlns:a16="http://schemas.microsoft.com/office/drawing/2014/main" id="{F66C1BA5-E5D7-0CF0-65C9-584A4D425D62}"/>
              </a:ext>
            </a:extLst>
          </p:cNvPr>
          <p:cNvPicPr>
            <a:picLocks noChangeAspect="1"/>
          </p:cNvPicPr>
          <p:nvPr/>
        </p:nvPicPr>
        <p:blipFill>
          <a:blip r:embed="rId2"/>
          <a:stretch>
            <a:fillRect/>
          </a:stretch>
        </p:blipFill>
        <p:spPr>
          <a:xfrm>
            <a:off x="2592859" y="1809205"/>
            <a:ext cx="7772400" cy="3997234"/>
          </a:xfrm>
          <a:prstGeom prst="rect">
            <a:avLst/>
          </a:prstGeom>
        </p:spPr>
      </p:pic>
    </p:spTree>
    <p:extLst>
      <p:ext uri="{BB962C8B-B14F-4D97-AF65-F5344CB8AC3E}">
        <p14:creationId xmlns:p14="http://schemas.microsoft.com/office/powerpoint/2010/main" val="2907821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TWO · READ THE DASHBOARD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Read the loss curve, read the learning rate</a:t>
            </a:r>
          </a:p>
        </p:txBody>
      </p:sp>
      <p:pic>
        <p:nvPicPr>
          <p:cNvPr id="5" name="Picture 4" descr="fig_loss_curves_ido.png"/>
          <p:cNvPicPr>
            <a:picLocks noChangeAspect="1"/>
          </p:cNvPicPr>
          <p:nvPr/>
        </p:nvPicPr>
        <p:blipFill>
          <a:blip r:embed="rId3"/>
          <a:stretch>
            <a:fillRect/>
          </a:stretch>
        </p:blipFill>
        <p:spPr>
          <a:xfrm>
            <a:off x="1630192" y="1828800"/>
            <a:ext cx="8901135" cy="3291840"/>
          </a:xfrm>
          <a:prstGeom prst="rect">
            <a:avLst/>
          </a:prstGeom>
        </p:spPr>
      </p:pic>
      <p:sp>
        <p:nvSpPr>
          <p:cNvPr id="6" name="Rectangle 5"/>
          <p:cNvSpPr/>
          <p:nvPr/>
        </p:nvSpPr>
        <p:spPr>
          <a:xfrm>
            <a:off x="548640" y="521208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Loss (vertical) vs. training rounds (epochs). Too low: barely drops, still high. Too high: spikes and climbs — overshooting. Just right: steep drop, then flattens low. First move when training misbehaves — change the learning rate and look again.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TWO · YOUR TURN (YOU-DO = Q3)</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Diagnose four loss curves — and name the fix</a:t>
            </a:r>
          </a:p>
        </p:txBody>
      </p:sp>
      <p:pic>
        <p:nvPicPr>
          <p:cNvPr id="5" name="Picture 4" descr="fig_loss_curves_youdo.png"/>
          <p:cNvPicPr>
            <a:picLocks noChangeAspect="1"/>
          </p:cNvPicPr>
          <p:nvPr/>
        </p:nvPicPr>
        <p:blipFill>
          <a:blip r:embed="rId3"/>
          <a:stretch>
            <a:fillRect/>
          </a:stretch>
        </p:blipFill>
        <p:spPr>
          <a:xfrm>
            <a:off x="1157068" y="1828800"/>
            <a:ext cx="9847384" cy="3108960"/>
          </a:xfrm>
          <a:prstGeom prst="rect">
            <a:avLst/>
          </a:prstGeom>
        </p:spPr>
      </p:pic>
      <p:sp>
        <p:nvSpPr>
          <p:cNvPr id="6" name="Rectangle 5"/>
          <p:cNvSpPr/>
          <p:nvPr/>
        </p:nvSpPr>
        <p:spPr>
          <a:xfrm>
            <a:off x="548640" y="502920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2, Q3. For each curve write the diagnosis and the one change you would make (use the word banks). Watch out: (a) and (d) are NOT the same problem. 2 minutes — worked answer in the notes.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THREE · THE SMALLEST NETWORK · FORWARD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One input → one hidden → one output: two weights</a:t>
            </a:r>
          </a:p>
        </p:txBody>
      </p:sp>
      <p:pic>
        <p:nvPicPr>
          <p:cNvPr id="5" name="Picture 4" descr="fig_backprop_forward.png"/>
          <p:cNvPicPr>
            <a:picLocks noChangeAspect="1"/>
          </p:cNvPicPr>
          <p:nvPr/>
        </p:nvPicPr>
        <p:blipFill>
          <a:blip r:embed="rId3"/>
          <a:stretch>
            <a:fillRect/>
          </a:stretch>
        </p:blipFill>
        <p:spPr>
          <a:xfrm>
            <a:off x="2506882" y="1828800"/>
            <a:ext cx="7147756" cy="3657600"/>
          </a:xfrm>
          <a:prstGeom prst="rect">
            <a:avLst/>
          </a:prstGeom>
        </p:spPr>
      </p:pic>
      <p:sp>
        <p:nvSpPr>
          <p:cNvPr id="6" name="Rectangle 5"/>
          <p:cNvSpPr/>
          <p:nvPr/>
        </p:nvSpPr>
        <p:spPr>
          <a:xfrm>
            <a:off x="548640" y="5577840"/>
            <a:ext cx="10515600" cy="914400"/>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0E7C7B"/>
                </a:solidFill>
                <a:latin typeface="Menlo"/>
              </a:rPr>
              <a:t>M</a:t>
            </a:r>
            <a:r>
              <a:rPr lang="en-US" sz="1200" b="1" i="0" dirty="0">
                <a:solidFill>
                  <a:srgbClr val="0E7C7B"/>
                </a:solidFill>
                <a:latin typeface="Menlo"/>
              </a:rPr>
              <a:t>ATH</a:t>
            </a:r>
            <a:r>
              <a:rPr sz="1200" b="1" i="0" dirty="0">
                <a:solidFill>
                  <a:srgbClr val="0E7C7B"/>
                </a:solidFill>
                <a:latin typeface="Menlo"/>
              </a:rPr>
              <a:t>· </a:t>
            </a:r>
            <a:r>
              <a:rPr sz="1700" b="0" i="0" dirty="0">
                <a:solidFill>
                  <a:srgbClr val="3D444C"/>
                </a:solidFill>
                <a:latin typeface="Avenir Next"/>
              </a:rPr>
              <a:t>Forward pass done: we </a:t>
            </a:r>
            <a:r>
              <a:rPr lang="en-US" sz="1700" b="0" i="0" dirty="0">
                <a:solidFill>
                  <a:srgbClr val="3D444C"/>
                </a:solidFill>
                <a:latin typeface="Avenir Next"/>
              </a:rPr>
              <a:t>tried</a:t>
            </a:r>
            <a:r>
              <a:rPr sz="1700" b="0" i="0" dirty="0">
                <a:solidFill>
                  <a:srgbClr val="3D444C"/>
                </a:solidFill>
                <a:latin typeface="Avenir Next"/>
              </a:rPr>
              <a:t> </a:t>
            </a:r>
            <a:r>
              <a:rPr sz="1700" b="0" i="0" dirty="0" err="1">
                <a:solidFill>
                  <a:srgbClr val="3D444C"/>
                </a:solidFill>
                <a:latin typeface="Avenir Next"/>
              </a:rPr>
              <a:t>ŷ</a:t>
            </a:r>
            <a:r>
              <a:rPr sz="1700" b="0" i="0" dirty="0">
                <a:solidFill>
                  <a:srgbClr val="3D444C"/>
                </a:solidFill>
                <a:latin typeface="Avenir Next"/>
              </a:rPr>
              <a:t> = 1.5, the truth was 1, so we are off by 0.5 and the loss is 0.25. Now — how much is each weight to </a:t>
            </a:r>
            <a:r>
              <a:rPr lang="en-US" sz="1700" b="0" i="0" dirty="0">
                <a:solidFill>
                  <a:srgbClr val="3D444C"/>
                </a:solidFill>
                <a:latin typeface="Avenir Next"/>
              </a:rPr>
              <a:t>adjust</a:t>
            </a:r>
            <a:r>
              <a:rPr sz="1700" b="0" i="0" dirty="0">
                <a:solidFill>
                  <a:srgbClr val="3D444C"/>
                </a:solidFill>
                <a:latin typeface="Avenir Next"/>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ig_backprop_forward.png">
            <a:extLst>
              <a:ext uri="{FF2B5EF4-FFF2-40B4-BE49-F238E27FC236}">
                <a16:creationId xmlns:a16="http://schemas.microsoft.com/office/drawing/2014/main" id="{F067EBBE-E402-3EDD-A276-08614692326D}"/>
              </a:ext>
            </a:extLst>
          </p:cNvPr>
          <p:cNvPicPr>
            <a:picLocks noChangeAspect="1"/>
          </p:cNvPicPr>
          <p:nvPr/>
        </p:nvPicPr>
        <p:blipFill>
          <a:blip r:embed="rId3"/>
          <a:stretch>
            <a:fillRect/>
          </a:stretch>
        </p:blipFill>
        <p:spPr>
          <a:xfrm>
            <a:off x="2232562" y="1914144"/>
            <a:ext cx="7147756" cy="3657600"/>
          </a:xfrm>
          <a:prstGeom prst="rect">
            <a:avLst/>
          </a:prstGeom>
        </p:spPr>
      </p:pic>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THREE · THE ONE IDEA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lang="en-US" sz="3400" b="1" i="0" dirty="0">
                <a:solidFill>
                  <a:srgbClr val="1B2025"/>
                </a:solidFill>
                <a:latin typeface="Avenir Next"/>
              </a:rPr>
              <a:t>Blame</a:t>
            </a:r>
            <a:r>
              <a:rPr sz="3400" b="1" i="0" dirty="0">
                <a:solidFill>
                  <a:srgbClr val="1B2025"/>
                </a:solidFill>
                <a:latin typeface="Avenir Next"/>
              </a:rPr>
              <a:t> flows backward: multiply the local effects along the path</a:t>
            </a:r>
          </a:p>
        </p:txBody>
      </p:sp>
      <p:pic>
        <p:nvPicPr>
          <p:cNvPr id="5" name="Picture 4" descr="fig_backprop_chain.png"/>
          <p:cNvPicPr>
            <a:picLocks/>
          </p:cNvPicPr>
          <p:nvPr/>
        </p:nvPicPr>
        <p:blipFill>
          <a:blip r:embed="rId4"/>
          <a:srcRect t="23501" b="6498"/>
          <a:stretch>
            <a:fillRect/>
          </a:stretch>
        </p:blipFill>
        <p:spPr>
          <a:xfrm>
            <a:off x="1052046" y="3566160"/>
            <a:ext cx="9965987" cy="1920240"/>
          </a:xfrm>
          <a:prstGeom prst="rect">
            <a:avLst/>
          </a:prstGeom>
        </p:spPr>
      </p:pic>
      <p:sp>
        <p:nvSpPr>
          <p:cNvPr id="6" name="Rectangle 5"/>
          <p:cNvSpPr/>
          <p:nvPr/>
        </p:nvSpPr>
        <p:spPr>
          <a:xfrm>
            <a:off x="777239" y="5604448"/>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'Local effect' = the slope at one arrow: how much its output moves when its input moves. Chain them together and you get the loss's slope for a weight — its gradient. Multiplying slopes along a path IS the chain rule — no symbols, just multiply.</a:t>
            </a:r>
          </a:p>
        </p:txBody>
      </p:sp>
      <p:cxnSp>
        <p:nvCxnSpPr>
          <p:cNvPr id="9" name="Straight Arrow Connector 8">
            <a:extLst>
              <a:ext uri="{FF2B5EF4-FFF2-40B4-BE49-F238E27FC236}">
                <a16:creationId xmlns:a16="http://schemas.microsoft.com/office/drawing/2014/main" id="{85D7ACE0-1CAA-06A2-29EC-3BB4C542E5BC}"/>
              </a:ext>
            </a:extLst>
          </p:cNvPr>
          <p:cNvCxnSpPr/>
          <p:nvPr/>
        </p:nvCxnSpPr>
        <p:spPr>
          <a:xfrm>
            <a:off x="1594022" y="3076832"/>
            <a:ext cx="9885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966DE8B-4998-C921-5111-0EB00D3C396A}"/>
              </a:ext>
            </a:extLst>
          </p:cNvPr>
          <p:cNvSpPr txBox="1"/>
          <p:nvPr/>
        </p:nvSpPr>
        <p:spPr>
          <a:xfrm>
            <a:off x="432677" y="2892166"/>
            <a:ext cx="1209627" cy="369332"/>
          </a:xfrm>
          <a:prstGeom prst="rect">
            <a:avLst/>
          </a:prstGeom>
          <a:noFill/>
        </p:spPr>
        <p:txBody>
          <a:bodyPr wrap="none" rtlCol="0">
            <a:spAutoFit/>
          </a:bodyPr>
          <a:lstStyle/>
          <a:p>
            <a:r>
              <a:rPr lang="en-US" dirty="0"/>
              <a:t>Backward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THREE · GRADIENTS BY HAND (I-DO)</a:t>
            </a:r>
          </a:p>
        </p:txBody>
      </p:sp>
      <p:sp>
        <p:nvSpPr>
          <p:cNvPr id="4" name="TextBox 3"/>
          <p:cNvSpPr txBox="1"/>
          <p:nvPr/>
        </p:nvSpPr>
        <p:spPr>
          <a:xfrm>
            <a:off x="548640" y="731520"/>
            <a:ext cx="11064240" cy="685800"/>
          </a:xfrm>
          <a:prstGeom prst="rect">
            <a:avLst/>
          </a:prstGeom>
          <a:noFill/>
        </p:spPr>
        <p:txBody>
          <a:bodyPr wrap="square" anchor="t">
            <a:spAutoFit/>
          </a:bodyPr>
          <a:lstStyle/>
          <a:p>
            <a:r>
              <a:rPr sz="3400" b="1" i="0">
                <a:solidFill>
                  <a:srgbClr val="1B2025"/>
                </a:solidFill>
                <a:latin typeface="Avenir Next"/>
              </a:rPr>
              <a:t>Two paths back: short to w₂, longer to w₁</a:t>
            </a:r>
          </a:p>
        </p:txBody>
      </p:sp>
      <p:pic>
        <p:nvPicPr>
          <p:cNvPr id="5" name="Picture 4" descr="fig_backprop_backward.png"/>
          <p:cNvPicPr>
            <a:picLocks noChangeAspect="1"/>
          </p:cNvPicPr>
          <p:nvPr/>
        </p:nvPicPr>
        <p:blipFill>
          <a:blip r:embed="rId3"/>
          <a:stretch>
            <a:fillRect/>
          </a:stretch>
        </p:blipFill>
        <p:spPr>
          <a:xfrm>
            <a:off x="2506882" y="1828800"/>
            <a:ext cx="7147756" cy="3657600"/>
          </a:xfrm>
          <a:prstGeom prst="rect">
            <a:avLst/>
          </a:prstGeom>
        </p:spPr>
      </p:pic>
      <p:sp>
        <p:nvSpPr>
          <p:cNvPr id="6" name="Rectangle 5"/>
          <p:cNvSpPr/>
          <p:nvPr/>
        </p:nvSpPr>
        <p:spPr>
          <a:xfrm>
            <a:off x="548640" y="5577840"/>
            <a:ext cx="10515600" cy="92354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1200" b="1" i="0" dirty="0">
                <a:solidFill>
                  <a:srgbClr val="0E7C7B"/>
                </a:solidFill>
                <a:latin typeface="Menlo"/>
              </a:rPr>
              <a:t>MATH</a:t>
            </a:r>
            <a:r>
              <a:rPr sz="1200" b="1" i="0" dirty="0">
                <a:solidFill>
                  <a:srgbClr val="0E7C7B"/>
                </a:solidFill>
                <a:latin typeface="Menlo"/>
              </a:rPr>
              <a:t>· </a:t>
            </a:r>
            <a:r>
              <a:rPr sz="1700" b="0" i="0" dirty="0">
                <a:solidFill>
                  <a:srgbClr val="3D444C"/>
                </a:solidFill>
                <a:latin typeface="Avenir Next"/>
              </a:rPr>
              <a:t>Shared signal 2×error = 1.0. grad w₂ = 1.0 × h = 1.0 (short path). grad w₁ = 1.0 × w₂ × </a:t>
            </a:r>
            <a:r>
              <a:rPr sz="1700" b="0" i="0" dirty="0" err="1">
                <a:solidFill>
                  <a:srgbClr val="3D444C"/>
                </a:solidFill>
                <a:latin typeface="Avenir Next"/>
              </a:rPr>
              <a:t>ReLU</a:t>
            </a:r>
            <a:r>
              <a:rPr sz="1700" b="0" i="0" dirty="0">
                <a:solidFill>
                  <a:srgbClr val="3D444C"/>
                </a:solidFill>
                <a:latin typeface="Avenir Next"/>
              </a:rPr>
              <a:t>′ × x = 1.0×1.5×1×2 = 3.0 (longer path). Both positive → both weights should decrease.</a:t>
            </a:r>
          </a:p>
        </p:txBody>
      </p:sp>
      <p:pic>
        <p:nvPicPr>
          <p:cNvPr id="7" name="Picture 6">
            <a:extLst>
              <a:ext uri="{FF2B5EF4-FFF2-40B4-BE49-F238E27FC236}">
                <a16:creationId xmlns:a16="http://schemas.microsoft.com/office/drawing/2014/main" id="{C058EFE7-3605-9205-9DD0-AD06E2FA48B4}"/>
              </a:ext>
            </a:extLst>
          </p:cNvPr>
          <p:cNvPicPr>
            <a:picLocks noChangeAspect="1"/>
          </p:cNvPicPr>
          <p:nvPr/>
        </p:nvPicPr>
        <p:blipFill>
          <a:blip r:embed="rId4"/>
          <a:stretch>
            <a:fillRect/>
          </a:stretch>
        </p:blipFill>
        <p:spPr>
          <a:xfrm>
            <a:off x="8128000" y="2054242"/>
            <a:ext cx="1422400" cy="482600"/>
          </a:xfrm>
          <a:prstGeom prst="rect">
            <a:avLst/>
          </a:prstGeom>
          <a:ln>
            <a:solidFill>
              <a:srgbClr val="FF0000"/>
            </a:solidFill>
          </a:ln>
        </p:spPr>
      </p:pic>
      <p:pic>
        <p:nvPicPr>
          <p:cNvPr id="8" name="Picture 7">
            <a:extLst>
              <a:ext uri="{FF2B5EF4-FFF2-40B4-BE49-F238E27FC236}">
                <a16:creationId xmlns:a16="http://schemas.microsoft.com/office/drawing/2014/main" id="{0AFBF64B-32B9-264A-D5AD-F982CB7DAA33}"/>
              </a:ext>
            </a:extLst>
          </p:cNvPr>
          <p:cNvPicPr>
            <a:picLocks noChangeAspect="1"/>
          </p:cNvPicPr>
          <p:nvPr/>
        </p:nvPicPr>
        <p:blipFill>
          <a:blip r:embed="rId5"/>
          <a:stretch>
            <a:fillRect/>
          </a:stretch>
        </p:blipFill>
        <p:spPr>
          <a:xfrm>
            <a:off x="6240780" y="1668780"/>
            <a:ext cx="1612900" cy="800100"/>
          </a:xfrm>
          <a:prstGeom prst="rect">
            <a:avLst/>
          </a:prstGeom>
          <a:ln>
            <a:solidFill>
              <a:srgbClr val="FF0000"/>
            </a:solidFill>
          </a:ln>
        </p:spPr>
      </p:pic>
      <p:pic>
        <p:nvPicPr>
          <p:cNvPr id="9" name="Picture 8">
            <a:extLst>
              <a:ext uri="{FF2B5EF4-FFF2-40B4-BE49-F238E27FC236}">
                <a16:creationId xmlns:a16="http://schemas.microsoft.com/office/drawing/2014/main" id="{BC3FDCA5-E8FB-ECC6-125E-38E407136A22}"/>
              </a:ext>
            </a:extLst>
          </p:cNvPr>
          <p:cNvPicPr>
            <a:picLocks noChangeAspect="1"/>
          </p:cNvPicPr>
          <p:nvPr/>
        </p:nvPicPr>
        <p:blipFill>
          <a:blip r:embed="rId6"/>
          <a:stretch>
            <a:fillRect/>
          </a:stretch>
        </p:blipFill>
        <p:spPr>
          <a:xfrm>
            <a:off x="3931920" y="1472184"/>
            <a:ext cx="2171700" cy="787400"/>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THREE · YOUR TURN (YOU-DO = Q1)</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backprop — same net, different numbers</a:t>
            </a:r>
          </a:p>
        </p:txBody>
      </p:sp>
      <p:pic>
        <p:nvPicPr>
          <p:cNvPr id="5" name="Picture 4" descr="fig_backprop_youdo.png"/>
          <p:cNvPicPr>
            <a:picLocks noChangeAspect="1"/>
          </p:cNvPicPr>
          <p:nvPr/>
        </p:nvPicPr>
        <p:blipFill>
          <a:blip r:embed="rId3"/>
          <a:stretch>
            <a:fillRect/>
          </a:stretch>
        </p:blipFill>
        <p:spPr>
          <a:xfrm>
            <a:off x="2506882" y="1828800"/>
            <a:ext cx="7147756" cy="3657600"/>
          </a:xfrm>
          <a:prstGeom prst="rect">
            <a:avLst/>
          </a:prstGeom>
        </p:spPr>
      </p:pic>
      <p:sp>
        <p:nvSpPr>
          <p:cNvPr id="6" name="Rectangle 5"/>
          <p:cNvSpPr/>
          <p:nvPr/>
        </p:nvSpPr>
        <p:spPr>
          <a:xfrm>
            <a:off x="548640" y="557784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2, Q1. Do the forward pass (fill h, ŷ, error, loss), then multiply the local effects back for grad w₂ and grad w₁. Worked answer in the notes.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THREE · ONE STEP BY HAND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Take the step: weight − lr × gradient</a:t>
            </a:r>
          </a:p>
        </p:txBody>
      </p:sp>
      <p:pic>
        <p:nvPicPr>
          <p:cNvPr id="5" name="Picture 4" descr="fig_onestep.png"/>
          <p:cNvPicPr>
            <a:picLocks noChangeAspect="1"/>
          </p:cNvPicPr>
          <p:nvPr/>
        </p:nvPicPr>
        <p:blipFill>
          <a:blip r:embed="rId3"/>
          <a:stretch>
            <a:fillRect/>
          </a:stretch>
        </p:blipFill>
        <p:spPr>
          <a:xfrm>
            <a:off x="2100958" y="1828800"/>
            <a:ext cx="7959603" cy="3474720"/>
          </a:xfrm>
          <a:prstGeom prst="rect">
            <a:avLst/>
          </a:prstGeom>
        </p:spPr>
      </p:pic>
      <p:sp>
        <p:nvSpPr>
          <p:cNvPr id="6" name="Rectangle 5"/>
          <p:cNvSpPr/>
          <p:nvPr/>
        </p:nvSpPr>
        <p:spPr>
          <a:xfrm>
            <a:off x="548640" y="5394960"/>
            <a:ext cx="10515600" cy="92354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With lr = 0.1: w₂ → 1.5 − 0.1×1.0 = 1.4; w₁ → 0.5 − 0.1×3.0 = 0.2. Re-run the forward pass and the loss falls 0.25 → 0.19 in ONE step. Do this thousands of times and the guess closes in on the truth.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THREE · YOUR TURN (YOU-DO = Q2)</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gradient-descent update</a:t>
            </a:r>
          </a:p>
        </p:txBody>
      </p:sp>
      <p:pic>
        <p:nvPicPr>
          <p:cNvPr id="5" name="Picture 4" descr="fig_onestep_youdo.png"/>
          <p:cNvPicPr>
            <a:picLocks noChangeAspect="1"/>
          </p:cNvPicPr>
          <p:nvPr/>
        </p:nvPicPr>
        <p:blipFill>
          <a:blip r:embed="rId3"/>
          <a:stretch>
            <a:fillRect/>
          </a:stretch>
        </p:blipFill>
        <p:spPr>
          <a:xfrm>
            <a:off x="1903555" y="1828800"/>
            <a:ext cx="8354409" cy="3108960"/>
          </a:xfrm>
          <a:prstGeom prst="rect">
            <a:avLst/>
          </a:prstGeom>
        </p:spPr>
      </p:pic>
      <p:sp>
        <p:nvSpPr>
          <p:cNvPr id="6" name="Rectangle 5"/>
          <p:cNvSpPr/>
          <p:nvPr/>
        </p:nvSpPr>
        <p:spPr>
          <a:xfrm>
            <a:off x="548640" y="5029200"/>
            <a:ext cx="10515600" cy="91440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2, Q2. Use your gradients from Q1 (grad w₂ and grad w₁) and lr = 0.1 in new weight = weight − lr × gradient. Worked answer in the notes.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THREE · AUTOGRAD CHECKS OUR WORK</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exact same example, in PyTorch</a:t>
            </a:r>
          </a:p>
        </p:txBody>
      </p:sp>
      <p:pic>
        <p:nvPicPr>
          <p:cNvPr id="5" name="Picture 4" descr="fig_autograd.png"/>
          <p:cNvPicPr>
            <a:picLocks noChangeAspect="1"/>
          </p:cNvPicPr>
          <p:nvPr/>
        </p:nvPicPr>
        <p:blipFill>
          <a:blip r:embed="rId3"/>
          <a:stretch>
            <a:fillRect/>
          </a:stretch>
        </p:blipFill>
        <p:spPr>
          <a:xfrm>
            <a:off x="1044186" y="1828800"/>
            <a:ext cx="10073148" cy="3200400"/>
          </a:xfrm>
          <a:prstGeom prst="rect">
            <a:avLst/>
          </a:prstGeom>
        </p:spPr>
      </p:pic>
      <p:sp>
        <p:nvSpPr>
          <p:cNvPr id="6" name="Rectangle 5"/>
          <p:cNvSpPr/>
          <p:nvPr/>
        </p:nvSpPr>
        <p:spPr>
          <a:xfrm>
            <a:off x="548640" y="512064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loss.backward() runs the whole backward chain for you — and prints the very gradients you found by hand: w1.grad = 3.0, w2.grad = 1.0. You now know exactly what that one line computes.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THREE · AT SCALE</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The same arrows on a whole network = loss.backward()</a:t>
            </a:r>
          </a:p>
        </p:txBody>
      </p:sp>
      <p:pic>
        <p:nvPicPr>
          <p:cNvPr id="5" name="Picture 4" descr="fig_backprop_scale.png"/>
          <p:cNvPicPr>
            <a:picLocks noChangeAspect="1"/>
          </p:cNvPicPr>
          <p:nvPr/>
        </p:nvPicPr>
        <p:blipFill>
          <a:blip r:embed="rId3"/>
          <a:stretch>
            <a:fillRect/>
          </a:stretch>
        </p:blipFill>
        <p:spPr>
          <a:xfrm>
            <a:off x="2747762" y="1828800"/>
            <a:ext cx="6665996"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A real network has thousands of weights. Backprop finds EVERY gradient in one backward sweep, reusing the shared parts of each path — just as our 1.0 was reused for both weights. You will never do this by hand again; but now you know what it does.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FOUR · THE TRAINING LOOP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whole thing is a five-step cycle</a:t>
            </a:r>
          </a:p>
        </p:txBody>
      </p:sp>
      <p:pic>
        <p:nvPicPr>
          <p:cNvPr id="5" name="Picture 4" descr="fig_training_loop.png"/>
          <p:cNvPicPr>
            <a:picLocks noChangeAspect="1"/>
          </p:cNvPicPr>
          <p:nvPr/>
        </p:nvPicPr>
        <p:blipFill>
          <a:blip r:embed="rId3"/>
          <a:stretch>
            <a:fillRect/>
          </a:stretch>
        </p:blipFill>
        <p:spPr>
          <a:xfrm>
            <a:off x="2754086" y="1828800"/>
            <a:ext cx="6653348" cy="3657599"/>
          </a:xfrm>
          <a:prstGeom prst="rect">
            <a:avLst/>
          </a:prstGeom>
        </p:spPr>
      </p:pic>
      <p:sp>
        <p:nvSpPr>
          <p:cNvPr id="6" name="Rectangle 5"/>
          <p:cNvSpPr/>
          <p:nvPr/>
        </p:nvSpPr>
        <p:spPr>
          <a:xfrm>
            <a:off x="548640" y="5577839"/>
            <a:ext cx="10515600" cy="914400"/>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Forward → Loss → zero_grad → Backward → Step, then repeat every batch. The same four boxes from the map at the start, plus one new habit: zero_grad.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FOUR · LINE BY LINE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whole loop, annotated</a:t>
            </a:r>
          </a:p>
        </p:txBody>
      </p:sp>
      <p:pic>
        <p:nvPicPr>
          <p:cNvPr id="5" name="Picture 4" descr="fig_training_code.png"/>
          <p:cNvPicPr>
            <a:picLocks noChangeAspect="1"/>
          </p:cNvPicPr>
          <p:nvPr/>
        </p:nvPicPr>
        <p:blipFill>
          <a:blip r:embed="rId3"/>
          <a:stretch>
            <a:fillRect/>
          </a:stretch>
        </p:blipFill>
        <p:spPr>
          <a:xfrm>
            <a:off x="1097280" y="1828800"/>
            <a:ext cx="9966960" cy="3566160"/>
          </a:xfrm>
          <a:prstGeom prst="rect">
            <a:avLst/>
          </a:prstGeom>
        </p:spPr>
      </p:pic>
      <p:sp>
        <p:nvSpPr>
          <p:cNvPr id="6" name="Rectangle 5"/>
          <p:cNvSpPr/>
          <p:nvPr/>
        </p:nvSpPr>
        <p:spPr>
          <a:xfrm>
            <a:off x="548640" y="548640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The one new habit: zero_grad — PyTorch ADDS UP gradients, so you must wipe last step's before backprop, or they pile on and corrupt the step. Forgetting it is the single most common beginner bug.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FOUR · YOUR TURN (YOU-DO = Q4)</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Spot the bug: why won't this net learn?</a:t>
            </a:r>
          </a:p>
        </p:txBody>
      </p:sp>
      <p:pic>
        <p:nvPicPr>
          <p:cNvPr id="5" name="Picture 4" descr="fig_loop_bug.png"/>
          <p:cNvPicPr>
            <a:picLocks noChangeAspect="1"/>
          </p:cNvPicPr>
          <p:nvPr/>
        </p:nvPicPr>
        <p:blipFill>
          <a:blip r:embed="rId3"/>
          <a:stretch>
            <a:fillRect/>
          </a:stretch>
        </p:blipFill>
        <p:spPr>
          <a:xfrm>
            <a:off x="1480625" y="1828800"/>
            <a:ext cx="9200270" cy="3291840"/>
          </a:xfrm>
          <a:prstGeom prst="rect">
            <a:avLst/>
          </a:prstGeom>
        </p:spPr>
      </p:pic>
      <p:sp>
        <p:nvSpPr>
          <p:cNvPr id="6" name="Rectangle 5"/>
          <p:cNvSpPr/>
          <p:nvPr/>
        </p:nvSpPr>
        <p:spPr>
          <a:xfrm>
            <a:off x="548640" y="521208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2, Q4. This loop runs with no error, but the loss never drops — the weights never change. Which line is in the WRONG place, and why does that stop learning? Worked answer in the notes.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FOUR · WATCH IT LEARN</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Run the five lines for 20 epochs — watch the loss fall</a:t>
            </a:r>
          </a:p>
        </p:txBody>
      </p:sp>
      <p:pic>
        <p:nvPicPr>
          <p:cNvPr id="5" name="Picture 4" descr="fig_loss_fall.png"/>
          <p:cNvPicPr>
            <a:picLocks noChangeAspect="1"/>
          </p:cNvPicPr>
          <p:nvPr/>
        </p:nvPicPr>
        <p:blipFill>
          <a:blip r:embed="rId3"/>
          <a:stretch>
            <a:fillRect/>
          </a:stretch>
        </p:blipFill>
        <p:spPr>
          <a:xfrm>
            <a:off x="2577532" y="1828800"/>
            <a:ext cx="7006455" cy="3566160"/>
          </a:xfrm>
          <a:prstGeom prst="rect">
            <a:avLst/>
          </a:prstGeom>
        </p:spPr>
      </p:pic>
      <p:sp>
        <p:nvSpPr>
          <p:cNvPr id="6" name="Rectangle 5"/>
          <p:cNvSpPr/>
          <p:nvPr/>
        </p:nvSpPr>
        <p:spPr>
          <a:xfrm>
            <a:off x="548640" y="5486400"/>
            <a:ext cx="10515600" cy="92354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Random weights → 20 passes over the data, each running the five lines on every batch. The healthy signature: a steep early drop, then a gentle flatten. In Lab 1 you run this exact loop on real clinical spectra.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2 · DISCUSSION (PAIR = Q5)</a:t>
            </a:r>
          </a:p>
        </p:txBody>
      </p:sp>
      <p:sp>
        <p:nvSpPr>
          <p:cNvPr id="4" name="TextBox 3"/>
          <p:cNvSpPr txBox="1"/>
          <p:nvPr/>
        </p:nvSpPr>
        <p:spPr>
          <a:xfrm>
            <a:off x="548640" y="731520"/>
            <a:ext cx="11064240" cy="615553"/>
          </a:xfrm>
          <a:prstGeom prst="rect">
            <a:avLst/>
          </a:prstGeom>
          <a:noFill/>
        </p:spPr>
        <p:txBody>
          <a:bodyPr wrap="square" anchor="t">
            <a:spAutoFit/>
          </a:bodyPr>
          <a:lstStyle/>
          <a:p>
            <a:r>
              <a:rPr sz="3400" b="1" i="0" dirty="0">
                <a:solidFill>
                  <a:srgbClr val="1B2025"/>
                </a:solidFill>
                <a:latin typeface="Avenir Next"/>
              </a:rPr>
              <a:t>Full circle — and peek ahead</a:t>
            </a:r>
          </a:p>
        </p:txBody>
      </p:sp>
      <p:sp>
        <p:nvSpPr>
          <p:cNvPr id="5" name="TextBox 4"/>
          <p:cNvSpPr txBox="1"/>
          <p:nvPr/>
        </p:nvSpPr>
        <p:spPr>
          <a:xfrm>
            <a:off x="548640" y="1920240"/>
            <a:ext cx="10789920" cy="3828288"/>
          </a:xfrm>
          <a:prstGeom prst="rect">
            <a:avLst/>
          </a:prstGeom>
          <a:noFill/>
        </p:spPr>
        <p:txBody>
          <a:bodyPr wrap="square" anchor="t">
            <a:spAutoFit/>
          </a:bodyPr>
          <a:lstStyle/>
          <a:p>
            <a:pPr>
              <a:spcAft>
                <a:spcPts val="1800"/>
              </a:spcAft>
            </a:pPr>
            <a:r>
              <a:rPr sz="2300" b="1" i="0" dirty="0">
                <a:solidFill>
                  <a:srgbClr val="0E7C7B"/>
                </a:solidFill>
                <a:latin typeface="Avenir Next"/>
              </a:rPr>
              <a:t>•  </a:t>
            </a:r>
            <a:r>
              <a:rPr sz="2300" b="0" i="0" dirty="0">
                <a:solidFill>
                  <a:srgbClr val="1B2025"/>
                </a:solidFill>
                <a:latin typeface="Avenir Next"/>
              </a:rPr>
              <a:t>Learning = </a:t>
            </a:r>
            <a:r>
              <a:rPr lang="en-US" sz="2300" b="0" i="0" dirty="0">
                <a:solidFill>
                  <a:srgbClr val="1B2025"/>
                </a:solidFill>
                <a:latin typeface="Avenir Next"/>
              </a:rPr>
              <a:t>try</a:t>
            </a:r>
            <a:r>
              <a:rPr sz="2300" b="0" i="0" dirty="0">
                <a:solidFill>
                  <a:srgbClr val="1B2025"/>
                </a:solidFill>
                <a:latin typeface="Avenir Next"/>
              </a:rPr>
              <a:t> (forward) → measure (loss) → assign </a:t>
            </a:r>
            <a:r>
              <a:rPr lang="en-US" sz="2300" b="0" i="0" dirty="0">
                <a:solidFill>
                  <a:srgbClr val="1B2025"/>
                </a:solidFill>
                <a:latin typeface="Avenir Next"/>
              </a:rPr>
              <a:t>blame</a:t>
            </a:r>
            <a:r>
              <a:rPr sz="2300" b="0" i="0" dirty="0">
                <a:solidFill>
                  <a:srgbClr val="1B2025"/>
                </a:solidFill>
                <a:latin typeface="Avenir Next"/>
              </a:rPr>
              <a:t> (backprop) → nudge (step), repeated</a:t>
            </a:r>
          </a:p>
          <a:p>
            <a:pPr>
              <a:spcAft>
                <a:spcPts val="1800"/>
              </a:spcAft>
            </a:pPr>
            <a:r>
              <a:rPr sz="2300" b="1" i="0" dirty="0">
                <a:solidFill>
                  <a:srgbClr val="0E7C7B"/>
                </a:solidFill>
                <a:latin typeface="Avenir Next"/>
              </a:rPr>
              <a:t>•  </a:t>
            </a:r>
            <a:r>
              <a:rPr sz="2300" b="0" i="0" dirty="0">
                <a:solidFill>
                  <a:srgbClr val="1B2025"/>
                </a:solidFill>
                <a:latin typeface="Avenir Next"/>
              </a:rPr>
              <a:t>Every bit of this needs labelled truth to compute the loss</a:t>
            </a:r>
          </a:p>
          <a:p>
            <a:pPr>
              <a:spcAft>
                <a:spcPts val="1800"/>
              </a:spcAft>
            </a:pPr>
            <a:r>
              <a:rPr sz="2300" b="1" i="0" dirty="0">
                <a:solidFill>
                  <a:srgbClr val="0E7C7B"/>
                </a:solidFill>
                <a:latin typeface="Avenir Next"/>
              </a:rPr>
              <a:t>•  </a:t>
            </a:r>
            <a:r>
              <a:rPr sz="2300" b="0" i="0" dirty="0">
                <a:solidFill>
                  <a:srgbClr val="1B2025"/>
                </a:solidFill>
                <a:latin typeface="Avenir Next"/>
              </a:rPr>
              <a:t>💬 Your bench: for a prediction you'd want, what is the 'truth' the loss measures against — and how many labelled samples could you get?</a:t>
            </a:r>
          </a:p>
          <a:p>
            <a:pPr>
              <a:spcAft>
                <a:spcPts val="1800"/>
              </a:spcAft>
            </a:pPr>
            <a:r>
              <a:rPr sz="2300" b="1" i="0" dirty="0">
                <a:solidFill>
                  <a:srgbClr val="0E7C7B"/>
                </a:solidFill>
                <a:latin typeface="Avenir Next"/>
              </a:rPr>
              <a:t>•  </a:t>
            </a:r>
            <a:r>
              <a:rPr sz="2300" b="0" i="0" dirty="0">
                <a:solidFill>
                  <a:srgbClr val="1B2025"/>
                </a:solidFill>
                <a:latin typeface="Avenir Next"/>
              </a:rPr>
              <a:t>Next: Lab 1 runs this exact loop on real clinical data; Lecture 4 tackles what goes wrong when the model just memori</a:t>
            </a:r>
            <a:r>
              <a:rPr lang="en-US" sz="2300" b="0" i="0" dirty="0">
                <a:solidFill>
                  <a:srgbClr val="1B2025"/>
                </a:solidFill>
                <a:latin typeface="Avenir Next"/>
              </a:rPr>
              <a:t>z</a:t>
            </a:r>
            <a:r>
              <a:rPr sz="2300" b="0" i="0" dirty="0">
                <a:solidFill>
                  <a:srgbClr val="1B2025"/>
                </a:solidFill>
                <a:latin typeface="Avenir Next"/>
              </a:rPr>
              <a:t>es.</a:t>
            </a:r>
          </a:p>
        </p:txBody>
      </p:sp>
      <p:sp>
        <p:nvSpPr>
          <p:cNvPr id="6" name="Rectangle 5"/>
          <p:cNvSpPr/>
          <p:nvPr/>
        </p:nvSpPr>
        <p:spPr>
          <a:xfrm>
            <a:off x="548640" y="5843016"/>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Pair → Quiz 2, Q5. Your training loss falls almost to zero, but the loss on fresh held-out samples starts to RISE. What is going wrong, and does a lower training loss always mean a better model? 2 minutes — answer in the notes.</a:t>
            </a:r>
          </a:p>
        </p:txBody>
      </p:sp>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4646</Words>
  <Application>Microsoft Macintosh PowerPoint</Application>
  <PresentationFormat>Widescreen</PresentationFormat>
  <Paragraphs>126</Paragraphs>
  <Slides>25</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Avenir Next</vt:lpstr>
      <vt:lpstr>Calibri</vt:lpstr>
      <vt:lpstr>Cambria Math</vt:lpstr>
      <vt:lpstr>Menlo</vt:lpstr>
      <vt:lpstr>Times New Roman</vt:lpstr>
      <vt:lpstr>Wingdings</vt:lpstr>
      <vt:lpstr>MSACL DS301</vt:lpstr>
      <vt:lpstr>PowerPoint Presentation</vt:lpstr>
      <vt:lpstr>PowerPoint Presentation</vt:lpstr>
      <vt:lpstr>Learning by trying and adjusting</vt:lpstr>
      <vt:lpstr>PowerPoint Presentation</vt:lpstr>
      <vt:lpstr>PowerPoint Presentation</vt:lpstr>
      <vt:lpstr>PowerPoint Presentation</vt:lpstr>
      <vt:lpstr>PowerPoint Presentation</vt:lpstr>
      <vt:lpstr>PowerPoint Presentation</vt:lpstr>
      <vt:lpstr>A 2D-view: Gradient Descent</vt:lpstr>
      <vt:lpstr>Difficulty of Gradient Descent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 How Networks Learn</dc:title>
  <dc:subject/>
  <dc:creator/>
  <cp:keywords/>
  <dc:description>generated using python-pptx</dc:description>
  <cp:lastModifiedBy>Song, Lixing</cp:lastModifiedBy>
  <cp:revision>34</cp:revision>
  <dcterms:created xsi:type="dcterms:W3CDTF">2013-01-27T09:14:16Z</dcterms:created>
  <dcterms:modified xsi:type="dcterms:W3CDTF">2026-09-09T01:59:54Z</dcterms:modified>
  <cp:category/>
</cp:coreProperties>
</file>
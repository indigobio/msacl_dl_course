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4"/>
  </p:notesMasterIdLst>
  <p:sldIdLst>
    <p:sldId id="256" r:id="rId2"/>
    <p:sldId id="279" r:id="rId3"/>
    <p:sldId id="257" r:id="rId4"/>
    <p:sldId id="258" r:id="rId5"/>
    <p:sldId id="259" r:id="rId6"/>
    <p:sldId id="260" r:id="rId7"/>
    <p:sldId id="262" r:id="rId8"/>
    <p:sldId id="263" r:id="rId9"/>
    <p:sldId id="264" r:id="rId10"/>
    <p:sldId id="282" r:id="rId29"/>
    <p:sldId id="280" r:id="rId11"/>
    <p:sldId id="281" r:id="rId12"/>
    <p:sldId id="265" r:id="rId13"/>
    <p:sldId id="267" r:id="rId14"/>
    <p:sldId id="268" r:id="rId15"/>
    <p:sldId id="269" r:id="rId16"/>
    <p:sldId id="270" r:id="rId17"/>
    <p:sldId id="271" r:id="rId18"/>
    <p:sldId id="272" r:id="rId19"/>
    <p:sldId id="273" r:id="rId20"/>
    <p:sldId id="274" r:id="rId21"/>
    <p:sldId id="275" r:id="rId22"/>
    <p:sldId id="278"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5"/>
  </p:normalViewPr>
  <p:slideViewPr>
    <p:cSldViewPr snapToGrid="0" snapToObjects="1">
      <p:cViewPr varScale="1">
        <p:scale>
          <a:sx n="104" d="100"/>
          <a:sy n="104" d="100"/>
        </p:scale>
        <p:origin x="232" y="5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201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 Q4 (the problem is on the slide: Pipeline A vs. Pipeline B). Worked answer: Hand-engineered → A; learned → B. In A a human chose the peak area and the ratio (hand-engineered features); in B the network discovers its own “peak-ish” detector directly from the raw spectrum (learned features). That shift is the essence of deep learning. Poll the room, then have them fill Q4 on the sheet.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hyperlink" Target="http://bayes.cs.ucla.edu/jp_hom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9476-CDB4-2339-1615-29A021A4B3E7}"/>
              </a:ext>
            </a:extLst>
          </p:cNvPr>
          <p:cNvSpPr>
            <a:spLocks noGrp="1"/>
          </p:cNvSpPr>
          <p:nvPr>
            <p:ph type="title"/>
          </p:nvPr>
        </p:nvSpPr>
        <p:spPr/>
        <p:txBody>
          <a:bodyPr/>
          <a:lstStyle/>
          <a:p>
            <a:r>
              <a:rPr lang="en-US" dirty="0"/>
              <a:t>Lixing (lee-shin)</a:t>
            </a:r>
          </a:p>
        </p:txBody>
      </p:sp>
      <p:sp>
        <p:nvSpPr>
          <p:cNvPr id="3" name="Content Placeholder 2">
            <a:extLst>
              <a:ext uri="{FF2B5EF4-FFF2-40B4-BE49-F238E27FC236}">
                <a16:creationId xmlns:a16="http://schemas.microsoft.com/office/drawing/2014/main" id="{0A302995-DA61-29C2-C25F-38FB65CCA92E}"/>
              </a:ext>
            </a:extLst>
          </p:cNvPr>
          <p:cNvSpPr>
            <a:spLocks noGrp="1"/>
          </p:cNvSpPr>
          <p:nvPr>
            <p:ph idx="1"/>
          </p:nvPr>
        </p:nvSpPr>
        <p:spPr>
          <a:xfrm>
            <a:off x="548640" y="1920240"/>
            <a:ext cx="8706571" cy="3165307"/>
          </a:xfrm>
        </p:spPr>
        <p:txBody>
          <a:bodyPr/>
          <a:lstStyle/>
          <a:p>
            <a:r>
              <a:rPr lang="en-US" dirty="0"/>
              <a:t>Ph.D. in Computer Science </a:t>
            </a:r>
          </a:p>
          <a:p>
            <a:r>
              <a:rPr lang="en-US" dirty="0"/>
              <a:t>(2018-2026) Associated Professor at Rose-Hulman Institute of Technology</a:t>
            </a:r>
          </a:p>
          <a:p>
            <a:r>
              <a:rPr lang="en-US" dirty="0"/>
              <a:t>(2026-present) Research Advisor at Indigo </a:t>
            </a:r>
            <a:r>
              <a:rPr lang="en-US" dirty="0" err="1"/>
              <a:t>BioAutomation</a:t>
            </a:r>
            <a:r>
              <a:rPr lang="en-US" dirty="0"/>
              <a:t> Inc.</a:t>
            </a:r>
          </a:p>
          <a:p>
            <a:endParaRPr lang="en-US" dirty="0"/>
          </a:p>
        </p:txBody>
      </p:sp>
      <p:sp>
        <p:nvSpPr>
          <p:cNvPr id="4" name="Text Placeholder 3">
            <a:extLst>
              <a:ext uri="{FF2B5EF4-FFF2-40B4-BE49-F238E27FC236}">
                <a16:creationId xmlns:a16="http://schemas.microsoft.com/office/drawing/2014/main" id="{6FC5C988-DDFA-EF32-89C0-B6D5D34AD6C6}"/>
              </a:ext>
            </a:extLst>
          </p:cNvPr>
          <p:cNvSpPr>
            <a:spLocks noGrp="1"/>
          </p:cNvSpPr>
          <p:nvPr>
            <p:ph type="body" sz="quarter" idx="13"/>
          </p:nvPr>
        </p:nvSpPr>
        <p:spPr/>
        <p:txBody>
          <a:bodyPr/>
          <a:lstStyle/>
          <a:p>
            <a:r>
              <a:rPr sz="1300" b="1" i="0">
                <a:solidFill>
                  <a:srgbClr val="8A9099"/>
                </a:solidFill>
                <a:latin typeface="Menlo"/>
              </a:rPr>
              <a:t>LECTURE 1 · YOUR INSTRUCTOR</a:t>
            </a:r>
          </a:p>
        </p:txBody>
      </p:sp>
      <p:pic>
        <p:nvPicPr>
          <p:cNvPr id="5" name="Picture 4" descr="Logos | University Branding | On Message | University of Notre Dame">
            <a:extLst>
              <a:ext uri="{FF2B5EF4-FFF2-40B4-BE49-F238E27FC236}">
                <a16:creationId xmlns:a16="http://schemas.microsoft.com/office/drawing/2014/main" id="{8EDF8188-D23E-FF0A-C28C-1345ABCCD4A5}"/>
              </a:ext>
            </a:extLst>
          </p:cNvPr>
          <p:cNvPicPr>
            <a:picLocks noChangeAspect="1"/>
          </p:cNvPicPr>
          <p:nvPr/>
        </p:nvPicPr>
        <p:blipFill>
          <a:blip r:embed="rId2"/>
          <a:stretch>
            <a:fillRect/>
          </a:stretch>
        </p:blipFill>
        <p:spPr>
          <a:xfrm>
            <a:off x="8404315" y="1783080"/>
            <a:ext cx="2278380" cy="1188720"/>
          </a:xfrm>
          <a:prstGeom prst="rect">
            <a:avLst/>
          </a:prstGeom>
        </p:spPr>
      </p:pic>
      <p:pic>
        <p:nvPicPr>
          <p:cNvPr id="6" name="Picture 5" descr="Rosie The Mascot - Rose-Hulman Institute of Technology">
            <a:extLst>
              <a:ext uri="{FF2B5EF4-FFF2-40B4-BE49-F238E27FC236}">
                <a16:creationId xmlns:a16="http://schemas.microsoft.com/office/drawing/2014/main" id="{C0F20FA4-B3A2-549D-DD57-60BECF20850B}"/>
              </a:ext>
            </a:extLst>
          </p:cNvPr>
          <p:cNvPicPr>
            <a:picLocks noChangeAspect="1"/>
          </p:cNvPicPr>
          <p:nvPr/>
        </p:nvPicPr>
        <p:blipFill>
          <a:blip r:embed="rId3"/>
          <a:stretch>
            <a:fillRect/>
          </a:stretch>
        </p:blipFill>
        <p:spPr>
          <a:xfrm>
            <a:off x="8404315" y="3022652"/>
            <a:ext cx="2778824" cy="1320799"/>
          </a:xfrm>
          <a:prstGeom prst="rect">
            <a:avLst/>
          </a:prstGeom>
        </p:spPr>
      </p:pic>
      <p:pic>
        <p:nvPicPr>
          <p:cNvPr id="7" name="Picture 6" descr="Indigo BioAutomation - 2026 Company Profile, Team, Funding, Competitors &amp; Financials - Tracxn">
            <a:extLst>
              <a:ext uri="{FF2B5EF4-FFF2-40B4-BE49-F238E27FC236}">
                <a16:creationId xmlns:a16="http://schemas.microsoft.com/office/drawing/2014/main" id="{1B546D17-A204-CB8E-873D-BDDEC733F099}"/>
              </a:ext>
            </a:extLst>
          </p:cNvPr>
          <p:cNvPicPr>
            <a:picLocks noChangeAspect="1"/>
          </p:cNvPicPr>
          <p:nvPr/>
        </p:nvPicPr>
        <p:blipFill>
          <a:blip r:embed="rId4"/>
          <a:stretch>
            <a:fillRect/>
          </a:stretch>
        </p:blipFill>
        <p:spPr>
          <a:xfrm>
            <a:off x="8404315" y="4902407"/>
            <a:ext cx="2590800" cy="774700"/>
          </a:xfrm>
          <a:prstGeom prst="rect">
            <a:avLst/>
          </a:prstGeom>
        </p:spPr>
      </p:pic>
      <p:sp>
        <p:nvSpPr>
          <p:cNvPr id="8" name="TextBox 7">
            <a:extLst>
              <a:ext uri="{FF2B5EF4-FFF2-40B4-BE49-F238E27FC236}">
                <a16:creationId xmlns:a16="http://schemas.microsoft.com/office/drawing/2014/main" id="{197C44C5-6107-9050-9410-4C0B2E214CEE}"/>
              </a:ext>
            </a:extLst>
          </p:cNvPr>
          <p:cNvSpPr txBox="1"/>
          <p:nvPr/>
        </p:nvSpPr>
        <p:spPr>
          <a:xfrm>
            <a:off x="672208" y="5140411"/>
            <a:ext cx="6544137" cy="120700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Can you briefly introduce yourself? Tell us about your expectation of this course?</a:t>
            </a:r>
          </a:p>
        </p:txBody>
      </p:sp>
    </p:spTree>
    <p:extLst>
      <p:ext uri="{BB962C8B-B14F-4D97-AF65-F5344CB8AC3E}">
        <p14:creationId xmlns:p14="http://schemas.microsoft.com/office/powerpoint/2010/main" val="108276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dirty="0">
                <a:solidFill>
                  <a:srgbClr val="0E7C7B"/>
                </a:solidFill>
                <a:latin typeface="Avenir Next"/>
              </a:rPr>
              <a:t>•  </a:t>
            </a:r>
            <a:r>
              <a:rPr sz="2400" b="0" i="0" dirty="0">
                <a:solidFill>
                  <a:srgbClr val="1B2025"/>
                </a:solidFill>
                <a:latin typeface="Avenir Next"/>
              </a:rPr>
              <a:t>The fundamental math — intuition and arithmetic, no calculus</a:t>
            </a:r>
          </a:p>
          <a:p>
            <a:pPr>
              <a:spcAft>
                <a:spcPts val="1800"/>
              </a:spcAft>
            </a:pPr>
            <a:r>
              <a:rPr sz="2400" b="1" i="0" dirty="0">
                <a:solidFill>
                  <a:srgbClr val="0E7C7B"/>
                </a:solidFill>
                <a:latin typeface="Avenir Next"/>
              </a:rPr>
              <a:t>•  </a:t>
            </a:r>
            <a:r>
              <a:rPr sz="2400" b="0" i="0" dirty="0">
                <a:solidFill>
                  <a:srgbClr val="1B2025"/>
                </a:solidFill>
                <a:latin typeface="Avenir Next"/>
              </a:rPr>
              <a:t>The popular architectures — MLP, CNN, RNN, Transformer</a:t>
            </a:r>
          </a:p>
          <a:p>
            <a:pPr>
              <a:spcAft>
                <a:spcPts val="1800"/>
              </a:spcAft>
            </a:pPr>
            <a:r>
              <a:rPr sz="2400" b="1" i="0" dirty="0">
                <a:solidFill>
                  <a:srgbClr val="0E7C7B"/>
                </a:solidFill>
                <a:latin typeface="Avenir Next"/>
              </a:rPr>
              <a:t>•  </a:t>
            </a:r>
            <a:r>
              <a:rPr sz="2400" b="0" i="0" dirty="0">
                <a:solidFill>
                  <a:srgbClr val="1B2025"/>
                </a:solidFill>
                <a:latin typeface="Avenir Next"/>
              </a:rPr>
              <a:t>The learning paradigms — supervised and self-supervised</a:t>
            </a:r>
          </a:p>
          <a:p>
            <a:pPr>
              <a:spcAft>
                <a:spcPts val="1800"/>
              </a:spcAft>
            </a:pPr>
            <a:r>
              <a:rPr sz="2400" b="1" i="0" dirty="0">
                <a:solidFill>
                  <a:srgbClr val="0E7C7B"/>
                </a:solidFill>
                <a:latin typeface="Avenir Next"/>
              </a:rPr>
              <a:t>•  </a:t>
            </a:r>
            <a:r>
              <a:rPr sz="2400" b="0" i="0" dirty="0">
                <a:solidFill>
                  <a:srgbClr val="1B2025"/>
                </a:solidFill>
                <a:latin typeface="Avenir Next"/>
              </a:rPr>
              <a:t>Hands-on training on real data by filling in </a:t>
            </a:r>
            <a:r>
              <a:rPr sz="2400" b="0" i="0" dirty="0" err="1">
                <a:solidFill>
                  <a:srgbClr val="1B2025"/>
                </a:solidFill>
                <a:latin typeface="Avenir Next"/>
              </a:rPr>
              <a:t>Colab</a:t>
            </a:r>
            <a:r>
              <a:rPr sz="2400" b="0" i="0" dirty="0">
                <a:solidFill>
                  <a:srgbClr val="1B2025"/>
                </a:solidFill>
                <a:latin typeface="Avenir Next"/>
              </a:rPr>
              <a:t> blanks</a:t>
            </a:r>
          </a:p>
          <a:p>
            <a:pPr>
              <a:spcAft>
                <a:spcPts val="1800"/>
              </a:spcAft>
            </a:pPr>
            <a:r>
              <a:rPr sz="2400" b="1" i="0" dirty="0">
                <a:solidFill>
                  <a:srgbClr val="0E7C7B"/>
                </a:solidFill>
                <a:latin typeface="Avenir Next"/>
              </a:rPr>
              <a:t>•  </a:t>
            </a:r>
            <a:r>
              <a:rPr sz="2400" b="0" i="0" dirty="0">
                <a:solidFill>
                  <a:srgbClr val="1B2025"/>
                </a:solidFill>
                <a:latin typeface="Avenir Next"/>
              </a:rPr>
              <a:t>Judgment: the good, the bad, and the ugly of deep learning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The course, one question per </a:t>
            </a:r>
            <a:r>
              <a:rPr lang="en-US" sz="3400" b="1" i="0" dirty="0">
                <a:solidFill>
                  <a:srgbClr val="1B2025"/>
                </a:solidFill>
                <a:latin typeface="Avenir Next"/>
              </a:rPr>
              <a:t>segment (3 hours)</a:t>
            </a:r>
            <a:endParaRPr sz="3400" b="1" i="0" dirty="0">
              <a:solidFill>
                <a:srgbClr val="1B2025"/>
              </a:solidFill>
              <a:latin typeface="Avenir Next"/>
            </a:endParaRPr>
          </a:p>
        </p:txBody>
      </p:sp>
      <p:sp>
        <p:nvSpPr>
          <p:cNvPr id="5" name="TextBox 4"/>
          <p:cNvSpPr txBox="1"/>
          <p:nvPr/>
        </p:nvSpPr>
        <p:spPr>
          <a:xfrm>
            <a:off x="548640" y="1932432"/>
            <a:ext cx="10789920" cy="3407664"/>
          </a:xfrm>
          <a:prstGeom prst="rect">
            <a:avLst/>
          </a:prstGeom>
          <a:noFill/>
        </p:spPr>
        <p:txBody>
          <a:bodyPr wrap="square" anchor="t">
            <a:spAutoFit/>
          </a:bodyPr>
          <a:lstStyle/>
          <a:p>
            <a:pPr marL="457200" indent="-457200">
              <a:spcAft>
                <a:spcPts val="1800"/>
              </a:spcAft>
              <a:buFont typeface="+mj-lt"/>
              <a:buAutoNum type="arabicPeriod"/>
            </a:pPr>
            <a:r>
              <a:rPr lang="en-US" sz="2100" b="0" i="0" dirty="0">
                <a:solidFill>
                  <a:srgbClr val="1B2025"/>
                </a:solidFill>
                <a:latin typeface="Avenir Next"/>
              </a:rPr>
              <a:t>(Sun AM) </a:t>
            </a:r>
            <a:r>
              <a:rPr sz="2100" b="0" i="0" dirty="0">
                <a:solidFill>
                  <a:srgbClr val="1B2025"/>
                </a:solidFill>
                <a:latin typeface="Avenir Next"/>
              </a:rPr>
              <a:t>Foundations — what a neuron computes and how it learns</a:t>
            </a:r>
            <a:endParaRPr lang="en-US" sz="2300" b="0" i="0" dirty="0">
              <a:solidFill>
                <a:srgbClr val="1B2025"/>
              </a:solidFill>
              <a:latin typeface="Avenir Next"/>
            </a:endParaRPr>
          </a:p>
          <a:p>
            <a:pPr marL="457200" indent="-457200">
              <a:spcAft>
                <a:spcPts val="1800"/>
              </a:spcAft>
              <a:buFont typeface="+mj-lt"/>
              <a:buAutoNum type="arabicPeriod"/>
            </a:pPr>
            <a:r>
              <a:rPr lang="en-US" sz="2100" b="0" i="0" dirty="0">
                <a:solidFill>
                  <a:srgbClr val="1B2025"/>
                </a:solidFill>
                <a:latin typeface="Avenir Next"/>
              </a:rPr>
              <a:t>(Sun PM) </a:t>
            </a:r>
            <a:r>
              <a:rPr sz="2100" b="0" i="0" dirty="0">
                <a:solidFill>
                  <a:srgbClr val="1B2025"/>
                </a:solidFill>
                <a:latin typeface="Avenir Next"/>
              </a:rPr>
              <a:t>Training &amp; CNNs — what makes training work; patterns in spectra</a:t>
            </a:r>
          </a:p>
          <a:p>
            <a:pPr marL="457200" indent="-457200">
              <a:spcAft>
                <a:spcPts val="1800"/>
              </a:spcAft>
              <a:buFont typeface="+mj-lt"/>
              <a:buAutoNum type="arabicPeriod"/>
            </a:pPr>
            <a:r>
              <a:rPr lang="en-US" sz="2100" b="0" i="0" dirty="0">
                <a:solidFill>
                  <a:srgbClr val="1B2025"/>
                </a:solidFill>
                <a:latin typeface="Avenir Next"/>
              </a:rPr>
              <a:t>(Mon AM) </a:t>
            </a:r>
            <a:r>
              <a:rPr sz="2100" b="0" i="0" dirty="0">
                <a:solidFill>
                  <a:srgbClr val="1B2025"/>
                </a:solidFill>
                <a:latin typeface="Avenir Next"/>
              </a:rPr>
              <a:t>Sequences &amp; Transformers — why order matters; what is attention</a:t>
            </a:r>
          </a:p>
          <a:p>
            <a:pPr marL="457200" indent="-457200">
              <a:spcAft>
                <a:spcPts val="1800"/>
              </a:spcAft>
              <a:buFont typeface="+mj-lt"/>
              <a:buAutoNum type="arabicPeriod"/>
            </a:pPr>
            <a:r>
              <a:rPr lang="en-US" sz="2100" b="0" i="0" dirty="0">
                <a:solidFill>
                  <a:srgbClr val="1B2025"/>
                </a:solidFill>
                <a:latin typeface="Avenir Next"/>
              </a:rPr>
              <a:t>(Mon PM) </a:t>
            </a:r>
            <a:r>
              <a:rPr sz="2100" b="0" i="0" dirty="0">
                <a:solidFill>
                  <a:srgbClr val="1B2025"/>
                </a:solidFill>
                <a:latin typeface="Avenir Next"/>
              </a:rPr>
              <a:t>Learning without labels — which representation; when NOT to use DL</a:t>
            </a:r>
          </a:p>
          <a:p>
            <a:pPr marL="457200" indent="-457200">
              <a:spcAft>
                <a:spcPts val="1800"/>
              </a:spcAft>
              <a:buFont typeface="+mj-lt"/>
              <a:buAutoNum type="arabicPeriod"/>
            </a:pPr>
            <a:r>
              <a:rPr lang="en-US" sz="2100" b="0" i="0" dirty="0">
                <a:solidFill>
                  <a:srgbClr val="1B2025"/>
                </a:solidFill>
                <a:latin typeface="Avenir Next"/>
              </a:rPr>
              <a:t>(Tue AM) </a:t>
            </a:r>
            <a:r>
              <a:rPr sz="2100" b="0" i="0" dirty="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u="sng" dirty="0">
                <a:solidFill>
                  <a:srgbClr val="3D444C"/>
                </a:solidFill>
                <a:latin typeface="Avenir Next"/>
              </a:rPr>
              <a:t>Every lecture </a:t>
            </a:r>
            <a:r>
              <a:rPr lang="en-US" sz="1700" b="0" i="0" dirty="0">
                <a:solidFill>
                  <a:srgbClr val="3D444C"/>
                </a:solidFill>
                <a:latin typeface="Avenir Next"/>
              </a:rPr>
              <a:t>(1 hour) has a </a:t>
            </a:r>
            <a:r>
              <a:rPr lang="en-US" sz="1700" b="1" i="0" dirty="0">
                <a:solidFill>
                  <a:srgbClr val="3D444C"/>
                </a:solidFill>
                <a:latin typeface="Avenir Next"/>
              </a:rPr>
              <a:t>paper quiz/worksheet. </a:t>
            </a:r>
          </a:p>
          <a:p>
            <a:pPr algn="ctr"/>
            <a:r>
              <a:rPr lang="en-US" sz="1700" b="0" i="0" u="sng" dirty="0">
                <a:solidFill>
                  <a:srgbClr val="3D444C"/>
                </a:solidFill>
                <a:latin typeface="Avenir Next"/>
              </a:rPr>
              <a:t>The third hour </a:t>
            </a:r>
            <a:r>
              <a:rPr lang="en-US" sz="1700" b="0" i="0" dirty="0">
                <a:solidFill>
                  <a:srgbClr val="3D444C"/>
                </a:solidFill>
                <a:latin typeface="Avenir Next"/>
              </a:rPr>
              <a:t>of </a:t>
            </a:r>
            <a:r>
              <a:rPr lang="en-US" sz="1700" dirty="0">
                <a:solidFill>
                  <a:srgbClr val="3D444C"/>
                </a:solidFill>
                <a:latin typeface="Avenir Next"/>
              </a:rPr>
              <a:t>e</a:t>
            </a:r>
            <a:r>
              <a:rPr sz="1700" b="0" i="0" dirty="0">
                <a:solidFill>
                  <a:srgbClr val="3D444C"/>
                </a:solidFill>
                <a:latin typeface="Avenir Next"/>
              </a:rPr>
              <a:t>very segment </a:t>
            </a:r>
            <a:r>
              <a:rPr lang="en-US" sz="1700" b="0" i="0" dirty="0">
                <a:solidFill>
                  <a:srgbClr val="3D444C"/>
                </a:solidFill>
                <a:latin typeface="Avenir Next"/>
              </a:rPr>
              <a:t>is a</a:t>
            </a:r>
            <a:r>
              <a:rPr sz="1700" b="0" i="0" dirty="0">
                <a:solidFill>
                  <a:srgbClr val="3D444C"/>
                </a:solidFill>
                <a:latin typeface="Avenir Next"/>
              </a:rPr>
              <a:t> </a:t>
            </a:r>
            <a:r>
              <a:rPr sz="1700" b="1" i="0" dirty="0" err="1">
                <a:solidFill>
                  <a:srgbClr val="3D444C"/>
                </a:solidFill>
                <a:latin typeface="Avenir Next"/>
              </a:rPr>
              <a:t>Colab</a:t>
            </a:r>
            <a:r>
              <a:rPr lang="en-US" sz="1700" b="1" i="0" dirty="0">
                <a:solidFill>
                  <a:srgbClr val="3D444C"/>
                </a:solidFill>
                <a:latin typeface="Avenir Next"/>
              </a:rPr>
              <a:t>-based </a:t>
            </a:r>
            <a:r>
              <a:rPr lang="en-US" sz="1700" b="1" i="0" dirty="0" err="1">
                <a:solidFill>
                  <a:srgbClr val="3D444C"/>
                </a:solidFill>
                <a:latin typeface="Avenir Next"/>
              </a:rPr>
              <a:t>Pytorch</a:t>
            </a:r>
            <a:r>
              <a:rPr lang="en-US" sz="1700" b="1" i="0" dirty="0">
                <a:solidFill>
                  <a:srgbClr val="3D444C"/>
                </a:solidFill>
                <a:latin typeface="Avenir Next"/>
              </a:rPr>
              <a:t> hands-on</a:t>
            </a:r>
            <a:r>
              <a:rPr sz="1700" b="1" i="0" dirty="0">
                <a:solidFill>
                  <a:srgbClr val="3D444C"/>
                </a:solidFill>
                <a:latin typeface="Avenir Next"/>
              </a:rPr>
              <a:t> lab</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3"/>
          <a:stretch>
            <a:fillRect/>
          </a:stretch>
        </p:blipFill>
        <p:spPr>
          <a:xfrm>
            <a:off x="3405765" y="1828800"/>
            <a:ext cx="5349989" cy="3931919"/>
          </a:xfrm>
          <a:prstGeom prst="rect">
            <a:avLst/>
          </a:prstGeom>
        </p:spPr>
      </p:pic>
      <p:sp>
        <p:nvSpPr>
          <p:cNvPr id="6" name="TextBox 5"/>
          <p:cNvSpPr txBox="1"/>
          <p:nvPr/>
        </p:nvSpPr>
        <p:spPr>
          <a:xfrm>
            <a:off x="548640" y="5504688"/>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
        <p:nvSpPr>
          <p:cNvPr id="7" name="TextBox 6">
            <a:extLst>
              <a:ext uri="{FF2B5EF4-FFF2-40B4-BE49-F238E27FC236}">
                <a16:creationId xmlns:a16="http://schemas.microsoft.com/office/drawing/2014/main" id="{E32BBCEB-7858-E7C2-5687-BA8082E7C522}"/>
              </a:ext>
            </a:extLst>
          </p:cNvPr>
          <p:cNvSpPr txBox="1"/>
          <p:nvPr/>
        </p:nvSpPr>
        <p:spPr>
          <a:xfrm>
            <a:off x="2693773" y="5971032"/>
            <a:ext cx="6993924" cy="84124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Do you know any other DL-based solutions?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6" name="Rectangle 5"/>
          <p:cNvSpPr/>
          <p:nvPr/>
        </p:nvSpPr>
        <p:spPr>
          <a:xfrm>
            <a:off x="789596" y="1783080"/>
            <a:ext cx="10490888" cy="360076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4000" b="0" i="0" dirty="0">
                <a:solidFill>
                  <a:srgbClr val="3D444C"/>
                </a:solidFill>
                <a:latin typeface="Avenir Next"/>
              </a:rPr>
              <a:t>ML learns </a:t>
            </a:r>
            <a:r>
              <a:rPr sz="4000" b="0" i="0" dirty="0">
                <a:solidFill>
                  <a:srgbClr val="FF0000"/>
                </a:solidFill>
                <a:latin typeface="Avenir Next"/>
              </a:rPr>
              <a:t>complex</a:t>
            </a:r>
            <a:r>
              <a:rPr sz="4000" b="0" i="0" dirty="0">
                <a:solidFill>
                  <a:srgbClr val="3D444C"/>
                </a:solidFill>
                <a:latin typeface="Avenir Next"/>
              </a:rPr>
              <a:t> patterns from </a:t>
            </a:r>
            <a:r>
              <a:rPr sz="4000" b="0" i="0" dirty="0">
                <a:solidFill>
                  <a:schemeClr val="accent3"/>
                </a:solidFill>
                <a:latin typeface="Avenir Next"/>
              </a:rPr>
              <a:t>existing data</a:t>
            </a:r>
            <a:r>
              <a:rPr sz="4000" b="0" i="0" dirty="0">
                <a:solidFill>
                  <a:srgbClr val="3D444C"/>
                </a:solidFill>
                <a:latin typeface="Avenir Next"/>
              </a:rPr>
              <a:t> to make </a:t>
            </a:r>
            <a:r>
              <a:rPr sz="4000" b="0" i="0" dirty="0">
                <a:solidFill>
                  <a:srgbClr val="00B050"/>
                </a:solidFill>
                <a:latin typeface="Avenir Next"/>
              </a:rPr>
              <a:t>predictions</a:t>
            </a:r>
            <a:r>
              <a:rPr sz="4000" b="0" i="0" dirty="0">
                <a:solidFill>
                  <a:srgbClr val="3D444C"/>
                </a:solidFill>
                <a:latin typeface="Avenir Next"/>
              </a:rPr>
              <a:t> on </a:t>
            </a:r>
            <a:r>
              <a:rPr sz="4000" b="0" i="0" dirty="0">
                <a:solidFill>
                  <a:srgbClr val="00B0F0"/>
                </a:solidFill>
                <a:latin typeface="Avenir Next"/>
              </a:rPr>
              <a:t>unseen data</a:t>
            </a:r>
            <a:r>
              <a:rPr sz="4000" b="0" i="0" dirty="0">
                <a:solidFill>
                  <a:srgbClr val="3D444C"/>
                </a:solidFill>
                <a:latin typeface="Avenir Next"/>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a:solidFill>
                  <a:srgbClr val="8A9099"/>
                </a:solidFill>
                <a:latin typeface="Menlo"/>
              </a:rPr>
              <a:t>WHAT AI IS · THE BIGGER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What is AI then?</a:t>
            </a:r>
            <a:endParaRPr sz="3400" b="1" i="0" dirty="0">
              <a:solidFill>
                <a:srgbClr val="1B2025"/>
              </a:solidFill>
              <a:latin typeface="Avenir Next"/>
            </a:endParaRPr>
          </a:p>
        </p:txBody>
      </p:sp>
      <p:pic>
        <p:nvPicPr>
          <p:cNvPr id="5" name="Picture 4" descr="ai_statistics_meme.png"/>
          <p:cNvPicPr>
            <a:picLocks noChangeAspect="1"/>
          </p:cNvPicPr>
          <p:nvPr/>
        </p:nvPicPr>
        <p:blipFill>
          <a:blip r:embed="rId3"/>
          <a:stretch>
            <a:fillRect/>
          </a:stretch>
        </p:blipFill>
        <p:spPr>
          <a:xfrm>
            <a:off x="831610" y="1466165"/>
            <a:ext cx="4728930" cy="4728930"/>
          </a:xfrm>
          <a:prstGeom prst="rect">
            <a:avLst/>
          </a:prstGeom>
        </p:spPr>
      </p:pic>
      <p:sp>
        <p:nvSpPr>
          <p:cNvPr id="9" name="TextBox 8">
            <a:extLst>
              <a:ext uri="{FF2B5EF4-FFF2-40B4-BE49-F238E27FC236}">
                <a16:creationId xmlns:a16="http://schemas.microsoft.com/office/drawing/2014/main" id="{DE653767-BAC1-DE9D-A50F-CA79D5F3E6CB}"/>
              </a:ext>
            </a:extLst>
          </p:cNvPr>
          <p:cNvSpPr txBox="1"/>
          <p:nvPr/>
        </p:nvSpPr>
        <p:spPr>
          <a:xfrm>
            <a:off x="5684107" y="2570205"/>
            <a:ext cx="6376087" cy="3096768"/>
          </a:xfrm>
          <a:prstGeom prst="rect">
            <a:avLst/>
          </a:prstGeom>
          <a:noFill/>
        </p:spPr>
        <p:txBody>
          <a:bodyPr wrap="square" rtlCol="0">
            <a:spAutoFit/>
          </a:bodyPr>
          <a:lstStyle/>
          <a:p>
            <a:r>
              <a:rPr lang="en-US" sz="2800" dirty="0">
                <a:solidFill>
                  <a:srgbClr val="FF3800"/>
                </a:solidFill>
                <a:hlinkClick r:id="rId4"/>
              </a:rPr>
              <a:t>Judea Pearl,</a:t>
            </a:r>
            <a:r>
              <a:rPr lang="en-US" sz="2800" dirty="0">
                <a:solidFill>
                  <a:srgbClr val="404040"/>
                </a:solidFill>
              </a:rPr>
              <a:t> a winner of the Turing Award (the “Nobel Prize of computing”), has argued that, </a:t>
            </a:r>
          </a:p>
          <a:p>
            <a:r>
              <a:rPr lang="en-US" sz="2800" b="1" i="1" dirty="0">
                <a:solidFill>
                  <a:srgbClr val="404040"/>
                </a:solidFill>
              </a:rPr>
              <a:t>“All the impressive achievements of deep learning amount to just </a:t>
            </a:r>
            <a:r>
              <a:rPr lang="en-US" sz="2800" b="1" i="1" u="sng" dirty="0">
                <a:solidFill>
                  <a:srgbClr val="404040"/>
                </a:solidFill>
              </a:rPr>
              <a:t>curve fitting</a:t>
            </a:r>
            <a:r>
              <a:rPr lang="en-US" sz="2800" b="1" i="1" dirty="0">
                <a:solidFill>
                  <a:srgbClr val="404040"/>
                </a:solidFill>
              </a:rPr>
              <a:t>.” </a:t>
            </a:r>
            <a:endParaRPr lang="en-US" sz="2800" b="1" i="1"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3"/>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2154436"/>
          </a:xfrm>
          <a:prstGeom prst="rect">
            <a:avLst/>
          </a:prstGeom>
          <a:noFill/>
        </p:spPr>
        <p:txBody>
          <a:bodyPr wrap="square" anchor="t">
            <a:spAutoFit/>
          </a:bodyPr>
          <a:lstStyle/>
          <a:p>
            <a:pPr>
              <a:spcAft>
                <a:spcPts val="1200"/>
              </a:spcAft>
            </a:pPr>
            <a:r>
              <a:rPr sz="1900" b="0" i="0" dirty="0">
                <a:solidFill>
                  <a:srgbClr val="1B2025"/>
                </a:solidFill>
                <a:latin typeface="Avenir Next"/>
              </a:rPr>
              <a:t>Classic ML: a human picks what to measure — ear shape, whisker length, edge count — then a light model decides.</a:t>
            </a:r>
          </a:p>
          <a:p>
            <a:pPr>
              <a:spcAft>
                <a:spcPts val="1200"/>
              </a:spcAft>
            </a:pPr>
            <a:r>
              <a:rPr sz="1900" b="0" i="0" dirty="0">
                <a:solidFill>
                  <a:srgbClr val="1B2025"/>
                </a:solidFill>
                <a:latin typeface="Avenir Next"/>
              </a:rPr>
              <a:t>Strength: interpretable, data-thrifty. </a:t>
            </a:r>
            <a:endParaRPr lang="en-US" sz="1900" b="0" i="0" dirty="0">
              <a:solidFill>
                <a:srgbClr val="1B2025"/>
              </a:solidFill>
              <a:latin typeface="Avenir Next"/>
            </a:endParaRPr>
          </a:p>
          <a:p>
            <a:pPr>
              <a:spcAft>
                <a:spcPts val="1200"/>
              </a:spcAft>
            </a:pPr>
            <a:r>
              <a:rPr sz="1900" b="0" i="0" dirty="0">
                <a:solidFill>
                  <a:srgbClr val="1B2025"/>
                </a:solidFill>
                <a:latin typeface="Avenir Next"/>
              </a:rPr>
              <a:t>Ceiling: only as good as the features you thought to compute.</a:t>
            </a:r>
          </a:p>
        </p:txBody>
      </p:sp>
      <p:sp>
        <p:nvSpPr>
          <p:cNvPr id="8" name="Rectangle 7"/>
          <p:cNvSpPr/>
          <p:nvPr/>
        </p:nvSpPr>
        <p:spPr>
          <a:xfrm>
            <a:off x="6248400" y="4690872"/>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What Classic ML approaches your lab/work is doing?</a:t>
            </a:r>
            <a:endParaRPr sz="2400" b="0" i="0" dirty="0">
              <a:solidFill>
                <a:srgbClr val="3D444C"/>
              </a:solidFill>
              <a:latin typeface="Avenir Nex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278537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hand it RAW </a:t>
            </a:r>
            <a:r>
              <a:rPr lang="en-US" sz="2600" b="0" i="0" dirty="0">
                <a:solidFill>
                  <a:srgbClr val="1B2025"/>
                </a:solidFill>
                <a:latin typeface="Avenir Next"/>
              </a:rPr>
              <a:t>input</a:t>
            </a:r>
            <a:r>
              <a:rPr sz="2600" b="0" i="0" dirty="0">
                <a:solidFill>
                  <a:srgbClr val="1B2025"/>
                </a:solidFill>
                <a:latin typeface="Avenir Next"/>
              </a:rPr>
              <a:t>, not features you chose</a:t>
            </a:r>
          </a:p>
          <a:p>
            <a:pPr>
              <a:spcAft>
                <a:spcPts val="1800"/>
              </a:spcAft>
            </a:pPr>
            <a:r>
              <a:rPr sz="2600" b="1" i="0" dirty="0">
                <a:solidFill>
                  <a:srgbClr val="0E7C7B"/>
                </a:solidFill>
                <a:latin typeface="Avenir Next"/>
              </a:rPr>
              <a:t>•  </a:t>
            </a:r>
            <a:r>
              <a:rPr sz="2600" b="0" i="0" dirty="0">
                <a:solidFill>
                  <a:srgbClr val="1B2025"/>
                </a:solidFill>
                <a:latin typeface="Avenir Next"/>
              </a:rPr>
              <a:t>It discovers the useful edges, ears, and textures by itself</a:t>
            </a:r>
          </a:p>
          <a:p>
            <a:pPr>
              <a:spcAft>
                <a:spcPts val="1800"/>
              </a:spcAft>
            </a:pPr>
            <a:r>
              <a:rPr sz="2600" b="1" i="0" dirty="0">
                <a:solidFill>
                  <a:srgbClr val="0E7C7B"/>
                </a:solidFill>
                <a:latin typeface="Avenir Next"/>
              </a:rPr>
              <a:t>•  </a:t>
            </a:r>
            <a:r>
              <a:rPr sz="2600" b="0" i="0" dirty="0">
                <a:solidFill>
                  <a:srgbClr val="1B2025"/>
                </a:solidFill>
                <a:latin typeface="Avenir Next"/>
              </a:rPr>
              <a:t>It learns the features AND the decision, together</a:t>
            </a:r>
          </a:p>
          <a:p>
            <a:pPr>
              <a:spcAft>
                <a:spcPts val="1800"/>
              </a:spcAft>
            </a:pPr>
            <a:r>
              <a:rPr sz="2600" b="1" i="0" dirty="0">
                <a:solidFill>
                  <a:srgbClr val="0E7C7B"/>
                </a:solidFill>
                <a:latin typeface="Avenir Next"/>
              </a:rPr>
              <a:t>•  </a:t>
            </a:r>
            <a:r>
              <a:rPr sz="2600" b="0" i="0" dirty="0">
                <a:solidFill>
                  <a:srgbClr val="1B2025"/>
                </a:solidFill>
                <a:latin typeface="Avenir Next"/>
              </a:rPr>
              <a:t>Trade-off: less feature-guessing, but </a:t>
            </a:r>
            <a:r>
              <a:rPr sz="2600" b="1" i="0" dirty="0">
                <a:solidFill>
                  <a:srgbClr val="1B2025"/>
                </a:solidFill>
                <a:latin typeface="Avenir Next"/>
              </a:rPr>
              <a:t>more data</a:t>
            </a:r>
            <a:r>
              <a:rPr sz="2600" b="0" i="0" dirty="0">
                <a:solidFill>
                  <a:srgbClr val="1B2025"/>
                </a:solidFill>
                <a:latin typeface="Avenir Next"/>
              </a:rPr>
              <a:t>, </a:t>
            </a:r>
            <a:r>
              <a:rPr sz="2600" b="1" i="0" dirty="0">
                <a:solidFill>
                  <a:srgbClr val="1B2025"/>
                </a:solidFill>
                <a:latin typeface="Avenir Next"/>
              </a:rPr>
              <a:t>more compute</a:t>
            </a:r>
            <a:r>
              <a:rPr sz="2600" b="0" i="0" dirty="0">
                <a:solidFill>
                  <a:srgbClr val="1B2025"/>
                </a:solidFill>
                <a:latin typeface="Avenir Next"/>
              </a:rPr>
              <a:t>, </a:t>
            </a:r>
            <a:r>
              <a:rPr sz="2600" b="1" i="0" dirty="0">
                <a:solidFill>
                  <a:srgbClr val="1B2025"/>
                </a:solidFill>
                <a:latin typeface="Avenir Next"/>
              </a:rPr>
              <a:t>less interpretability</a:t>
            </a:r>
          </a:p>
        </p:txBody>
      </p:sp>
      <p:sp>
        <p:nvSpPr>
          <p:cNvPr id="6" name="Rectangle 5"/>
          <p:cNvSpPr/>
          <p:nvPr/>
        </p:nvSpPr>
        <p:spPr>
          <a:xfrm>
            <a:off x="685800" y="5923416"/>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Name one hand-engineered feature your lab already computes. Turn to a neighbour, 1 minute — then Quiz 1, Q4 on the next slide.</a:t>
            </a:r>
          </a:p>
        </p:txBody>
      </p:sp>
      <p:sp>
        <p:nvSpPr>
          <p:cNvPr id="7" name="TextBox 6">
            <a:extLst>
              <a:ext uri="{FF2B5EF4-FFF2-40B4-BE49-F238E27FC236}">
                <a16:creationId xmlns:a16="http://schemas.microsoft.com/office/drawing/2014/main" id="{ECE133FF-0D02-77F2-0B23-E81C7ADC3420}"/>
              </a:ext>
            </a:extLst>
          </p:cNvPr>
          <p:cNvSpPr txBox="1"/>
          <p:nvPr/>
        </p:nvSpPr>
        <p:spPr>
          <a:xfrm>
            <a:off x="1515657" y="4821256"/>
            <a:ext cx="8855886" cy="1015663"/>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You need a huge rocket engine, and you need a lot of fuel.</a:t>
            </a:r>
            <a:br>
              <a:rPr lang="en-US" dirty="0"/>
            </a:br>
            <a:br>
              <a:rPr lang="en-US" dirty="0"/>
            </a:br>
            <a:r>
              <a:rPr lang="en-US" dirty="0"/>
              <a:t>— Andrew Ng (Founder of Coursera, Standford Prof, Google Brain)</a:t>
            </a:r>
          </a:p>
        </p:txBody>
      </p:sp>
      <p:pic>
        <p:nvPicPr>
          <p:cNvPr id="2" name="Picture 1" descr="cat.jpg">
            <a:extLst>
              <a:ext uri="{FF2B5EF4-FFF2-40B4-BE49-F238E27FC236}">
                <a16:creationId xmlns:a16="http://schemas.microsoft.com/office/drawing/2014/main" id="{19DFA121-74FE-0673-DC14-E3BEFAF4E282}"/>
              </a:ext>
            </a:extLst>
          </p:cNvPr>
          <p:cNvPicPr>
            <a:picLocks noChangeAspect="1"/>
          </p:cNvPicPr>
          <p:nvPr/>
        </p:nvPicPr>
        <p:blipFill>
          <a:blip r:embed="rId3"/>
          <a:stretch>
            <a:fillRect/>
          </a:stretch>
        </p:blipFill>
        <p:spPr>
          <a:xfrm>
            <a:off x="9695770" y="1370372"/>
            <a:ext cx="1642790" cy="21956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engineered or learned?</a:t>
            </a:r>
          </a:p>
        </p:txBody>
      </p:sp>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Q4. Two ways to call resistant vs. susceptible from the same MALDI-TOF spectrum. Which pipeline uses HAND-ENGINEERED features, and which uses LEARNED features? 1 minute — answer in the notes.</a:t>
            </a:r>
          </a:p>
        </p:txBody>
      </p:sp>
      <p:sp>
        <p:nvSpPr>
          <p:cNvPr id="7" name="Rounded Rectangle 6"/>
          <p:cNvSpPr/>
          <p:nvPr/>
        </p:nvSpPr>
        <p:spPr>
          <a:xfrm>
            <a:off x="548640" y="1888800"/>
            <a:ext cx="5143500" cy="150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948800"/>
            <a:ext cx="4960620" cy="1380000"/>
          </a:xfrm>
          <a:prstGeom prst="rect">
            <a:avLst/>
          </a:prstGeom>
          <a:noFill/>
        </p:spPr>
        <p:txBody>
          <a:bodyPr wrap="square" lIns="45720" rIns="45720" tIns="27432" bIns="27432" anchor="t">
            <a:spAutoFit/>
          </a:bodyPr>
          <a:lstStyle/>
          <a:p>
            <a:pPr algn="l">
              <a:spcAft>
                <a:spcPts val="400"/>
              </a:spcAft>
            </a:pPr>
            <a:r>
              <a:rPr sz="1800" b="1">
                <a:solidFill>
                  <a:srgbClr val="0E7C7B"/>
                </a:solidFill>
                <a:latin typeface="Avenir Next"/>
              </a:rPr>
              <a:t>Pipeline A</a:t>
            </a:r>
          </a:p>
          <a:p>
            <a:pPr algn="l">
              <a:spcAft>
                <a:spcPts val="400"/>
              </a:spcAft>
            </a:pPr>
            <a:r>
              <a:rPr sz="1600" b="0">
                <a:solidFill>
                  <a:srgbClr val="1B2025"/>
                </a:solidFill>
                <a:latin typeface="Avenir Next"/>
              </a:rPr>
              <a:t>A technician computes the peak area at m/z 2415 and the 2415/4100 ratio, then feeds those two numbers to logistic regression.</a:t>
            </a:r>
          </a:p>
        </p:txBody>
      </p:sp>
      <p:sp>
        <p:nvSpPr>
          <p:cNvPr id="9" name="Rounded Rectangle 8"/>
          <p:cNvSpPr/>
          <p:nvPr/>
        </p:nvSpPr>
        <p:spPr>
          <a:xfrm>
            <a:off x="5920740" y="1888800"/>
            <a:ext cx="5143500" cy="150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12180" y="1948800"/>
            <a:ext cx="4960620" cy="1380000"/>
          </a:xfrm>
          <a:prstGeom prst="rect">
            <a:avLst/>
          </a:prstGeom>
          <a:noFill/>
        </p:spPr>
        <p:txBody>
          <a:bodyPr wrap="square" lIns="45720" rIns="45720" tIns="27432" bIns="27432" anchor="t">
            <a:spAutoFit/>
          </a:bodyPr>
          <a:lstStyle/>
          <a:p>
            <a:pPr algn="l">
              <a:spcAft>
                <a:spcPts val="400"/>
              </a:spcAft>
            </a:pPr>
            <a:r>
              <a:rPr sz="1800" b="1">
                <a:solidFill>
                  <a:srgbClr val="0E7C7B"/>
                </a:solidFill>
                <a:latin typeface="Avenir Next"/>
              </a:rPr>
              <a:t>Pipeline B</a:t>
            </a:r>
          </a:p>
          <a:p>
            <a:pPr algn="l">
              <a:spcAft>
                <a:spcPts val="400"/>
              </a:spcAft>
            </a:pPr>
            <a:r>
              <a:rPr sz="1600" b="0">
                <a:solidFill>
                  <a:srgbClr val="1B2025"/>
                </a:solidFill>
                <a:latin typeface="Avenir Next"/>
              </a:rPr>
              <a:t>The raw 6,000-bin spectrum goes straight into a neural network, which forms its own internal “peak-ish here” detector in an early layer.</a:t>
            </a:r>
          </a:p>
        </p:txBody>
      </p:sp>
      <p:sp>
        <p:nvSpPr>
          <p:cNvPr id="11" name="TextBox 10"/>
          <p:cNvSpPr txBox="1"/>
          <p:nvPr/>
        </p:nvSpPr>
        <p:spPr>
          <a:xfrm>
            <a:off x="548640" y="3568800"/>
            <a:ext cx="10515600" cy="900000"/>
          </a:xfrm>
          <a:prstGeom prst="rect">
            <a:avLst/>
          </a:prstGeom>
          <a:noFill/>
        </p:spPr>
        <p:txBody>
          <a:bodyPr wrap="square" lIns="45720" rIns="45720" tIns="27432" bIns="27432" anchor="t">
            <a:spAutoFit/>
          </a:bodyPr>
          <a:lstStyle/>
          <a:p>
            <a:pPr algn="ctr">
              <a:spcAft>
                <a:spcPts val="400"/>
              </a:spcAft>
            </a:pPr>
            <a:r>
              <a:rPr sz="1700" b="0">
                <a:solidFill>
                  <a:srgbClr val="1B2025"/>
                </a:solidFill>
                <a:latin typeface="Avenir Next"/>
              </a:rPr>
              <a:t>Two ways to call resistant vs. susceptible from one MALDI-TOF spectrum.</a:t>
            </a:r>
          </a:p>
          <a:p>
            <a:pPr algn="ctr">
              <a:spcAft>
                <a:spcPts val="400"/>
              </a:spcAft>
            </a:pPr>
            <a:r>
              <a:rPr sz="1700" b="1">
                <a:solidFill>
                  <a:srgbClr val="1B2025"/>
                </a:solidFill>
                <a:latin typeface="Avenir Next"/>
              </a:rPr>
              <a:t>hand-engineered  →  Pipeline </a:t>
            </a:r>
            <a:r>
              <a:rPr sz="1700" b="1">
                <a:solidFill>
                  <a:srgbClr val="0E7C7B"/>
                </a:solidFill>
                <a:latin typeface="Avenir Next"/>
              </a:rPr>
              <a:t>________</a:t>
            </a:r>
            <a:r>
              <a:rPr sz="1700" b="1">
                <a:solidFill>
                  <a:srgbClr val="1B2025"/>
                </a:solidFill>
                <a:latin typeface="Avenir Next"/>
              </a:rPr>
              <a:t>          learned  →  Pipeline </a:t>
            </a:r>
            <a:r>
              <a:rPr sz="1700" b="1">
                <a:solidFill>
                  <a:srgbClr val="0E7C7B"/>
                </a:solidFill>
                <a:latin typeface="Avenir Next"/>
              </a:rPr>
              <a:t>________</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B81F4-B2FF-068C-190A-C106497FA303}"/>
              </a:ext>
            </a:extLst>
          </p:cNvPr>
          <p:cNvSpPr>
            <a:spLocks noGrp="1"/>
          </p:cNvSpPr>
          <p:nvPr>
            <p:ph type="ctrTitle"/>
          </p:nvPr>
        </p:nvSpPr>
        <p:spPr/>
        <p:txBody>
          <a:bodyPr/>
          <a:lstStyle/>
          <a:p>
            <a:r>
              <a:rPr lang="en-US" dirty="0"/>
              <a:t>Theory Fundamentals</a:t>
            </a:r>
          </a:p>
        </p:txBody>
      </p:sp>
      <p:sp>
        <p:nvSpPr>
          <p:cNvPr id="3" name="Subtitle 2">
            <a:extLst>
              <a:ext uri="{FF2B5EF4-FFF2-40B4-BE49-F238E27FC236}">
                <a16:creationId xmlns:a16="http://schemas.microsoft.com/office/drawing/2014/main" id="{7A9C44CD-5B94-8AE3-FEDD-36103A713499}"/>
              </a:ext>
            </a:extLst>
          </p:cNvPr>
          <p:cNvSpPr>
            <a:spLocks noGrp="1"/>
          </p:cNvSpPr>
          <p:nvPr>
            <p:ph type="subTitle" idx="1"/>
          </p:nvPr>
        </p:nvSpPr>
        <p:spPr/>
        <p:txBody>
          <a:bodyPr/>
          <a:lstStyle/>
          <a:p>
            <a:r>
              <a:rPr lang="en-US" dirty="0"/>
              <a:t>The “simple” math behind the neural networks</a:t>
            </a:r>
          </a:p>
        </p:txBody>
      </p:sp>
      <p:sp>
        <p:nvSpPr>
          <p:cNvPr id="4" name="Text Placeholder 3">
            <a:extLst>
              <a:ext uri="{FF2B5EF4-FFF2-40B4-BE49-F238E27FC236}">
                <a16:creationId xmlns:a16="http://schemas.microsoft.com/office/drawing/2014/main" id="{6ABB0AFC-E766-C851-5E5A-57A0340DDFF0}"/>
              </a:ext>
            </a:extLst>
          </p:cNvPr>
          <p:cNvSpPr>
            <a:spLocks noGrp="1"/>
          </p:cNvSpPr>
          <p:nvPr>
            <p:ph type="body" sz="quarter" idx="13"/>
          </p:nvPr>
        </p:nvSpPr>
        <p:spPr/>
        <p:txBody>
          <a:bodyPr/>
          <a:lstStyle/>
          <a:p>
            <a:r>
              <a:rPr sz="1300" b="1" i="0">
                <a:solidFill>
                  <a:srgbClr val="8A9099"/>
                </a:solidFill>
                <a:latin typeface="Menlo"/>
              </a:rPr>
              <a:t>LECTURE 1 · THEORY FUNDAMENTALS</a:t>
            </a:r>
          </a:p>
        </p:txBody>
      </p:sp>
    </p:spTree>
    <p:extLst>
      <p:ext uri="{BB962C8B-B14F-4D97-AF65-F5344CB8AC3E}">
        <p14:creationId xmlns:p14="http://schemas.microsoft.com/office/powerpoint/2010/main" val="37127917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4CEE6-6646-5540-BB09-6449CC7486C3}"/>
              </a:ext>
            </a:extLst>
          </p:cNvPr>
          <p:cNvSpPr>
            <a:spLocks noGrp="1"/>
          </p:cNvSpPr>
          <p:nvPr>
            <p:ph type="title"/>
          </p:nvPr>
        </p:nvSpPr>
        <p:spPr/>
        <p:txBody>
          <a:bodyPr/>
          <a:lstStyle/>
          <a:p>
            <a:r>
              <a:rPr lang="en-US" dirty="0"/>
              <a:t>Perceptron</a:t>
            </a:r>
          </a:p>
        </p:txBody>
      </p:sp>
      <p:pic>
        <p:nvPicPr>
          <p:cNvPr id="5" name="Content Placeholder 4" descr="The Concept of Artificial Neurons (Perceptrons) in Neural Networks |  Towards Data Science">
            <a:extLst>
              <a:ext uri="{FF2B5EF4-FFF2-40B4-BE49-F238E27FC236}">
                <a16:creationId xmlns:a16="http://schemas.microsoft.com/office/drawing/2014/main" id="{EDEFEAB7-D53E-C831-0C26-E977BF18E1E1}"/>
              </a:ext>
            </a:extLst>
          </p:cNvPr>
          <p:cNvPicPr>
            <a:picLocks noGrp="1" noChangeAspect="1"/>
          </p:cNvPicPr>
          <p:nvPr>
            <p:ph idx="1"/>
          </p:nvPr>
        </p:nvPicPr>
        <p:blipFill>
          <a:blip r:embed="rId2"/>
          <a:stretch>
            <a:fillRect/>
          </a:stretch>
        </p:blipFill>
        <p:spPr>
          <a:xfrm>
            <a:off x="1603460" y="1783080"/>
            <a:ext cx="9207500" cy="3949700"/>
          </a:xfrm>
          <a:prstGeom prst="rect">
            <a:avLst/>
          </a:prstGeom>
        </p:spPr>
      </p:pic>
      <p:sp>
        <p:nvSpPr>
          <p:cNvPr id="4" name="Text Placeholder 3">
            <a:extLst>
              <a:ext uri="{FF2B5EF4-FFF2-40B4-BE49-F238E27FC236}">
                <a16:creationId xmlns:a16="http://schemas.microsoft.com/office/drawing/2014/main" id="{D75019A2-99F0-5F27-EBC9-57A9FE1DB483}"/>
              </a:ext>
            </a:extLst>
          </p:cNvPr>
          <p:cNvSpPr>
            <a:spLocks noGrp="1"/>
          </p:cNvSpPr>
          <p:nvPr>
            <p:ph type="body" sz="quarter" idx="13"/>
          </p:nvPr>
        </p:nvSpPr>
        <p:spPr/>
        <p:txBody>
          <a:bodyPr/>
          <a:lstStyle/>
          <a:p>
            <a:r>
              <a:rPr sz="1300" b="1" i="0">
                <a:solidFill>
                  <a:srgbClr val="8A9099"/>
                </a:solidFill>
                <a:latin typeface="Menlo"/>
              </a:rPr>
              <a:t>THE NEURON · THE PERCEPTRON</a:t>
            </a:r>
          </a:p>
        </p:txBody>
      </p:sp>
    </p:spTree>
    <p:extLst>
      <p:ext uri="{BB962C8B-B14F-4D97-AF65-F5344CB8AC3E}">
        <p14:creationId xmlns:p14="http://schemas.microsoft.com/office/powerpoint/2010/main" val="15882486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inputs</a:t>
            </a:r>
          </a:p>
          <a:p>
            <a:pPr algn="ctr"/>
            <a:r>
              <a:rPr sz="1200" b="0" i="0" dirty="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weighted sum</a:t>
            </a:r>
          </a:p>
          <a:p>
            <a:pPr algn="ctr"/>
            <a:r>
              <a:rPr sz="1200" b="0" i="0" dirty="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u="sng" dirty="0">
                <a:solidFill>
                  <a:srgbClr val="3D444C"/>
                </a:solidFill>
                <a:latin typeface="Avenir Next"/>
              </a:rPr>
              <a:t>Weight and Bias will transform the feature; </a:t>
            </a:r>
          </a:p>
          <a:p>
            <a:pPr algn="ctr"/>
            <a:r>
              <a:rPr lang="en-US" sz="1700" b="0" i="0" u="sng" dirty="0">
                <a:solidFill>
                  <a:srgbClr val="3D444C"/>
                </a:solidFill>
                <a:latin typeface="Avenir Next"/>
              </a:rPr>
              <a:t>Activation will make it non-linear.</a:t>
            </a:r>
          </a:p>
          <a:p>
            <a:pPr algn="ctr"/>
            <a:r>
              <a:rPr sz="1700" b="0" i="0" dirty="0">
                <a:solidFill>
                  <a:srgbClr val="3D444C"/>
                </a:solidFill>
                <a:latin typeface="Avenir Next"/>
              </a:rPr>
              <a:t>(Lecture 2</a:t>
            </a:r>
            <a:r>
              <a:rPr lang="en-US" sz="1700" b="0" i="0" dirty="0">
                <a:solidFill>
                  <a:srgbClr val="3D444C"/>
                </a:solidFill>
                <a:latin typeface="Avenir Next"/>
              </a:rPr>
              <a:t> will cover the training of the parameters</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3"/>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Q1. Your MRSA classifier's FINAL neuron must output a 0–1 probability of resistant: which curve goes there? Then compute </a:t>
            </a:r>
            <a:r>
              <a:rPr sz="1700" b="0" i="0" dirty="0" err="1">
                <a:solidFill>
                  <a:srgbClr val="3D444C"/>
                </a:solidFill>
                <a:latin typeface="Avenir Next"/>
              </a:rPr>
              <a:t>ReLU</a:t>
            </a:r>
            <a:r>
              <a:rPr sz="1700" b="0" i="0" dirty="0">
                <a:solidFill>
                  <a:srgbClr val="3D444C"/>
                </a:solidFill>
                <a:latin typeface="Avenir Next"/>
              </a:rPr>
              <a:t>(−3) and sigmoid(0). 90 seconds — answers in the notes.</a:t>
            </a:r>
          </a:p>
        </p:txBody>
      </p:sp>
      <p:pic>
        <p:nvPicPr>
          <p:cNvPr id="8" name="Picture 7">
            <a:extLst>
              <a:ext uri="{FF2B5EF4-FFF2-40B4-BE49-F238E27FC236}">
                <a16:creationId xmlns:a16="http://schemas.microsoft.com/office/drawing/2014/main" id="{465D6ED3-634A-F903-7717-84A81FB5DE82}"/>
              </a:ext>
            </a:extLst>
          </p:cNvPr>
          <p:cNvPicPr>
            <a:picLocks noChangeAspect="1"/>
          </p:cNvPicPr>
          <p:nvPr/>
        </p:nvPicPr>
        <p:blipFill>
          <a:blip r:embed="rId4"/>
          <a:stretch>
            <a:fillRect/>
          </a:stretch>
        </p:blipFill>
        <p:spPr>
          <a:xfrm>
            <a:off x="5134609" y="4069080"/>
            <a:ext cx="1892300" cy="622300"/>
          </a:xfrm>
          <a:prstGeom prst="rect">
            <a:avLst/>
          </a:prstGeom>
        </p:spPr>
      </p:pic>
      <p:pic>
        <p:nvPicPr>
          <p:cNvPr id="9" name="Picture 8">
            <a:extLst>
              <a:ext uri="{FF2B5EF4-FFF2-40B4-BE49-F238E27FC236}">
                <a16:creationId xmlns:a16="http://schemas.microsoft.com/office/drawing/2014/main" id="{87324E66-9E65-D8C9-831B-13C62CEFA181}"/>
              </a:ext>
            </a:extLst>
          </p:cNvPr>
          <p:cNvPicPr>
            <a:picLocks noChangeAspect="1"/>
          </p:cNvPicPr>
          <p:nvPr/>
        </p:nvPicPr>
        <p:blipFill>
          <a:blip r:embed="rId5"/>
          <a:stretch>
            <a:fillRect/>
          </a:stretch>
        </p:blipFill>
        <p:spPr>
          <a:xfrm>
            <a:off x="850125" y="3262802"/>
            <a:ext cx="1765300" cy="800100"/>
          </a:xfrm>
          <a:prstGeom prst="rect">
            <a:avLst/>
          </a:prstGeom>
        </p:spPr>
      </p:pic>
      <p:sp>
        <p:nvSpPr>
          <p:cNvPr id="10" name="TextBox 9">
            <a:extLst>
              <a:ext uri="{FF2B5EF4-FFF2-40B4-BE49-F238E27FC236}">
                <a16:creationId xmlns:a16="http://schemas.microsoft.com/office/drawing/2014/main" id="{8294DB0D-1FA3-E6D3-A294-ADBF92C8F843}"/>
              </a:ext>
            </a:extLst>
          </p:cNvPr>
          <p:cNvSpPr txBox="1"/>
          <p:nvPr/>
        </p:nvSpPr>
        <p:spPr>
          <a:xfrm>
            <a:off x="7819044" y="2964759"/>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z = (2·3) + (−1·2) + 1 = 5, so </a:t>
            </a:r>
            <a:r>
              <a:rPr sz="1700" b="0" i="0" dirty="0" err="1">
                <a:solidFill>
                  <a:srgbClr val="3D444C"/>
                </a:solidFill>
                <a:latin typeface="Avenir Next"/>
              </a:rPr>
              <a:t>ReLU</a:t>
            </a:r>
            <a:r>
              <a:rPr sz="1700" b="0" i="0" dirty="0">
                <a:solidFill>
                  <a:srgbClr val="3D444C"/>
                </a:solidFill>
                <a:latin typeface="Avenir Next"/>
              </a:rPr>
              <a:t>(5) = 5 — the neuron fires. Read x as two peak intensities: this neuron likes input 1 and distrusts input 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Core Belief: </a:t>
            </a:r>
            <a:r>
              <a:rPr sz="3400" b="1" i="0" dirty="0">
                <a:solidFill>
                  <a:srgbClr val="1B2025"/>
                </a:solidFill>
                <a:latin typeface="Avenir Next"/>
              </a:rPr>
              <a:t>Enough </a:t>
            </a:r>
            <a:r>
              <a:rPr lang="en-US" sz="3400" b="1" i="0" dirty="0">
                <a:solidFill>
                  <a:srgbClr val="1B2025"/>
                </a:solidFill>
                <a:latin typeface="Avenir Next"/>
              </a:rPr>
              <a:t>”layers”</a:t>
            </a:r>
            <a:r>
              <a:rPr sz="3400" b="1" i="0" dirty="0">
                <a:solidFill>
                  <a:srgbClr val="1B2025"/>
                </a:solidFill>
                <a:latin typeface="Avenir Next"/>
              </a:rPr>
              <a:t> can trace ANY curve</a:t>
            </a:r>
          </a:p>
        </p:txBody>
      </p:sp>
      <p:pic>
        <p:nvPicPr>
          <p:cNvPr id="5" name="Picture 4" descr="fig_universal_approx.png"/>
          <p:cNvPicPr>
            <a:picLocks noChangeAspect="1"/>
          </p:cNvPicPr>
          <p:nvPr/>
        </p:nvPicPr>
        <p:blipFill>
          <a:blip r:embed="rId3"/>
          <a:stretch>
            <a:fillRect/>
          </a:stretch>
        </p:blipFill>
        <p:spPr>
          <a:xfrm>
            <a:off x="3016941" y="3337560"/>
            <a:ext cx="6036197" cy="3200400"/>
          </a:xfrm>
          <a:prstGeom prst="rect">
            <a:avLst/>
          </a:prstGeom>
        </p:spPr>
      </p:pic>
      <p:sp>
        <p:nvSpPr>
          <p:cNvPr id="6" name="Rectangle 5"/>
          <p:cNvSpPr/>
          <p:nvPr/>
        </p:nvSpPr>
        <p:spPr>
          <a:xfrm>
            <a:off x="672207" y="1558804"/>
            <a:ext cx="10515600" cy="157276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2400" b="1" i="0" dirty="0">
                <a:solidFill>
                  <a:srgbClr val="00B0F0"/>
                </a:solidFill>
                <a:latin typeface="Avenir Next"/>
              </a:rPr>
              <a:t>Universal approximation</a:t>
            </a:r>
            <a:r>
              <a:rPr lang="en-US" sz="2400" b="1" i="0" dirty="0">
                <a:solidFill>
                  <a:srgbClr val="00B0F0"/>
                </a:solidFill>
                <a:latin typeface="Avenir Next"/>
              </a:rPr>
              <a:t> theorem</a:t>
            </a:r>
            <a:r>
              <a:rPr sz="2400" b="0" i="0" dirty="0">
                <a:solidFill>
                  <a:srgbClr val="3D444C"/>
                </a:solidFill>
                <a:latin typeface="Avenir Next"/>
              </a:rPr>
              <a:t>, in one picture: add up </a:t>
            </a:r>
            <a:r>
              <a:rPr sz="2400" b="0" i="0" dirty="0">
                <a:solidFill>
                  <a:srgbClr val="FF0000"/>
                </a:solidFill>
                <a:latin typeface="Avenir Next"/>
              </a:rPr>
              <a:t>enough</a:t>
            </a:r>
            <a:r>
              <a:rPr sz="2400" b="0" i="0" dirty="0">
                <a:solidFill>
                  <a:srgbClr val="3D444C"/>
                </a:solidFill>
                <a:latin typeface="Avenir Next"/>
              </a:rPr>
              <a:t> </a:t>
            </a:r>
            <a:r>
              <a:rPr lang="en-US" sz="2400" b="0" i="0" dirty="0">
                <a:solidFill>
                  <a:srgbClr val="3D444C"/>
                </a:solidFill>
                <a:latin typeface="Avenir Next"/>
              </a:rPr>
              <a:t>(multi-add-bend)</a:t>
            </a:r>
            <a:r>
              <a:rPr sz="2400" b="0" i="0" dirty="0">
                <a:solidFill>
                  <a:srgbClr val="3D444C"/>
                </a:solidFill>
                <a:latin typeface="Avenir Next"/>
              </a:rPr>
              <a:t> pieces and the network approximates </a:t>
            </a:r>
            <a:r>
              <a:rPr sz="2400" b="1" i="0" dirty="0">
                <a:solidFill>
                  <a:srgbClr val="3D444C"/>
                </a:solidFill>
                <a:latin typeface="Avenir Next"/>
              </a:rPr>
              <a:t>any shape</a:t>
            </a:r>
            <a:r>
              <a:rPr sz="2400" b="0" i="0" dirty="0">
                <a:solidFill>
                  <a:srgbClr val="3D444C"/>
                </a:solidFill>
                <a:latin typeface="Avenir Next"/>
              </a:rPr>
              <a:t>. Depth and width buy you bends — that is the whole magic.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layer's output is the next layer's input — stack it and you have depth.</a:t>
            </a:r>
          </a:p>
        </p:txBody>
      </p:sp>
      <p:pic>
        <p:nvPicPr>
          <p:cNvPr id="7" name="Picture 6">
            <a:extLst>
              <a:ext uri="{FF2B5EF4-FFF2-40B4-BE49-F238E27FC236}">
                <a16:creationId xmlns:a16="http://schemas.microsoft.com/office/drawing/2014/main" id="{55440B74-926C-470A-217F-401D3736D9FB}"/>
              </a:ext>
            </a:extLst>
          </p:cNvPr>
          <p:cNvPicPr>
            <a:picLocks noChangeAspect="1"/>
          </p:cNvPicPr>
          <p:nvPr/>
        </p:nvPicPr>
        <p:blipFill>
          <a:blip r:embed="rId4"/>
          <a:stretch>
            <a:fillRect/>
          </a:stretch>
        </p:blipFill>
        <p:spPr>
          <a:xfrm>
            <a:off x="193031" y="1914144"/>
            <a:ext cx="2566703" cy="1309950"/>
          </a:xfrm>
          <a:prstGeom prst="rect">
            <a:avLst/>
          </a:prstGeom>
          <a:ln>
            <a:solidFill>
              <a:schemeClr val="tx1"/>
            </a:solidFill>
          </a:ln>
        </p:spPr>
      </p:pic>
      <p:cxnSp>
        <p:nvCxnSpPr>
          <p:cNvPr id="9" name="Straight Arrow Connector 8">
            <a:extLst>
              <a:ext uri="{FF2B5EF4-FFF2-40B4-BE49-F238E27FC236}">
                <a16:creationId xmlns:a16="http://schemas.microsoft.com/office/drawing/2014/main" id="{A133478A-F178-AEAA-2ABD-A97DDF9BBB63}"/>
              </a:ext>
            </a:extLst>
          </p:cNvPr>
          <p:cNvCxnSpPr>
            <a:cxnSpLocks/>
          </p:cNvCxnSpPr>
          <p:nvPr/>
        </p:nvCxnSpPr>
        <p:spPr>
          <a:xfrm>
            <a:off x="2582562" y="2384854"/>
            <a:ext cx="1062681" cy="3707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4E46198-F4D5-2873-2D20-5EB142DD6950}"/>
              </a:ext>
            </a:extLst>
          </p:cNvPr>
          <p:cNvCxnSpPr>
            <a:cxnSpLocks/>
          </p:cNvCxnSpPr>
          <p:nvPr/>
        </p:nvCxnSpPr>
        <p:spPr>
          <a:xfrm>
            <a:off x="2582562" y="2755557"/>
            <a:ext cx="1062681" cy="128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3"/>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40156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 neuron multiplies, adds, and bends</a:t>
            </a:r>
          </a:p>
          <a:p>
            <a:pPr>
              <a:spcAft>
                <a:spcPts val="1800"/>
              </a:spcAft>
            </a:pPr>
            <a:r>
              <a:rPr sz="2600" b="1" i="0" dirty="0">
                <a:solidFill>
                  <a:srgbClr val="0E7C7B"/>
                </a:solidFill>
                <a:latin typeface="Avenir Next"/>
              </a:rPr>
              <a:t>•  </a:t>
            </a:r>
            <a:r>
              <a:rPr sz="2600" b="0" i="0" dirty="0">
                <a:solidFill>
                  <a:srgbClr val="1B2025"/>
                </a:solidFill>
                <a:latin typeface="Avenir Next"/>
              </a:rPr>
              <a:t>Stacking layers builds a hierarchy of learned features</a:t>
            </a:r>
          </a:p>
          <a:p>
            <a:pPr>
              <a:spcAft>
                <a:spcPts val="1800"/>
              </a:spcAft>
            </a:pPr>
            <a:r>
              <a:rPr sz="2600" b="1" i="0" dirty="0">
                <a:solidFill>
                  <a:srgbClr val="0E7C7B"/>
                </a:solidFill>
                <a:latin typeface="Avenir Next"/>
              </a:rPr>
              <a:t>•  </a:t>
            </a:r>
            <a:r>
              <a:rPr sz="2600" b="0" i="0" dirty="0">
                <a:solidFill>
                  <a:srgbClr val="1B2025"/>
                </a:solidFill>
                <a:latin typeface="Avenir Next"/>
              </a:rPr>
              <a:t>💬 Your bench: name one </a:t>
            </a:r>
            <a:r>
              <a:rPr lang="en-US" sz="2600" b="0" i="0" dirty="0">
                <a:solidFill>
                  <a:srgbClr val="1B2025"/>
                </a:solidFill>
                <a:latin typeface="Avenir Next"/>
              </a:rPr>
              <a:t>task</a:t>
            </a:r>
            <a:r>
              <a:rPr sz="2600" b="0" i="0" dirty="0">
                <a:solidFill>
                  <a:srgbClr val="1B2025"/>
                </a:solidFill>
                <a:latin typeface="Avenir Next"/>
              </a:rPr>
              <a:t> a network could learn straight from YOUR raw data</a:t>
            </a:r>
          </a:p>
          <a:p>
            <a:pPr>
              <a:spcAft>
                <a:spcPts val="1800"/>
              </a:spcAft>
            </a:pPr>
            <a:r>
              <a:rPr sz="2600" b="1" i="0" dirty="0">
                <a:solidFill>
                  <a:srgbClr val="0E7C7B"/>
                </a:solidFill>
                <a:latin typeface="Avenir Next"/>
              </a:rPr>
              <a:t>•  </a:t>
            </a:r>
            <a:r>
              <a:rPr sz="2600" b="0" i="0" dirty="0">
                <a:solidFill>
                  <a:srgbClr val="1B2025"/>
                </a:solidFill>
                <a:latin typeface="Avenir Next"/>
              </a:rPr>
              <a:t>Next hour (Lecture 2): </a:t>
            </a:r>
            <a:r>
              <a:rPr lang="en-US" sz="2600" b="0" i="0" dirty="0">
                <a:solidFill>
                  <a:srgbClr val="1B2025"/>
                </a:solidFill>
                <a:latin typeface="Avenir Next"/>
              </a:rPr>
              <a:t>how to find the</a:t>
            </a:r>
            <a:r>
              <a:rPr sz="2600" b="0" i="0" dirty="0">
                <a:solidFill>
                  <a:srgbClr val="1B2025"/>
                </a:solidFill>
                <a:latin typeface="Avenir Next"/>
              </a:rPr>
              <a:t> </a:t>
            </a:r>
            <a:r>
              <a:rPr lang="en-US" sz="2600" b="0" i="0" dirty="0">
                <a:solidFill>
                  <a:srgbClr val="1B2025"/>
                </a:solidFill>
                <a:latin typeface="Avenir Next"/>
              </a:rPr>
              <a:t>best </a:t>
            </a:r>
            <a:r>
              <a:rPr sz="2600" b="0" i="0" dirty="0">
                <a:solidFill>
                  <a:srgbClr val="1B2025"/>
                </a:solidFill>
                <a:latin typeface="Avenir Next"/>
              </a:rPr>
              <a:t>weight</a:t>
            </a:r>
            <a:r>
              <a:rPr lang="en-US" sz="2600" b="0" i="0" dirty="0">
                <a:solidFill>
                  <a:srgbClr val="1B2025"/>
                </a:solidFill>
                <a:latin typeface="Avenir Next"/>
              </a:rPr>
              <a:t> setting</a:t>
            </a:r>
            <a:r>
              <a:rPr sz="2600" b="0" i="0" dirty="0">
                <a:solidFill>
                  <a:srgbClr val="1B2025"/>
                </a:solidFill>
                <a:latin typeface="Avenir Next"/>
              </a:rPr>
              <a:t>?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3738</Words>
  <Application>Microsoft Macintosh PowerPoint</Application>
  <PresentationFormat>Widescreen</PresentationFormat>
  <Paragraphs>124</Paragraphs>
  <Slides>22</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Avenir Next</vt:lpstr>
      <vt:lpstr>Menlo</vt:lpstr>
      <vt:lpstr>MSACL DS301</vt:lpstr>
      <vt:lpstr>PowerPoint Presentation</vt:lpstr>
      <vt:lpstr>Lixing (lee-shin)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Theory Fundamentals</vt:lpstr>
      <vt:lpstr>Perceptron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Song, Lixing</cp:lastModifiedBy>
  <cp:revision>39</cp:revision>
  <dcterms:created xsi:type="dcterms:W3CDTF">2013-01-27T09:14:16Z</dcterms:created>
  <dcterms:modified xsi:type="dcterms:W3CDTF">2026-09-24T17:33:24Z</dcterms:modified>
  <cp:category/>
</cp:coreProperties>
</file>
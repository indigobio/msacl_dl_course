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Monday afternoon, Segment 4 hour two, straight on from Lecture 10's "your data, your metrics." Here is the uncomfortable truth for a clinical lab: most of your data is UNLABELED — thousands of QC runs, spectra, chromatograms nobody ever annotated. This hour is about what you can still learn without labels. Four stops: (1) autoencoders — compress then reconstruct, and use the reconstruction error as an anomaly / QC score; (2) VAEs, intuitively — points vs. clouds, told entirely in pictures with NO derivation; (3) self-supervised learning — how foundation models pretrain by letting the data label itself (masking, contrastive, DINO); (4) semi-supervised in one slide — the "10,000 unlabeled + 100 labeled" pseudo-labeling middle path. The topic is conceptual, so the one numeric beat is reconstruction error: an MSE by hand, then a normal-vs-anomaly decision against a threshold — a straight callback to Lecture 10's sensitivity/specificity choice. Same interactive spine as every lecture: each I-do is followed by a you-do that IS a Quiz 11 item. Hand out Quiz 11 now, blank; we hit all four items live — the two latent pictures (Q1), the four-way paradigm match (Q2), the reconstruction-error compute (Q3), and the DINO/contrastive "why must the views agree?" (Q4). Lab 4 next hour builds a VAE on real spectra, so everything here is the on-ramp.</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four stops so the room can pace itself. Nothing here needs new math: the only arithmetic all hour is one mean-squared-error, computed by hand, which most of this room already knows from assay QC. Everything is anchored to mass-spec: an autoencoder that flags a bad run, a latent map of your spectra, a VAE that morphs one spectrum into another, a model that pretrains by masking peaks. The back half — self-supervised learning — is the "how do the big foundation models actually learn without labels" story, a callback to Lecture 8's BERT and a preview of Lecture 13. Aim for a hands-on beat about every 8–10 minutes; the compute beat is Q3 (reconstruction error), the rest are read-the-picture you-dos.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autoencoder with the canonical picture (rule 7 — a real, CC BY-SA licensed diagram, credited). Read it left to right: the input x (here a generic vector; for us, a spectrum) is compressed by the encoder into a small CODE z in the middle, then the decoder expands that code back out to a reconstruction x′. The training signal is unusual and the key to the whole lecture: there is no human label — the network's target is its own input, so it simply tries to copy the input to the output. The catch is the bottleneck. Because everything must pass through a code far smaller than the input, the network cannot just memorize; it has to learn a compact representation that keeps the important structure and throws away noise. That single idea — compress then reconstruct — powers all three lab uses we care about: denoising (rebuild a clean version), dimensionality reduction (the code is a compact summary), and anomaly detection (next). Next slide, the same picture MS-anchored, with the latent code as a map of your spectra.</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autoencoder, now drawn as an hourglass of neurons and MS-anchored. The wide input layer is a spectrum — thousands of intensity bins; the network squeezes it through a 2–3 number latent code and rebuilds it on the right. Land two payoffs the room will use. First, DIMENSIONALITY REDUCTION: the latent code is a tiny coordinate that summarizes an entire spectrum, so plotting every spectrum's code gives a 2-D MAP of your dataset — nearby points are similar spectra, and you can eyeball clusters (this is the "latent space as a map of your spectra" outcome, and it's what Lab 4 plots). Second, and the star of the next three slides: because the network only rebuilds well what it has seen before, the QUALITY of the reconstruction is itself an informative number. Train on good runs, and anything it rebuilds badly is suspicious. That is reconstruction error, coming up as an anomaly score.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for a clinical lab (rule 2). The trick: train the autoencoder ONLY on known-good runs. Now it is an expert at rebuilding normal spectra and clueless about anything else. Feed it a normal QC run (left panel): the reconstruction (amber dashed) lands right on top of the measurement (teal) — a small gap, LOW reconstruction error, so it passes. Feed it an abnormal run (right panel) — here an extra contaminant peak the model has never seen — and it rebuilds a "normal-shaped" spectrum that misses the contaminant entirely; the red shaded gap is large, the reconstruction error is HIGH, and we FLAG the run for a human. No labels were needed: "abnormal" is simply "the model can't rebuild it." This is exactly Discussion D4 from last hour — would reconstruction error catch a bad run before a human does? Next slide we turn "how big is the gap" into a single number and a decision.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numeric mechanic of the hour (rule 6), and the formula the you-do needs ON THE DECK first (rule 3). Reconstruction error collapses the whole gap between a spectrum and its rebuild into ONE number: the mean squared error, MSE = (1/n) Σ (xᵢ − x̂ᵢ)². Work the tiny 3-bin example live. Bin by bin: bin 1, 0.2 − 0.2 = 0, squared 0; bin 2, 0.5 − 0.4 = 0.1, squared 0.01; bin 3, 0.1 − 0.1 = 0, squared 0. Sum of squared errors = 0.01; divide by n = 3 → MSE = 0.01 / 3 = 0.0033 (exact, a repeating 0.00333…). Now the DECISION, which is the QC alarm: we set a threshold on normal runs — say 0.01 — and flag anything above it. 0.0033 &lt; 0.01, so this run is NORMAL and passes. Emphasize the callback: choosing that threshold is precisely the sensitivity/specificity trade-off from Lecture 10 — lower it to catch more anomalies (higher sensitivity, more false alarms), raise it to reduce false alarms (higher specificity). Next slide the room computes a fresh one — the Quiz 11 Q3 numbers.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Q3 (the same MSE-then-threshold skill, new numbers; this is the hour's compute beat and it assesses the reconstruction-error outcome). Work it exactly: bin 1, 0.1 − 0.1 = 0, squared 0; bin 2, 0.8 − 0.5 = 0.3, squared 0.09; bin 3, 0.2 − 0.2 = 0, squared 0. Sum of squared errors = 0.09; MSE = 0.09 / 3 = 0.03. Decision against the stated threshold 0.01: 0.03 &gt; 0.01 → ANOMALY, flag the run. Every number is exact and identical to the Quiz 11 Q3 figure and answer key. Contrast it with the I-do: same formula, but this run's single big mismatch (0.8 measured vs 0.5 rebuilt) pushes the error over the line. Take the MSE from the floor, confirm the call,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VAE, told as points vs. clouds — NO math (rule 9). Plot the same spectra in an autoencoder's latent space (left) and a VAE's (right). The plain autoencoder tends to scatter its training spectra into tight, separated ISLANDS with large empty regions between them — it has essentially memorized each example as a point and left the space between undefined; decode a latent point that falls in one of those gaps and the decoder, never trained there, emits garbage. A VAE is trained to do the same reconstruction PLUS keep its latent codes packed into one smooth, centered, gap-free CLOUD. Because the cloud has no holes, EVERY point in it decodes to a plausible spectrum — which unlocks two abilities the AE lacks: you can SAMPLE a new latent point and get a brand-new realistic spectrum, and you can walk between two real spectra and get a smooth morph (next slides). The single visual test the quiz asks: gaps and islands = AE; one smooth organized cloud = VAE. Next, the recipe that produces that tidy cloud, then the interpolation payoff, then the room makes the call.</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VAE recipe in one picture, deliberately NO derivation (the outcome says "explain intuitively", and the audience has no calculus). A VAE's loss is just two ingredients added together. INGREDIENT ONE is reconstruction — output ≈ input — identical to a plain autoencoder, and it's what keeps the spectra faithful. INGREDIENT TWO is a "keep the cloud tidy" penalty: it gently pulls every latent code toward one neat, centered blob, so the codes pack together with no empty gaps. That second term is the ONLY difference from an autoencoder, and it's what turns scattered islands into a smooth cloud. There's a tension the room will meet in Lab 4: crank the tidiness term too high and the codes all collapse to the center and reconstructions go blurry; too low and you're back to an autoencoder with gaps. Name the term for Lab 4 — it's the "KL weight" — but do NOT write the KL formula; the equalizer intuition (reconstruct vs. tidy) is all they need. Next, the payoff of the smooth cloud: interpolation.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 payoff and the clearest proof the cloud is smooth. Take two real spectra, A and B; encode each to its latent code; then walk a straight line between those two codes and decode a handful of stops along the way. The decoded spectra MORPH continuously — peaks slide in m/z and trade height as you move from A to B — a smooth interpolation, not an abrupt switch. The teaching point: this is only possible because the VAE's latent cloud is gap-free, so every intermediate point on the line is a valid, plausible spectrum. Try the same walk in a plain autoencoder's latent space and somewhere in the middle you cross an empty gap the decoder was never trained on, and out comes garbage. This is exactly the Lab 4 "fun payoff" cell — sample latent points and interpolate between two spectra — so it's a direct preview. 💬 DO-IT-TOGETHER (30 sec, to break the VAE stretch): walking stop 1 → stop 5, the LEFT peak SHRINKS — it starts tall at stop 1 (spectrum A) and is clearly lower by stop 5 (spectrum B), while the middle peak rises; that continuous trade of peak heights IS the smooth morph the gap-free cloud buys you. Take the call, then next slide the room makes the AE-vs-VAE identification itself (Quiz 11 Q1).</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Q1 (tell an AE latent from a VAE latent in a picture — the VAE outcome, assessed). Answer: PICTURE B is the VAE. One-sentence justification (any equivalent): B is one smooth, organized, gap-free cloud where every point decodes to a plausible spectrum, whereas Picture A is scattered islands with big empty gaps that would decode to garbage — the autoencoder. Run the 💬 pair prompt from the outcomes: which map would you trust to flag a NOVEL contaminant? The VAE cloud (B) — a genuinely new spectrum lands OUTSIDE the tidy cloud (high reconstruction error, easy to flag), while the AE's gaps make "far from training data" ambiguous. Both pictures are reproduced verbatim on the Quiz 11 sheet, so the room answers straight off this slide. Take one answer with its reason,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to the idea behind every modern foundation model. So far, autoencoders and VAEs learned without labels by reconstructing their input. Self-supervised learning generalizes that trick: invent a "pretext" task where the ANSWER is already hidden in the data, so the data supplies its own labels for free. Train a big model on millions of unlabeled examples that way and its body learns general-purpose features — then fine-tune a small head on your few hundred labels (Lecture 8's transfer learning). This is how BERT, GPT, the protein language models, and the DINO vision models are all pretrained. Three flavors coming up: masking (the BERT callback), contrastive learning, and DINO's student–teacher self-distillation — each one anchored to spectra.</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self-supervised flavor, and a direct callback to Lecture 8's BERT. The pretext task: take an unlabeled sequence, hide a piece of it, and train the model to fill in the blank from the surrounding context. On a peptide, mask a residue — A–C–[MASK]–E–F–G — and predict the missing D; on a spectrum, mask a peak or a region and predict it back. The label was never supplied by a human — it's just the token you hid, so any pile of unlabeled data becomes training data. Run this over millions of unlabeled sequences or spectra and the model is forced to learn genuine structure (which residues co-occur, what a real peak pattern looks like) to succeed — exactly the general features you then transfer. This is precisely how BERT pretrained on text and how protein language models like ESM-2 (Lab 3's bonus) pretrained on sequences. Next, a different self-supervised idea: agreement between two views.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self-supervised flavor: contrastive learning. Take one spectrum and make two AUGMENTED views of it — add intensity noise for one, shift the m/z axis slightly for the other (exactly the Lab 2 augmentations). Both views still come from the same physical sample, so the model should map them to NEARBY points in embedding space — "pull together" — while a view of a DIFFERENT spectrum is pushed apart. The self-supervised label is just "did these two come from the same source?", which you know for free because YOU made the augmentations. By insisting that augmented views agree, the model is forced to learn features that capture the real content and IGNORE the nuisance variation (noise, small shifts) — which is precisely the augmentation-invariance you want for robust spectra. This "views must agree" idea is the core of Quiz 11 Q4, and it sets up DINO, which takes the same agreement principle and adds a teacher.</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self-supervised flavor and the one with the striking visual: DINO (self-DIstillation with NO labels, Caron et al. 2021). It runs on the same "two views must agree" principle as contrastive learning, packaged as a student and a teacher. Two augmented views of one input are fed to a STUDENT network and a TEACHER network; the student is trained so its output distribution MATCHES the teacher's on the same input. Where does the teacher come from with no labels? It IS the student — a slow moving average of the student's own weights — so the model teaches itself, which is why it's called self-distillation. The famous, almost eerie payoff (right panel): after this label-free pretraining, the model's ATTENTION spontaneously highlights the main object in an image — unsupervised segmentation, no masks or boxes ever provided. For us the message is the through-line of the whole self-supervised section: augmentation-invariance — make different views of the same thing agree — plus scale is enough to learn powerful, general features without labels, which is how modern foundation models pretrain (forward to Lecture 13). Next slide the room answers WHY the views must agree (Quiz 11 Q4).</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Q4 (the contrastive/DINO intuition; assesses the self-supervised outcome). Expected answer (any equivalent phrasing earns full credit): the two views differ only by nuisance augmentations — added noise, an m/z shift — while the underlying sample is identical, so forcing their embeddings to AGREE makes the model learn the stable, real content and IGNORE the nuisance variation (augmentation-invariance). A good extension: that invariance is exactly what you want for spectra, because the same sample on a different day or instrument should still land in the same place. And note the guardrail — the augmentations must preserve the biology; if a "view" changed the actual signal, forcing agreement would teach the model to ignore something real. Take one answer from the floor, then have them fill Q4. That's the third and fourth Quiz 11 items done — one more paradigm to name.</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and last paradigm, deliberately one slide and named-not-derived (per the outcomes). Real labs rarely have zero labels OR plenty — they have a FEW hundred labeled examples and thousands of unlabeled ones. Semi-supervised learning uses both. The workhorse recipe is PSEUDO-LABELING: train a first model on your 100 labeled spectra; use it to predict labels for the 10,000 unlabeled ones; KEEP only the confident predictions as "pseudo-labels"; then retrain on the 100 real plus the confident pseudo-labeled examples, and optionally repeat. The unlabeled mountain, cheaply labeled by the model itself, pulls the decision boundary into better shape. The only goal here is that the room LEAVES knowing the term and where it sits — the middle path between fully supervised (Lectures 1–8) and fully unsupervised (autoencoders, today) — so when a vendor or paper says "semi-supervised," they know what it means. One honest caveat: confident-but-wrong pseudo-labels can reinforce a model's own mistakes, so the confidence filter matters. Next, put all four paradigms side by side for the match.</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chart the Q2 four-way match is answerable from (rule 3). Walk the four rows by the ONE question that decides each: what data do you have? SUPERVISED — you have many LABELED examples, so learn a direct input→label map (every lecture so far; e.g. labeled spectra → resistant/susceptible). UNSUPERVISED — you have NO labels, so find structure or score anomalies (today's autoencoder flagging bad QC runs; clustering). SELF-SUPERVISED — no labels either, but the DATA LABELS ITSELF via a pretext task that pretrains a general body (mask peaks and predict, then fine-tune) — the foundation-model recipe. SEMI-SUPERVISED — you have FEW labels plus MANY unlabeled, so pseudo-label the rest and retrain. I-do one row aloud — the autoencoder QC case is unsupervised — then the room matches four scenarios off this same chart next slide (Quiz 11 Q2).</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11 Q2 (match four lab scenarios to the four paradigms; each used once). Straight off the chart: (a) 3,000 spectra each carrying an S/R label, train a classifier → SUPERVISED (labels in hand, learn input→label). (b) 50,000 unlabeled QC runs, flag the abnormal ones → UNSUPERVISED (no labels; an autoencoder's reconstruction error scores anomalies — today's first half). (c) pretrain on millions of UNLABELED spectra by masking peaks and predicting them, then fine-tune on your few labels → SELF-SUPERVISED (the data labels itself via a pretext task). (d) 100 labeled + 10,000 unlabeled, use the model to label the rest and retrain → SEMI-SUPERVISED (pseudo-labeling, the middle path). Each paradigm used exactly once; identical to the Quiz 11 Q2 key. Take one match from the floor, confirm against the chart, then have them fill Q2 — that's all four Quiz 11 items worked live.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11 outcomes, each already exercised this hour and tied to a Quiz 11 item: the autoencoder + reconstruction-error compute (Q3), the AE-vs-VAE latent picture (Q1), the four-paradigm match (Q2), and the self-supervised "views must agree" intuition (Q4). The sheet was done across the hour, not as an end block — a distributed worksheet. Frame the takeaway: most lab data is unlabeled, and you now have a menu for it — reconstruct to denoise or flag anomalies, learn a smooth latent to sample and interpolate, let the data label itself to pretrain a body, or bridge a few labels to many with pseudo-labeling. Keep the sheet as the on-ramp to Lab 4.</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final minutes to finishing Quiz 11 and selling Lab 4, which makes this whole hour real. Lab 4 trains a VAE on normal spectra, scores held-out spectra by reconstruction error to flag anomalies (the Q3 mechanic on real data), and has you PICK the threshold — a sensitivity/specificity decision, the explicit callback to Lecture 10. Then it plots the 2-D latent map, compares it against a plain autoencoder's latent (the Q1 picture on real data), and lets you sample latent points and interpolate between two spectra to watch the morph (the interpolation slide, live). The fill-in blanks are the latent size, the KL "tidiness" weight from the VAE recipe, and the anomaly threshold. Run Discussion D4 as the segment close — where would reconstruction error flag a bad run before a human notices — then mark Quiz 11 together as Colab boots.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4 · LECTURE 11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Learning without (many) labels</a:t>
            </a:r>
          </a:p>
          <a:p>
            <a:pPr>
              <a:spcBef>
                <a:spcPts val="1600"/>
              </a:spcBef>
            </a:pPr>
            <a:r>
              <a:rPr sz="2200" b="0" i="0">
                <a:solidFill>
                  <a:srgbClr val="0E7C7B"/>
                </a:solidFill>
                <a:latin typeface="Avenir Next"/>
              </a:rPr>
              <a:t>Autoencoders · reconstruction error as a QC alarm · VAEs (points vs clouds) · self-supervised &amp; DINO · the semi-supervised middle path</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no labels required</a:t>
            </a:r>
          </a:p>
        </p:txBody>
      </p:sp>
      <p:sp>
        <p:nvSpPr>
          <p:cNvPr id="5" name="TextBox 4"/>
          <p:cNvSpPr txBox="1"/>
          <p:nvPr/>
        </p:nvSpPr>
        <p:spPr>
          <a:xfrm>
            <a:off x="548640" y="1920240"/>
            <a:ext cx="10789920" cy="457200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Autoencoders — compress → reconstruct; reconstruction error as an anomaly / QC score</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VAEs, intuitively — points vs. clouds; sample and interpolate; tell an AE latent from a VAE latent</a:t>
            </a:r>
            <a:r>
              <a:rPr sz="2100" b="0" i="0">
                <a:solidFill>
                  <a:srgbClr val="8A9099"/>
                </a:solidFill>
                <a:latin typeface="Menlo"/>
              </a:rPr>
              <a:t>   · 16 min</a:t>
            </a:r>
          </a:p>
          <a:p>
            <a:pPr>
              <a:spcAft>
                <a:spcPts val="1800"/>
              </a:spcAft>
            </a:pPr>
            <a:r>
              <a:rPr sz="2600" b="1" i="0">
                <a:solidFill>
                  <a:srgbClr val="0E7C7B"/>
                </a:solidFill>
                <a:latin typeface="Avenir Next"/>
              </a:rPr>
              <a:t>•  </a:t>
            </a:r>
            <a:r>
              <a:rPr sz="2600" b="0" i="0">
                <a:solidFill>
                  <a:srgbClr val="1B2025"/>
                </a:solidFill>
                <a:latin typeface="Avenir Next"/>
              </a:rPr>
              <a:t>Self-supervised — the data labels itself: masking (BERT), contrastive, DINO</a:t>
            </a:r>
            <a:r>
              <a:rPr sz="2100" b="0" i="0">
                <a:solidFill>
                  <a:srgbClr val="8A9099"/>
                </a:solidFill>
                <a:latin typeface="Menlo"/>
              </a:rPr>
              <a:t>   · 17 min</a:t>
            </a:r>
          </a:p>
          <a:p>
            <a:pPr>
              <a:spcAft>
                <a:spcPts val="1800"/>
              </a:spcAft>
            </a:pPr>
            <a:r>
              <a:rPr sz="2600" b="1" i="0">
                <a:solidFill>
                  <a:srgbClr val="0E7C7B"/>
                </a:solidFill>
                <a:latin typeface="Avenir Next"/>
              </a:rPr>
              <a:t>•  </a:t>
            </a:r>
            <a:r>
              <a:rPr sz="2600" b="0" i="0">
                <a:solidFill>
                  <a:srgbClr val="1B2025"/>
                </a:solidFill>
                <a:latin typeface="Avenir Next"/>
              </a:rPr>
              <a:t>Semi-supervised in one slide — pseudo-labeling, the 10,000 + 100 middle path; then Quiz 11</a:t>
            </a:r>
            <a:r>
              <a:rPr sz="2100" b="0" i="0">
                <a:solidFill>
                  <a:srgbClr val="8A9099"/>
                </a:solidFill>
                <a:latin typeface="Menlo"/>
              </a:rPr>
              <a:t>   · 13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COMPRESS → RECONSTRUCT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autoencoder squeezes, then rebuilds</a:t>
            </a:r>
          </a:p>
        </p:txBody>
      </p:sp>
      <p:pic>
        <p:nvPicPr>
          <p:cNvPr id="5" name="Picture 4" descr="autoencoder_schema.png"/>
          <p:cNvPicPr>
            <a:picLocks noChangeAspect="1"/>
          </p:cNvPicPr>
          <p:nvPr/>
        </p:nvPicPr>
        <p:blipFill>
          <a:blip r:embed="rId2"/>
          <a:stretch>
            <a:fillRect/>
          </a:stretch>
        </p:blipFill>
        <p:spPr>
          <a:xfrm>
            <a:off x="4510906" y="1828800"/>
            <a:ext cx="3139708"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canonical autoencoder: input x → code z → reconstruction x′ · diagram: Michela Massi,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An autoencoder has two halves. The ENCODER squeezes the input down to a tiny latent code z; the DECODER rebuilds the input from just that code. It is trained with NO labels — the target is the input itself, so it learns to make output ≈ input. The squeeze is the whole point: forced through a narrow code, the network can only keep what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THE BOTTLENECK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bottleneck: a spectrum in, a spectrum out</a:t>
            </a:r>
          </a:p>
        </p:txBody>
      </p:sp>
      <p:pic>
        <p:nvPicPr>
          <p:cNvPr id="5" name="Picture 4" descr="fig_ae_bottleneck.png"/>
          <p:cNvPicPr>
            <a:picLocks noChangeAspect="1"/>
          </p:cNvPicPr>
          <p:nvPr/>
        </p:nvPicPr>
        <p:blipFill>
          <a:blip r:embed="rId2"/>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MS anchor: the input is a spectrum (thousands of intensities); the latent code z is just 2–3 numbers; the decoder rebuilds the spectrum from those. Two payoffs: z is a compact MAP coordinate for each spectrum (dimensionality reduction — plot the map, cluster it), and 'how well does it rebuild?' becomes a score we can threshold.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AS A QC ALARM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Rebuild it badly → flag it</a:t>
            </a:r>
          </a:p>
        </p:txBody>
      </p:sp>
      <p:pic>
        <p:nvPicPr>
          <p:cNvPr id="5" name="Picture 4" descr="fig_anomaly_overlay.png"/>
          <p:cNvPicPr>
            <a:picLocks noChangeAspect="1"/>
          </p:cNvPicPr>
          <p:nvPr/>
        </p:nvPicPr>
        <p:blipFill>
          <a:blip r:embed="rId2"/>
          <a:stretch>
            <a:fillRect/>
          </a:stretch>
        </p:blipFill>
        <p:spPr>
          <a:xfrm>
            <a:off x="2015618" y="1828800"/>
            <a:ext cx="8130283"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Train the autoencoder ONLY on good QC runs. A normal run (left) reconstructs almost perfectly — small gap, LOW error → pass. An abnormal run with a contaminant peak (right) the model never learned to rebuild — big red gap, HIGH error → FLAG. Reconstruction error is an unsupervised anomaly / QC alarm.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RECONSTRUCTION ERROR, WORKED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Reconstruction error = MSE, by hand</a:t>
            </a:r>
          </a:p>
        </p:txBody>
      </p:sp>
      <p:pic>
        <p:nvPicPr>
          <p:cNvPr id="5" name="Picture 4" descr="fig_recon_error_ido.png"/>
          <p:cNvPicPr>
            <a:picLocks noChangeAspect="1"/>
          </p:cNvPicPr>
          <p:nvPr/>
        </p:nvPicPr>
        <p:blipFill>
          <a:blip r:embed="rId2"/>
          <a:stretch>
            <a:fillRect/>
          </a:stretch>
        </p:blipFill>
        <p:spPr>
          <a:xfrm>
            <a:off x="2104962" y="1828800"/>
            <a:ext cx="795159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One number for the whole gap: MSE = (1/n) Σ (xᵢ − x̂ᵢ)². Here x = (0.2, 0.5, 0.1), x̂ = (0.2, 0.4, 0.1). Squared errors: 0, 0.01, 0 → sum 0.01 → MSE = 0.01 / 3 = 0.0033. With a QC threshold of 0.01: 0.0033 &lt; 0.01 → NORMAL (pass). Same threshold idea as Lecture 10's sensitivity/specificity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AUTOENCODERS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compute the error, make the call</a:t>
            </a:r>
          </a:p>
        </p:txBody>
      </p:sp>
      <p:pic>
        <p:nvPicPr>
          <p:cNvPr id="5" name="Picture 4" descr="fig_recon_error_youdo.png"/>
          <p:cNvPicPr>
            <a:picLocks noChangeAspect="1"/>
          </p:cNvPicPr>
          <p:nvPr/>
        </p:nvPicPr>
        <p:blipFill>
          <a:blip r:embed="rId2"/>
          <a:stretch>
            <a:fillRect/>
          </a:stretch>
        </p:blipFill>
        <p:spPr>
          <a:xfrm>
            <a:off x="1820259" y="1828800"/>
            <a:ext cx="8521002" cy="3877055"/>
          </a:xfrm>
          <a:prstGeom prst="rect">
            <a:avLst/>
          </a:prstGeom>
        </p:spPr>
      </p:pic>
      <p:sp>
        <p:nvSpPr>
          <p:cNvPr id="6" name="Rectangle 5"/>
          <p:cNvSpPr/>
          <p:nvPr/>
        </p:nvSpPr>
        <p:spPr>
          <a:xfrm>
            <a:off x="548640" y="5797295"/>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Q3. Same formula, new numbers: x = (0.1, 0.8, 0.2), x̂ = (0.1, 0.5, 0.2), threshold 0.01. Compute each squared error, then the MSE, then decide: normal or anomaly? Worked answer in the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POINTS VS CLOUDS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AE vs VAE: scattered islands vs a smooth cloud</a:t>
            </a:r>
          </a:p>
        </p:txBody>
      </p:sp>
      <p:pic>
        <p:nvPicPr>
          <p:cNvPr id="5" name="Picture 4" descr="fig_ae_vs_vae_latent.png"/>
          <p:cNvPicPr>
            <a:picLocks noChangeAspect="1"/>
          </p:cNvPicPr>
          <p:nvPr/>
        </p:nvPicPr>
        <p:blipFill>
          <a:blip r:embed="rId2"/>
          <a:stretch>
            <a:fillRect/>
          </a:stretch>
        </p:blipFill>
        <p:spPr>
          <a:xfrm>
            <a:off x="2866561" y="1828800"/>
            <a:ext cx="642839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spectra, two latent maps. AE (left): each spectrum is memorized as an isolated point — tight islands with big EMPTY GAPS between them; decode a point in a gap and you get garbage. VAE (right): one smooth, organised, gap-free CLOUD — every point decodes to a plausible spectrum, so you can SAMPLE new spectra and INTERPOLATE between real ones.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THE RECIPE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VAE recipe: reconstruct + keep the cloud tidy</a:t>
            </a:r>
          </a:p>
        </p:txBody>
      </p:sp>
      <p:pic>
        <p:nvPicPr>
          <p:cNvPr id="5" name="Picture 4" descr="fig_vae_recipe.png"/>
          <p:cNvPicPr>
            <a:picLocks noChangeAspect="1"/>
          </p:cNvPicPr>
          <p:nvPr/>
        </p:nvPicPr>
        <p:blipFill>
          <a:blip r:embed="rId2"/>
          <a:stretch>
            <a:fillRect/>
          </a:stretch>
        </p:blipFill>
        <p:spPr>
          <a:xfrm>
            <a:off x="1293268" y="1828800"/>
            <a:ext cx="9574983"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Two ingredients, no derivation. (1) Reconstruction — output ≈ input, same as an autoencoder. (2) A 'keep the cloud tidy' penalty — pull every code toward one neat, centered blob so no gaps open up. Balance the two and you get a smooth, sampleable, interpolatable latent. (In Lab 4 that tidiness term is the KL weight you tune.)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INTERPOLATION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Walk a line → one spectrum morphs into another</a:t>
            </a:r>
          </a:p>
        </p:txBody>
      </p:sp>
      <p:pic>
        <p:nvPicPr>
          <p:cNvPr id="5" name="Picture 4" descr="fig_latent_interp.png"/>
          <p:cNvPicPr>
            <a:picLocks noChangeAspect="1"/>
          </p:cNvPicPr>
          <p:nvPr/>
        </p:nvPicPr>
        <p:blipFill>
          <a:blip r:embed="rId2"/>
          <a:stretch>
            <a:fillRect/>
          </a:stretch>
        </p:blipFill>
        <p:spPr>
          <a:xfrm>
            <a:off x="3518240" y="1828800"/>
            <a:ext cx="5125039"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Pick two real spectra, A and B, find their latent codes, and walk a straight line between them. Decoding each stop gives a smooth MORPH — peaks slide and swap height from A into B. This only works because the VAE cloud is gap-free: every stop on the line is a valid, plausible spectrum. An AE's gaps would decode to garbage partway across.  💬 30 sec with your neighbor: walking stop 1 (A) → stop 5 (B), does the LEFT peak grow or shrink? (Answer in notes: it shrinks, 1.0 → 0.4, smoothly — every stop is a valid spectrum.)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VAES · YOUR TURN (YOU-DO = Q1)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picture is the VAE?</a:t>
            </a:r>
          </a:p>
        </p:txBody>
      </p:sp>
      <p:pic>
        <p:nvPicPr>
          <p:cNvPr id="5" name="Picture 4" descr="fig_latent_ab_quiz.png"/>
          <p:cNvPicPr>
            <a:picLocks noChangeAspect="1"/>
          </p:cNvPicPr>
          <p:nvPr/>
        </p:nvPicPr>
        <p:blipFill>
          <a:blip r:embed="rId2"/>
          <a:stretch>
            <a:fillRect/>
          </a:stretch>
        </p:blipFill>
        <p:spPr>
          <a:xfrm>
            <a:off x="1963667" y="1828800"/>
            <a:ext cx="8234186"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Q1. Two latent maps of the same spectra. Which one is the VAE — and justify in ONE sentence. 💬 With your neighbor: which map would you trust to flag a NOVEL contaminant, and why? Worked answer in the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PART THREE</a:t>
            </a:r>
          </a:p>
        </p:txBody>
      </p:sp>
      <p:sp>
        <p:nvSpPr>
          <p:cNvPr id="4" name="TextBox 3"/>
          <p:cNvSpPr txBox="1"/>
          <p:nvPr/>
        </p:nvSpPr>
        <p:spPr>
          <a:xfrm>
            <a:off x="548640" y="2113280"/>
            <a:ext cx="11064240" cy="2174240"/>
          </a:xfrm>
          <a:prstGeom prst="rect">
            <a:avLst/>
          </a:prstGeom>
          <a:noFill/>
        </p:spPr>
        <p:txBody>
          <a:bodyPr wrap="square" anchor="ctr">
            <a:spAutoFit/>
          </a:bodyPr>
          <a:lstStyle/>
          <a:p>
            <a:r>
              <a:rPr sz="4400" b="1" i="0">
                <a:solidFill>
                  <a:srgbClr val="1B2025"/>
                </a:solidFill>
                <a:latin typeface="Avenir Next"/>
              </a:rPr>
              <a:t>Self-supervised learning — the data labels itself</a:t>
            </a:r>
          </a:p>
          <a:p>
            <a:pPr>
              <a:spcBef>
                <a:spcPts val="1600"/>
              </a:spcBef>
            </a:pPr>
            <a:r>
              <a:rPr sz="2200" b="0" i="0">
                <a:solidFill>
                  <a:srgbClr val="0E7C7B"/>
                </a:solidFill>
                <a:latin typeface="Avenir Next"/>
              </a:rPr>
              <a:t>how the big foundation models pretrain without a single human label</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MASKING (BERT)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Masking: hide a piece, predict it</a:t>
            </a:r>
          </a:p>
        </p:txBody>
      </p:sp>
      <p:pic>
        <p:nvPicPr>
          <p:cNvPr id="5" name="Picture 4" descr="fig_masking.png"/>
          <p:cNvPicPr>
            <a:picLocks noChangeAspect="1"/>
          </p:cNvPicPr>
          <p:nvPr/>
        </p:nvPicPr>
        <p:blipFill>
          <a:blip r:embed="rId2"/>
          <a:stretch>
            <a:fillRect/>
          </a:stretch>
        </p:blipFill>
        <p:spPr>
          <a:xfrm>
            <a:off x="1587012" y="1828800"/>
            <a:ext cx="898749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The BERT trick (Lecture 8), now a pretext task: hide part of the input and make the model predict it from context. Mask a residue in a peptide (A–C–?–E–F–G → predict D), or a peak in a spectrum. No human labels — the hidden token IS the answer. Do this on millions of unlabeled sequences and the body learns real structure.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CONTRASTIVE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Contrastive: two views should land together</a:t>
            </a:r>
          </a:p>
        </p:txBody>
      </p:sp>
      <p:pic>
        <p:nvPicPr>
          <p:cNvPr id="5" name="Picture 4" descr="fig_contrastive.png"/>
          <p:cNvPicPr>
            <a:picLocks noChangeAspect="1"/>
          </p:cNvPicPr>
          <p:nvPr/>
        </p:nvPicPr>
        <p:blipFill>
          <a:blip r:embed="rId2"/>
          <a:stretch>
            <a:fillRect/>
          </a:stretch>
        </p:blipFill>
        <p:spPr>
          <a:xfrm>
            <a:off x="1922167" y="1828800"/>
            <a:ext cx="8317186"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Make two augmented VIEWS of the same spectrum — add noise, shift m/z. They're still the same sample, so their embeddings should land TOGETHER (pull), while a different spectrum is pushed APART. The label is simply 'same source or not' — no human needed. The model learns features that ignore nuisance augmentations.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DINO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DINO: a student learns to match a teacher</a:t>
            </a:r>
          </a:p>
        </p:txBody>
      </p:sp>
      <p:pic>
        <p:nvPicPr>
          <p:cNvPr id="5" name="Picture 4" descr="fig_dino.png"/>
          <p:cNvPicPr>
            <a:picLocks noChangeAspect="1"/>
          </p:cNvPicPr>
          <p:nvPr/>
        </p:nvPicPr>
        <p:blipFill>
          <a:blip r:embed="rId2"/>
          <a:stretch>
            <a:fillRect/>
          </a:stretch>
        </p:blipFill>
        <p:spPr>
          <a:xfrm>
            <a:off x="2523493" y="1828800"/>
            <a:ext cx="711453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student–teacher self-distillation; the object-segmentation panel is an illustrative schematic of the DINO attention result (Caron et al. 2021, Meta AI, code Apache-2.0)</a:t>
            </a:r>
          </a:p>
        </p:txBody>
      </p:sp>
      <p:sp>
        <p:nvSpPr>
          <p:cNvPr id="7" name="Rectangle 6"/>
          <p:cNvSpPr/>
          <p:nvPr/>
        </p:nvSpPr>
        <p:spPr>
          <a:xfrm>
            <a:off x="548640" y="5242561"/>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DINO = self-distillation with no labels. Two augmented views of one input go to a STUDENT and a TEACHER network; the student is trained so its output MATCHES the teacher's, and the teacher is just a slow moving average of the student. Same 'augmented views must agree' idea — and the famous payoff: attention learns to segment the object with no labels at 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SELF-SUPERVISED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why must the two views agree?</a:t>
            </a:r>
          </a:p>
        </p:txBody>
      </p:sp>
      <p:pic>
        <p:nvPicPr>
          <p:cNvPr id="5" name="Picture 4" descr="fig_contrastive.png"/>
          <p:cNvPicPr>
            <a:picLocks noChangeAspect="1"/>
          </p:cNvPicPr>
          <p:nvPr/>
        </p:nvPicPr>
        <p:blipFill>
          <a:blip r:embed="rId2"/>
          <a:stretch>
            <a:fillRect/>
          </a:stretch>
        </p:blipFill>
        <p:spPr>
          <a:xfrm>
            <a:off x="1666415" y="1828800"/>
            <a:ext cx="8828689" cy="3840479"/>
          </a:xfrm>
          <a:prstGeom prst="rect">
            <a:avLst/>
          </a:prstGeom>
        </p:spPr>
      </p:pic>
      <p:sp>
        <p:nvSpPr>
          <p:cNvPr id="6" name="Rectangle 5"/>
          <p:cNvSpPr/>
          <p:nvPr/>
        </p:nvSpPr>
        <p:spPr>
          <a:xfrm>
            <a:off x="548640" y="576071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Q4. Two augmented views of the SAME spectrum are forced to land together. In one sentence: WHY must they agree — what does that force the model to learn? Worked answer in the notes.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SEMI-SUPERVISED · THE MIDDLE PATH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Semi-supervised: 10,000 unlabeled + 100 labeled</a:t>
            </a:r>
          </a:p>
        </p:txBody>
      </p:sp>
      <p:pic>
        <p:nvPicPr>
          <p:cNvPr id="5" name="Picture 4" descr="fig_pseudolabel.png"/>
          <p:cNvPicPr>
            <a:picLocks noChangeAspect="1"/>
          </p:cNvPicPr>
          <p:nvPr/>
        </p:nvPicPr>
        <p:blipFill>
          <a:blip r:embed="rId2"/>
          <a:stretch>
            <a:fillRect/>
          </a:stretch>
        </p:blipFill>
        <p:spPr>
          <a:xfrm>
            <a:off x="1636095" y="1828800"/>
            <a:ext cx="888933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realistic lab case: a FEW labeled examples and a MOUNTAIN of unlabeled ones. Pseudo-labeling bridges them — train on the 100, predict on the 10,000, KEEP the confident guesses as 'pseudo-labels', and retrain on the combined set. Named so you know the term (not deeper); it's the middle path between fully supervised and fully unsupervised.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THE MATCHING CHART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paradigms, side by side</a:t>
            </a:r>
          </a:p>
        </p:txBody>
      </p:sp>
      <p:pic>
        <p:nvPicPr>
          <p:cNvPr id="5" name="Picture 4" descr="fig_paradigm_chart.png"/>
          <p:cNvPicPr>
            <a:picLocks noChangeAspect="1"/>
          </p:cNvPicPr>
          <p:nvPr/>
        </p:nvPicPr>
        <p:blipFill>
          <a:blip r:embed="rId2"/>
          <a:stretch>
            <a:fillRect/>
          </a:stretch>
        </p:blipFill>
        <p:spPr>
          <a:xfrm>
            <a:off x="2612872" y="1828800"/>
            <a:ext cx="6935775"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Match the DATA YOU HAVE to a paradigm. SUPERVISED: many labeled → learn input→label. UNSUPERVISED: no labels → find structure / score anomalies (autoencoder QC). SELF-SUPERVISED: no labels, the data labels itself → pretext task pretrains a body (mask &amp; predict). SEMI-SUPERVISED: few labeled + many unlabeled → pseudo-label the rest.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PARADIGMS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match four scenarios</a:t>
            </a:r>
          </a:p>
        </p:txBody>
      </p:sp>
      <p:pic>
        <p:nvPicPr>
          <p:cNvPr id="5" name="Picture 4" descr="fig_paradigm_youdo.png"/>
          <p:cNvPicPr>
            <a:picLocks noChangeAspect="1"/>
          </p:cNvPicPr>
          <p:nvPr/>
        </p:nvPicPr>
        <p:blipFill>
          <a:blip r:embed="rId2"/>
          <a:stretch>
            <a:fillRect/>
          </a:stretch>
        </p:blipFill>
        <p:spPr>
          <a:xfrm>
            <a:off x="2612872" y="1828800"/>
            <a:ext cx="6935775"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11, Q2. Match each scenario to ONE paradigm (each used once): (a) 3,000 spectra each labeled S/R, train a classifier; (b) 50,000 unlabeled runs, flag the abnormal ones; (c) pretrain on millions of unlabeled spectra by masking peaks, then fine-tune; (d) 100 labeled + 10,000 unlabeled, label the rest and retrain. Worked answer in the notes.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Explain an autoencoder (compress → reconstruct) and its uses: denoising, dimensionality reduction, anomaly/QC detection</a:t>
            </a:r>
          </a:p>
          <a:p>
            <a:pPr>
              <a:spcAft>
                <a:spcPts val="1800"/>
              </a:spcAft>
            </a:pPr>
            <a:r>
              <a:rPr sz="2100" b="1" i="0">
                <a:solidFill>
                  <a:srgbClr val="0E7C7B"/>
                </a:solidFill>
                <a:latin typeface="Avenir Next"/>
              </a:rPr>
              <a:t>•  </a:t>
            </a:r>
            <a:r>
              <a:rPr sz="2100" b="0" i="0">
                <a:solidFill>
                  <a:srgbClr val="1B2025"/>
                </a:solidFill>
                <a:latin typeface="Avenir Next"/>
              </a:rPr>
              <a:t>Compute a reconstruction error (MSE) and turn it into a normal-vs-anomaly QC call against a threshold (Quiz 11 Q3)</a:t>
            </a:r>
          </a:p>
          <a:p>
            <a:pPr>
              <a:spcAft>
                <a:spcPts val="1800"/>
              </a:spcAft>
            </a:pPr>
            <a:r>
              <a:rPr sz="2100" b="1" i="0">
                <a:solidFill>
                  <a:srgbClr val="0E7C7B"/>
                </a:solidFill>
                <a:latin typeface="Avenir Next"/>
              </a:rPr>
              <a:t>•  </a:t>
            </a:r>
            <a:r>
              <a:rPr sz="2100" b="0" i="0">
                <a:solidFill>
                  <a:srgbClr val="1B2025"/>
                </a:solidFill>
                <a:latin typeface="Avenir Next"/>
              </a:rPr>
              <a:t>Tell an AE latent from a VAE latent in a picture, and say why a VAE can sample and interpolate (Quiz 11 Q1)</a:t>
            </a:r>
          </a:p>
          <a:p>
            <a:pPr>
              <a:spcAft>
                <a:spcPts val="1800"/>
              </a:spcAft>
            </a:pPr>
            <a:r>
              <a:rPr sz="2100" b="1" i="0">
                <a:solidFill>
                  <a:srgbClr val="0E7C7B"/>
                </a:solidFill>
                <a:latin typeface="Avenir Next"/>
              </a:rPr>
              <a:t>•  </a:t>
            </a:r>
            <a:r>
              <a:rPr sz="2100" b="0" i="0">
                <a:solidFill>
                  <a:srgbClr val="1B2025"/>
                </a:solidFill>
                <a:latin typeface="Avenir Next"/>
              </a:rPr>
              <a:t>Name the four paradigms and why self-supervised views must agree (Quiz 11 Q2 &amp; Q4) — and that semi-supervised pseudo-labeling exists</a:t>
            </a:r>
          </a:p>
        </p:txBody>
      </p:sp>
      <p:sp>
        <p:nvSpPr>
          <p:cNvPr id="6" name="Rectangle 5"/>
          <p:cNvSpPr/>
          <p:nvPr/>
        </p:nvSpPr>
        <p:spPr>
          <a:xfrm>
            <a:off x="548640" y="55839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11 live — the reconstruction-error compute (Q3), the two latent pictures (Q1), the four-way paradigm match (Q2), and the DINO/contrastive 'why agree?' (Q4). Keep the sheet — Lab 4 builds a VAE on real spectra.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11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4</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Train a VAE on NORMAL spectra, then score held-out spectra by reconstruction error and flag anomalies</a:t>
            </a:r>
          </a:p>
          <a:p>
            <a:pPr>
              <a:spcAft>
                <a:spcPts val="1800"/>
              </a:spcAft>
            </a:pPr>
            <a:r>
              <a:rPr sz="2100" b="1" i="0">
                <a:solidFill>
                  <a:srgbClr val="0E7C7B"/>
                </a:solidFill>
                <a:latin typeface="Avenir Next"/>
              </a:rPr>
              <a:t>•  </a:t>
            </a:r>
            <a:r>
              <a:rPr sz="2100" b="0" i="0">
                <a:solidFill>
                  <a:srgbClr val="1B2025"/>
                </a:solidFill>
                <a:latin typeface="Avenir Next"/>
              </a:rPr>
              <a:t>Pick the anomaly threshold — a sensitivity/specificity call, straight back to Lecture 10</a:t>
            </a:r>
          </a:p>
          <a:p>
            <a:pPr>
              <a:spcAft>
                <a:spcPts val="1800"/>
              </a:spcAft>
            </a:pPr>
            <a:r>
              <a:rPr sz="2100" b="1" i="0">
                <a:solidFill>
                  <a:srgbClr val="0E7C7B"/>
                </a:solidFill>
                <a:latin typeface="Avenir Next"/>
              </a:rPr>
              <a:t>•  </a:t>
            </a:r>
            <a:r>
              <a:rPr sz="2100" b="0" i="0">
                <a:solidFill>
                  <a:srgbClr val="1B2025"/>
                </a:solidFill>
                <a:latin typeface="Avenir Next"/>
              </a:rPr>
              <a:t>Plot the 2-D latent map, compare it to a plain AE's latent, then SAMPLE and INTERPOLATE between two spectra</a:t>
            </a:r>
          </a:p>
          <a:p>
            <a:pPr>
              <a:spcAft>
                <a:spcPts val="1800"/>
              </a:spcAft>
            </a:pPr>
            <a:r>
              <a:rPr sz="2100" b="1" i="0">
                <a:solidFill>
                  <a:srgbClr val="0E7C7B"/>
                </a:solidFill>
                <a:latin typeface="Avenir Next"/>
              </a:rPr>
              <a:t>•  </a:t>
            </a:r>
            <a:r>
              <a:rPr sz="2100" b="0" i="0">
                <a:solidFill>
                  <a:srgbClr val="1B2025"/>
                </a:solidFill>
                <a:latin typeface="Avenir Next"/>
              </a:rPr>
              <a:t>💬 Discussion D4: what does 'abnormal' look like in YOUR instrument's output, and would reconstruction error catch it before a human does?</a:t>
            </a:r>
          </a:p>
        </p:txBody>
      </p:sp>
      <p:sp>
        <p:nvSpPr>
          <p:cNvPr id="6" name="Rectangle 5"/>
          <p:cNvSpPr/>
          <p:nvPr/>
        </p:nvSpPr>
        <p:spPr>
          <a:xfrm>
            <a:off x="548640" y="5623559"/>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2 minutes to finish Quiz 11 solo while Colab boots → we mark it together as Lab 4 opens. The first blanks you'll fill are the latent size and the KL 'tidiness' weight from the VAE recipe — and the anomaly threshold you just learned to set.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Learning Without (Many) Labels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
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Monday afternoon, hour one of Segment 4 — the pivot from "how networks work" to "how to use one honestly on YOUR assay." One theme all hour: IMBALANCED DATA, the everyday reality of clinical mass spec — a handful of resistant isolates against hundreds of susceptible ones, a few bad runs against thousands of good. It breaks in two directions, and we take each deeply rather than gloss five topics. PART A — MEASURE it right: accuracy lies under imbalance, so compute precision, recall (= sensitivity), and specificity by hand, and see why AUROC looks flattering while AUPRC tells the truth. PART B — TREAT it: curation, SMOTE, class weights / focal loss, and curriculum learning, each matched to a situation, with one honest caveat — none of them manufactures new signal. The assessment is the distributed QUIZ 10: hand it out blank now; we fill it across the hour and finish with a quick pair debrief. Every worked example (I-do) is followed by a "your turn" that points at a Quiz 10 question — the same distributed spine as every lecture.</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Signpost the two halves. The whole hour lives on the real DRIAMS S. aureus + oxacillin split from Lab 2 — 697 susceptible, 41 resistant — so every number is a mass-spec number. Part A is the evaluation half: the only arithmetic is one confusion matrix by hand, which most of you already know from assay validation, plus reading two curves. Part B is the treatment half: four concrete moves, one of them (SMOTE) worked with real coordinates, one (focal loss) with real losses. Pace: a hands-on beat about every 8-10 minutes, and the last ~12 minutes are the paired quiz debrief, so the taught content runs ~45 minutes.</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trap, on REAL data (rule 2). These are the actual DRIAMS S. aureus + oxacillin class counts from Lab 2's dataset: 697 susceptible, 41 resistant — about 6% positive (41/738 = 0.056). A lazy model that always predicts the majority class ("susceptible") is right 697/738 = 94% of the time and yet never flags a single resistant isolate — the exact failure that would let a resistant infection go untreated. The point to land hard: when one class is rare, ACCURACY is dominated by the common class and tells you almost nothing about whether you catch the rare, important one. So we need metrics that look at the rare class directly — precision, recall, and specificity — computed next. (Same imbalance figure introduced in Lecture 4's class-imbalance discussion, now the launch point for the metrics we actually compute.)</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I-DO, the one numeric mechanic of Part A, and the three formulas the quiz needs ON THE DECK before it is asked (rule 3). Read the confusion matrix: rows are the model's CALL (+ / −), columns the TRUTH (+ = resistant, − = susceptible). TP = 30 resistant correctly caught, FN = 11 resistant MISSED, FP = 60 susceptible wrongly flagged, TN = 637 susceptible correctly cleared (the 41 R and 697 S of DRIAMS). Three rates: RECALL / SENSITIVITY = TP/(TP+FN) = 30/(30+11) = 30/41 = 0.73 — we catch about three of every four resistant isolates and MISS one in four. SPECIFICITY = TN/(TN+FP) = 637/(637+60) = 637/697 = 0.91 — we correctly clear 91% of susceptibles. PRECISION = TP/(TP+FP) = 30/(30+60) = 30/90 = 0.33 — of every three isolates we FLAG as resistant, only one truly is. Precision is the new rate this hour (Lecture 4 had only sens/spec): with a rare positive, even a modest false-positive count (60) swamps the true positives (30). And the trap made exact: accuracy = (30+637)/738 = 667/738 = 90%, but always-"susceptible" scores 697/738 = 94% — HIGHER accuracy, zero sensitivity. Every number is exact and matches the Quiz 10 Q1 key. Next slide the room computes all three on a fresh matrix.</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10 Q1 (same three formulas, new numbers). A rapid resistance screen on 500 isolates, positive = resistant: TP = 16, FN = 4, FP = 32, TN = 448 (20 R / 480 S). RECALL = TP/(TP+FN) = 16/(16+4) = 16/20 = 0.80 (80%). SPECIFICITY = TN/(TN+FP) = 448/(448+32) = 448/480 = 0.93 (93%). PRECISION = TP/(TP+FP) = 16/(16+32) = 16/48 = 0.33 (33%). Accuracy = (16+448)/500 = 464/500 = 93%, yet an always-"susceptible" model scores 480/500 = 96% and catches 0 of 20 resistant. Which rate to trust? RECALL (sensitivity) — the lab must not miss resistant isolates — reported with PRECISION, because precision 0.33 warns that two-thirds of the flags are false and someone must confirm them. Never accuracy alone. Every value is identical to the Quiz 10 Q1 key. Take the three numbers from the floor, then have them fill Q1.</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heart of Part A (rule 3: every number is from the I-do confusion matrix). A classifier isn't one operating point — sweep the threshold and you trace a whole curve. Take our I-do model's single point and plot it on BOTH curves. ROC plots sensitivity (TPR 0.73) against 1−specificity (FPR = FP/(FP+TN) = 60/697 = 0.086). That point (0.086, 0.73) hugs the top-left corner, so the ROC — and its area, AUROC — looks excellent. WHY IT LIES: there are 697 negatives, so even 60 false alarms are only 8.6% of them; the false-positive RATE stays tiny no matter how many false flags we raise. AUROC is invariant to the class ratio. The PR curve plots the SAME model's precision (0.33) against recall (0.73): only one flag in three is a real resistant isolate. The PR chance baseline is the prevalence itself (41/738 = 0.056), not 0.5, so AUPRC collapses toward that floor and stays honest and unforgiving. The rule (Saito &amp; Rehmsmeier 2015): under imbalance, report the PR curve / AUPRC with sensitivity, never AUROC or accuracy alone. Next slide the room decides which to trust on its own screen.</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10 Q2, a compute-then-decide beat (rule 8 spine), using the same 500-isolate counts they just used in Part A. ROC point: TPR = recall = 0.80; FPR = FP/(FP+TN) = 32/(32+448) = 32/480 = 0.067 — so (0.067, 0.80) again hugs the corner and AUROC looks great. PR point: (recall 0.80, precision 0.33). Prevalence = 20/500 = 0.04, so the PR baseline sits at 0.04 while ROC's baseline is 0.5. DECISION: report AUPRC / the PR curve with sensitivity — at 4% prevalence the 480 true negatives dominate, so AUROC is flatteringly high while precision 0.33 reveals two of three flags are false. Everything needed is on the prior AUROC/PR slide and the Q1 matrix. Take the ROC and PR points from the floor, confirm, then have them finish Q2.</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folded-in honesty slide (no you-do — it frames the whole hour, not a compute). Your beautiful precision/recall numbers are a promise about ONE distribution: the data you tested on. Change the distribution and they can collapse silently. BATCH EFFECTS are the everyday culprit — a different MALDI instrument, a new site's prep, a fresh reagent lot — each shifts the data cloud (left panel) though the biology is unchanged. The cautionary tale is the SAME task as Lab 2: DRIAMS-trained antimicrobial-resistance models taken to new specimens lose roughly 0.07–0.23 AUROC across sites, and decay further within about 18 months (right panel; Wiesmann et al., J Clin Microbiol 2025). So internal cross-validation is not enough: validate EXTERNALLY (a held-out site/instrument the model never trained on) and TEMPORALLY (later time periods), and guard against leakage by splitting on patient or isolate, never putting two spectra of the same sample on both sides. Keep this brief — it is the trust guardrail that Part B's treatments must not paper over. Now, on to treating the imbalance itself.</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Part-B roadmap as a menu, not a text wall (rule 9). Each move answers a different symptom, and we work the two quantitative ones (SMOTE, focal loss) by hand on the next slides. CURATE: a few hundred clean, correctly-labeled spectra beat thousands of noisy ones — fix mislabels and drop junk runs first. REWEIGHT / SMOTE / OVERSAMPLE: make the rare class count — class weights multiply its loss, oversampling repeats it, SMOTE synthesizes new minority points. FOCAL LOSS: automatically turn up the hard, low-confidence cases near the boundary. CURRICULUM: order the training diet so early training isn't swamped. And the durable truth in the footer, which the decide beat returns to: every one of these RE-USES the 41 resistant spectra you already have — none manufactures new biological signal. Only collecting more real resistant isolates does that. Read the card that matches your symptom; we compute SMOTE next.</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Do-it-together (guided cell by cell), the one worked treatment number. SMOTE = Synthetic Minority Over-sampling TEchnique (Chawla et al. 2002): instead of just copying rare examples, it MANUFACTURES new ones on the line between two real minority points. Formula on screen: synthetic = A + λ·(B−A), with λ between 0 and 1 sliding the new point along the segment. Work it with two toy features that stand in for two m/z-bin intensities: A = (2, 6), B = (4, 10). At λ = 0.5, synthetic = (2 + 0.5·(4−2), 6 + 0.5·(10−6)) = (2 + 1, 6 + 2) = (3, 8) — exactly halfway, marked with the star. Do it live: pick λ, compute each coordinate. THE CAVEAT (honest, MS- anchored): our features are 2-D toys; a real spectrum is 6000-D, and a straight-line average of two real spectra can invent a peak pattern no instrument would ever produce — a non-physical spectrum. So in practice pair SMOTE with curation and domain augmentation (small m/z shifts, intensity jitter — the Lab 2 move), or simply oversample real spectra. Next slide the quiz asks for λ = 0.25 (Quiz 10 Q4).</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I-DO with the numbers (rule 6). Plain cross-entropy is −ln p on the true class; every example counts by how wrong it is, but a sea of easy, already- correct majority examples still adds up and drowns the rare, hard ones. FOCAL LOSS (Lin et al. 2017) multiplies CE by a "focusing" factor (1−p)² (this is γ = 2), which shrinks toward zero as the model grows confident (p → 1). Work both cases on screen. EASY, confident (p = 0.90): plain CE = −ln 0.90 = 0.105; factor = (1 − 0.90)² = (0.10)² = 0.01; FL = 0.01 × 0.105 = 0.00105 ≈ 0.001 — turned DOWN about 100×. HARD, on the boundary (p = 0.50): plain CE = −ln 0.50 = 0.693; factor = (0.50)² = 0.25; FL = 0.25 × 0.693 = 0.173 — barely reduced. The ratio is the whole point: under plain CE the hard case counts 0.693 / 0.105 = 6.6× the easy one; under focal loss it counts 0.173 / 0.00105 = 165×. Focal loss makes the boundary cases roughly 165× louder than the easy majority, so the model spends its effort where it actually needs to learn. No derivation, no separate quiz item — this is the I-do that anchors the "focal loss" card the decide beat asks about.</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Intuition only, no numbers (rule 9). Curriculum learning (Bengio et al. 2009) borrows from how we teach humans: start simple, build up. Two flavours that help imbalance. (1) EASY → HARD: begin on clearly-separable spectra, then introduce the ambiguous, borderline isolates once the model has the basics — it's less likely to get stuck early. (2) CLASS-BALANCED → TRUE PREVALENCE: in the first epochs sample equal numbers of resistant and susceptible per batch so the rare class isn't drowned, then anneal the sampling back toward the real 6%-resistant mix so the model finishes calibrated to reality. Both reshape the ORDER and MIX of training data over time; neither invents new resistant examples. It is the fourth card on the treatment menu, and the "unstable across easy/hard batches" symptom points here. Now the room matches all four moves to symptoms on the quiz.</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10 Q3 (with Q4 next), a match-then-reason beat (not recognition — the menu names the moves, but the room must diagnose which symptom each situation is). Matches: (1) many mislabeled / junk runs → CURATION (clean the labels before anything fancier); (2) only 41 real resistant spectra and the model ignores them → CLASS WEIGHTS / SMOTE / OVERSAMPLE (make the rare class count); (3) easy cases fine but borderline isolates missed → FOCAL LOSS (up-weight the hard, low-confidence cases); (4) training unstable across very easy/hard batches → CURRICULUM (order easy→hard / balanced→true). Then the durable twist — WHICH ADDS NEW RESISTANT SIGNAL? NONE of them. Every move reuses the same 41 resistant spectra: reweighting shouts them louder, SMOTE interpolates between them, focal loss focuses on them, curriculum reorders them — but no new biological information enters. Only collecting more real resistant isolates adds signal. Take one match at a time from the floor, then have them fill Q3 and answer the honest question; Q4 is the SMOTE compute (λ = 0.25 → (2.5, 7)) they finish on the sheet.</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recap of the distributed quiz (the I-do → you-do → quiz spine): Quiz 10 was filled across the hour, not saved for a block at the end. Q1 (recall 0.80, specificity 0.93, precision 0.33) and Q2 (ROC point FPR = 32/480 = 0.067 with TPR 0.80; PR point 0.80/0.33; prevalence 0.04 → trust AUPRC) were worked live at the two metric you-dos. Q3 is the treatment match with the no-new-signal answer, and Q4 is the SMOTE compute: λ = 0.25 on A = (2, 6), B = (4, 10) → (2 + 0.25·2, 6 + 0.25·4) = (2.5, 7), plus the one-sentence caveat that a straight-line blend of two real 6000-dim spectra can be non-physical. The 60-second pair prompt (which metric, why not accuracy) seeds the debrief; harvest the two payoff judgments — the AUROC-vs-AUPRC call and "none add new signal" — then collect Quiz 10 (course objectives 3-5).</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 the Lecture 10 outcomes, each already exercised this hour: the three-rate confusion-matrix computation (Q1), the AUROC-vs-AUPRC reading and decision (Q2), the external/temporal validation guardrail, and the four treatments — curation, SMOTE (worked), class weights / focal loss (worked), curriculum — with the honest "none add new signal" caveat (Q3-Q4). Quiz 10 was the distributed assessment, filled across the hour and now largely done. Frame the sheet as a reusable checklist they can run against any imbalanced-data project in their own lab.</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bridging forward and back. Forward: Lecture 11 tackles the common case where labels are scarce or absent — autoencoders and VAEs — and its anomaly threshold is exactly a precision/recall decision on a rare positive, so this hour's metrics carry straight into Lab 4. Back: the imbalance treatments and the external/temporal-validation guardrail are the tools for every rare-class project they plan. Run Discussion D4 as a think-pair-share tied to their own bench: where does a rare event hide in a majority-normal stream, and which metric would they trust to know a model caught it? Harvest two or three, then hand the last minutes to finishing Quiz 10 as Lab 4 context loads.</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4 · LECTURE 10</a:t>
            </a:r>
          </a:p>
        </p:txBody>
      </p:sp>
      <p:sp>
        <p:nvSpPr>
          <p:cNvPr id="4" name="TextBox 3"/>
          <p:cNvSpPr txBox="1"/>
          <p:nvPr/>
        </p:nvSpPr>
        <p:spPr>
          <a:xfrm>
            <a:off x="548640" y="1945640"/>
            <a:ext cx="11064240" cy="2509520"/>
          </a:xfrm>
          <a:prstGeom prst="rect">
            <a:avLst/>
          </a:prstGeom>
          <a:noFill/>
        </p:spPr>
        <p:txBody>
          <a:bodyPr wrap="square" anchor="ctr">
            <a:spAutoFit/>
          </a:bodyPr>
          <a:lstStyle/>
          <a:p>
            <a:r>
              <a:rPr sz="4400" b="1" i="0">
                <a:solidFill>
                  <a:srgbClr val="1B2025"/>
                </a:solidFill>
                <a:latin typeface="Avenir Next"/>
              </a:rPr>
              <a:t>No perfect data: evaluation and treatment</a:t>
            </a:r>
          </a:p>
          <a:p>
            <a:pPr>
              <a:spcBef>
                <a:spcPts val="1600"/>
              </a:spcBef>
            </a:pPr>
            <a:r>
              <a:rPr sz="2200" b="0" i="0">
                <a:solidFill>
                  <a:srgbClr val="0E7C7B"/>
                </a:solidFill>
                <a:latin typeface="Avenir Next"/>
              </a:rPr>
              <a:t>When one class is rare — measure it with precision/recall &amp; AUPRC, then treat it with curation, SMOTE, focal loss, and curriculum</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10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problem, two halves</a:t>
            </a:r>
          </a:p>
        </p:txBody>
      </p:sp>
      <p:sp>
        <p:nvSpPr>
          <p:cNvPr id="5" name="TextBox 4"/>
          <p:cNvSpPr txBox="1"/>
          <p:nvPr/>
        </p:nvSpPr>
        <p:spPr>
          <a:xfrm>
            <a:off x="548640" y="1920240"/>
            <a:ext cx="10789920" cy="4739639"/>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PART A — Measure it: the accuracy trap, then precision / recall / specificity by hand</a:t>
            </a:r>
            <a:r>
              <a:rPr sz="1800" b="0" i="0">
                <a:solidFill>
                  <a:srgbClr val="8A9099"/>
                </a:solidFill>
                <a:latin typeface="Menlo"/>
              </a:rPr>
              <a:t>   · 13 min</a:t>
            </a:r>
          </a:p>
          <a:p>
            <a:pPr>
              <a:spcAft>
                <a:spcPts val="1800"/>
              </a:spcAft>
            </a:pPr>
            <a:r>
              <a:rPr sz="2300" b="1" i="0">
                <a:solidFill>
                  <a:srgbClr val="0E7C7B"/>
                </a:solidFill>
                <a:latin typeface="Avenir Next"/>
              </a:rPr>
              <a:t>•  </a:t>
            </a:r>
            <a:r>
              <a:rPr sz="2300" b="0" i="0">
                <a:solidFill>
                  <a:srgbClr val="1B2025"/>
                </a:solidFill>
                <a:latin typeface="Avenir Next"/>
              </a:rPr>
              <a:t>Why AUROC misleads under imbalance, and why AUPRC / the PR curve is the honest metric</a:t>
            </a:r>
            <a:r>
              <a:rPr sz="1800" b="0" i="0">
                <a:solidFill>
                  <a:srgbClr val="8A9099"/>
                </a:solidFill>
                <a:latin typeface="Menlo"/>
              </a:rPr>
              <a:t>   · 12 min</a:t>
            </a:r>
          </a:p>
          <a:p>
            <a:pPr>
              <a:spcAft>
                <a:spcPts val="1800"/>
              </a:spcAft>
            </a:pPr>
            <a:r>
              <a:rPr sz="2300" b="1" i="0">
                <a:solidFill>
                  <a:srgbClr val="0E7C7B"/>
                </a:solidFill>
                <a:latin typeface="Avenir Next"/>
              </a:rPr>
              <a:t>•  </a:t>
            </a:r>
            <a:r>
              <a:rPr sz="2300" b="0" i="0">
                <a:solidFill>
                  <a:srgbClr val="1B2025"/>
                </a:solidFill>
                <a:latin typeface="Avenir Next"/>
              </a:rPr>
              <a:t>A metric is only valid on the distribution you tested — external + temporal validation</a:t>
            </a:r>
            <a:r>
              <a:rPr sz="1800" b="0" i="0">
                <a:solidFill>
                  <a:srgbClr val="8A9099"/>
                </a:solidFill>
                <a:latin typeface="Menlo"/>
              </a:rPr>
              <a:t>   · 5 min</a:t>
            </a:r>
          </a:p>
          <a:p>
            <a:pPr>
              <a:spcAft>
                <a:spcPts val="1800"/>
              </a:spcAft>
            </a:pPr>
            <a:r>
              <a:rPr sz="2300" b="1" i="0">
                <a:solidFill>
                  <a:srgbClr val="0E7C7B"/>
                </a:solidFill>
                <a:latin typeface="Avenir Next"/>
              </a:rPr>
              <a:t>•  </a:t>
            </a:r>
            <a:r>
              <a:rPr sz="2300" b="0" i="0">
                <a:solidFill>
                  <a:srgbClr val="1B2025"/>
                </a:solidFill>
                <a:latin typeface="Avenir Next"/>
              </a:rPr>
              <a:t>PART B — Treat it: curation, SMOTE, class weights / focal loss, curriculum learning</a:t>
            </a:r>
            <a:r>
              <a:rPr sz="1800" b="0" i="0">
                <a:solidFill>
                  <a:srgbClr val="8A9099"/>
                </a:solidFill>
                <a:latin typeface="Menlo"/>
              </a:rPr>
              <a:t>   · 18 min</a:t>
            </a:r>
          </a:p>
          <a:p>
            <a:pPr>
              <a:spcAft>
                <a:spcPts val="1800"/>
              </a:spcAft>
            </a:pPr>
            <a:r>
              <a:rPr sz="2300" b="1" i="0">
                <a:solidFill>
                  <a:srgbClr val="0E7C7B"/>
                </a:solidFill>
                <a:latin typeface="Avenir Next"/>
              </a:rPr>
              <a:t>•  </a:t>
            </a:r>
            <a:r>
              <a:rPr sz="2300" b="0" i="0">
                <a:solidFill>
                  <a:srgbClr val="1B2025"/>
                </a:solidFill>
                <a:latin typeface="Avenir Next"/>
              </a:rPr>
              <a:t>Quiz 10 (imbalanced-data evaluation + treatment) — filled across the hour, debriefed in pairs</a:t>
            </a:r>
            <a:r>
              <a:rPr sz="1800" b="0" i="0">
                <a:solidFill>
                  <a:srgbClr val="8A9099"/>
                </a:solidFill>
                <a:latin typeface="Menlo"/>
              </a:rPr>
              <a:t>   · 12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THE ACCURACY TRAP · HOOK</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94%-accurate detector that never fires</a:t>
            </a:r>
          </a:p>
        </p:txBody>
      </p:sp>
      <p:pic>
        <p:nvPicPr>
          <p:cNvPr id="5" name="Picture 4" descr="fig_imbalance.png"/>
          <p:cNvPicPr>
            <a:picLocks noChangeAspect="1"/>
          </p:cNvPicPr>
          <p:nvPr/>
        </p:nvPicPr>
        <p:blipFill>
          <a:blip r:embed="rId2"/>
          <a:stretch>
            <a:fillRect/>
          </a:stretch>
        </p:blipFill>
        <p:spPr>
          <a:xfrm>
            <a:off x="2004122" y="1828800"/>
            <a:ext cx="8153275"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Real DRIAMS counts: 697 susceptible vs. 41 resistant. A model that ALWAYS says 'susceptible' scores 697/738 = 94% accuracy — and catches ZERO of the 41 resistant. High accuracy, clinically useless. Under imbalance, accuracy measures the majority class, not the thing you care about.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THREE RATES BY HAND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Precision, recall, specificity — worked by hand</a:t>
            </a:r>
          </a:p>
        </p:txBody>
      </p:sp>
      <p:pic>
        <p:nvPicPr>
          <p:cNvPr id="5" name="Picture 4" descr="fig_confusion_ido.png"/>
          <p:cNvPicPr>
            <a:picLocks noChangeAspect="1"/>
          </p:cNvPicPr>
          <p:nvPr/>
        </p:nvPicPr>
        <p:blipFill>
          <a:blip r:embed="rId2"/>
          <a:stretch>
            <a:fillRect/>
          </a:stretch>
        </p:blipFill>
        <p:spPr>
          <a:xfrm>
            <a:off x="2166412" y="1828800"/>
            <a:ext cx="7828696"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recall (sensitivity) = TP/(TP+FN) = 30/41 = 0.73 · specificity = TN/(TN+FP) = 637/697 = 0.91 · precision = TP/(TP+FP) = 30/90 = 0.33. Accuracy = 667/738 = 90% — yet ALWAYS-'susceptible' scores 94%. Precision 0.33 means 2 of every 3 isolates we flag are FALSE alarms.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YOUR TURN (YOU-DO) → QUIZ 10</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matrix — compute all three rates</a:t>
            </a:r>
          </a:p>
        </p:txBody>
      </p:sp>
      <p:pic>
        <p:nvPicPr>
          <p:cNvPr id="5" name="Picture 4" descr="fig_confusion_youdo.png"/>
          <p:cNvPicPr>
            <a:picLocks noChangeAspect="1"/>
          </p:cNvPicPr>
          <p:nvPr/>
        </p:nvPicPr>
        <p:blipFill>
          <a:blip r:embed="rId2"/>
          <a:stretch>
            <a:fillRect/>
          </a:stretch>
        </p:blipFill>
        <p:spPr>
          <a:xfrm>
            <a:off x="2202378" y="1828800"/>
            <a:ext cx="7756763"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10, Q1. Same three formulas, new counts: TP=16, FN=4, FP=32, TN=448. Compute recall, specificity, and precision — then say which rate you trust under this heavy imbalance, and why accuracy (which an always-'susceptible' model scores 96%) is misleading. Worked answer in the notes.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WHY AUROC FLATTERS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AUROC looks great — the same model's precision is 0.33</a:t>
            </a:r>
          </a:p>
        </p:txBody>
      </p:sp>
      <p:pic>
        <p:nvPicPr>
          <p:cNvPr id="5" name="Picture 4" descr="fig_roc_pr.png"/>
          <p:cNvPicPr>
            <a:picLocks noChangeAspect="1"/>
          </p:cNvPicPr>
          <p:nvPr/>
        </p:nvPicPr>
        <p:blipFill>
          <a:blip r:embed="rId2"/>
          <a:stretch>
            <a:fillRect/>
          </a:stretch>
        </p:blipFill>
        <p:spPr>
          <a:xfrm>
            <a:off x="2047984" y="1828800"/>
            <a:ext cx="8065551"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One classifier, two pictures. ROC point (FPR 0.086, TPR 0.73) HUGS the corner — AUROC looks excellent — because 60 false alarms among 697 negatives is still only an 8.6% FPR. But the PR point (recall 0.73, precision 0.33) shows only 1 flag in 3 is real. AUROC ignores class ratio; AUPRC collapses toward the prevalence.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YOUR TURN (YOU-DO) → QUIZ 10</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which curve tells the truth?</a:t>
            </a:r>
          </a:p>
        </p:txBody>
      </p:sp>
      <p:pic>
        <p:nvPicPr>
          <p:cNvPr id="5" name="Picture 4" descr="fig_roc_pr.png"/>
          <p:cNvPicPr>
            <a:picLocks noChangeAspect="1"/>
          </p:cNvPicPr>
          <p:nvPr/>
        </p:nvPicPr>
        <p:blipFill>
          <a:blip r:embed="rId2"/>
          <a:stretch>
            <a:fillRect/>
          </a:stretch>
        </p:blipFill>
        <p:spPr>
          <a:xfrm>
            <a:off x="2047984" y="1828800"/>
            <a:ext cx="8065551"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10, Q2. Your 500-isolate screen: compute the ROC point (FPR = FP/(FP+TN)) and the PR point (precision &amp; recall) from TP=16, FN=4, FP=32, TN=448, note the PR baseline = prevalence 0.04, and DECIDE which to report across all thresholds — AUROC or AUPRC — and why. Worked answer in the notes.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ONE HONESTY NOTE (NO QUIZ ITEM)</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 metric is only valid on the data you tested</a:t>
            </a:r>
          </a:p>
        </p:txBody>
      </p:sp>
      <p:pic>
        <p:nvPicPr>
          <p:cNvPr id="5" name="Picture 4" descr="fig_shift_drop.png"/>
          <p:cNvPicPr>
            <a:picLocks noChangeAspect="1"/>
          </p:cNvPicPr>
          <p:nvPr/>
        </p:nvPicPr>
        <p:blipFill>
          <a:blip r:embed="rId2"/>
          <a:stretch>
            <a:fillRect/>
          </a:stretch>
        </p:blipFill>
        <p:spPr>
          <a:xfrm>
            <a:off x="2383861" y="1828800"/>
            <a:ext cx="7393798"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Even a good PR curve is only a promise about the distribution you validated on. A new instrument, site, or reagent lot SHIFTS the data (left). Real tale (right): DRIAMS-trained resistance models lose 0.07–0.23 AUROC on a new site and decay within 18 months. So validate EXTERNALLY (new site/instrument) and TEMPORALLY (later runs), and split by patient/isolate — never by spectrum.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THE TREATMENT MENU</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Treating imbalance — match the move to the problem</a:t>
            </a:r>
          </a:p>
        </p:txBody>
      </p:sp>
      <p:pic>
        <p:nvPicPr>
          <p:cNvPr id="5" name="Picture 4" descr="fig_treatment_menu.png"/>
          <p:cNvPicPr>
            <a:picLocks noChangeAspect="1"/>
          </p:cNvPicPr>
          <p:nvPr/>
        </p:nvPicPr>
        <p:blipFill>
          <a:blip r:embed="rId2"/>
          <a:stretch>
            <a:fillRect/>
          </a:stretch>
        </p:blipFill>
        <p:spPr>
          <a:xfrm>
            <a:off x="1919295" y="1828800"/>
            <a:ext cx="8322930"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Four moves, each for a different symptom. CURATE when runs are junk/mislabeled. REWEIGHT / SMOTE / oversample when the rare class is ignored. FOCAL LOSS when borderline cases are missed. CURRICULUM when training is unstable across easy/hard. The honest footer: none of these adds NEW resistant signal — only more real resistant spectra does.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SMOTE · DO-IT-TOGETHER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SMOTE: synthesize a new minority point between two real ones</a:t>
            </a:r>
          </a:p>
        </p:txBody>
      </p:sp>
      <p:pic>
        <p:nvPicPr>
          <p:cNvPr id="5" name="Picture 4" descr="fig_smote.png"/>
          <p:cNvPicPr>
            <a:picLocks noChangeAspect="1"/>
          </p:cNvPicPr>
          <p:nvPr/>
        </p:nvPicPr>
        <p:blipFill>
          <a:blip r:embed="rId2"/>
          <a:stretch>
            <a:fillRect/>
          </a:stretch>
        </p:blipFill>
        <p:spPr>
          <a:xfrm>
            <a:off x="3373884" y="1828800"/>
            <a:ext cx="5413751" cy="3358896"/>
          </a:xfrm>
          <a:prstGeom prst="rect">
            <a:avLst/>
          </a:prstGeom>
        </p:spPr>
      </p:pic>
      <p:sp>
        <p:nvSpPr>
          <p:cNvPr id="6" name="Rectangle 5"/>
          <p:cNvSpPr/>
          <p:nvPr/>
        </p:nvSpPr>
        <p:spPr>
          <a:xfrm>
            <a:off x="548640" y="5279136"/>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SMOTE fills in the rare class by INTERPOLATING between two real minority points: synthetic = A + λ·(B−A). Do-it-together with two m/z-bin intensities, A=(2, 6) and B=(4, 10), λ=0.5 → (3, 8), a new 'resistant' point on the segment A–B. The caveat: a straight-line blend of two real 6000-dim spectra can be non-physical, so pair SMOTE with curation + m/z jitter.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FOCAL LOSS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Focal loss: turn the volume up on the hard cases</a:t>
            </a:r>
          </a:p>
        </p:txBody>
      </p:sp>
      <p:pic>
        <p:nvPicPr>
          <p:cNvPr id="5" name="Picture 4" descr="fig_focal_volume.png"/>
          <p:cNvPicPr>
            <a:picLocks noChangeAspect="1"/>
          </p:cNvPicPr>
          <p:nvPr/>
        </p:nvPicPr>
        <p:blipFill>
          <a:blip r:embed="rId2"/>
          <a:stretch>
            <a:fillRect/>
          </a:stretch>
        </p:blipFill>
        <p:spPr>
          <a:xfrm>
            <a:off x="2232596" y="1828800"/>
            <a:ext cx="7696327"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Focal loss reshapes the loss so easy, confident cases stop dominating: FL = (1−p)²·(−ln p). Easy p=0.90 → (0.10)²·0.105 = 0.001 (turned DOWN ~100×). Hard p=0.50 → (0.50)²·0.693 = 0.173 (barely touched). Under plain cross-entropy the hard case counts 6.6× the easy one; under focal loss, 165× — so training focuses on the boundary.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CURRICULUM LEARNING · INTUITION</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Curriculum: shape the training diet over time</a:t>
            </a:r>
          </a:p>
        </p:txBody>
      </p:sp>
      <p:pic>
        <p:nvPicPr>
          <p:cNvPr id="5" name="Picture 4" descr="fig_curriculum.png"/>
          <p:cNvPicPr>
            <a:picLocks noChangeAspect="1"/>
          </p:cNvPicPr>
          <p:nvPr/>
        </p:nvPicPr>
        <p:blipFill>
          <a:blip r:embed="rId2"/>
          <a:stretch>
            <a:fillRect/>
          </a:stretch>
        </p:blipFill>
        <p:spPr>
          <a:xfrm>
            <a:off x="1850922" y="1828800"/>
            <a:ext cx="8459675"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One idea, no math: don't feed the model the full, lopsided mix from day one. START on easy/clear cases with class-balanced batches (equal R and S), THEN mix in harder, borderline isolates, and FINALLY train on the true, rare-heavy prevalence. Easy → hard, or class-balanced → true prevalence — so early training isn't swamped by the majority.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YOUR TURN (YOU-DO) → QUIZ 10</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match the move, then the honest question</a:t>
            </a:r>
          </a:p>
        </p:txBody>
      </p:sp>
      <p:pic>
        <p:nvPicPr>
          <p:cNvPr id="5" name="Picture 4" descr="fig_treatment_menu.png"/>
          <p:cNvPicPr>
            <a:picLocks noChangeAspect="1"/>
          </p:cNvPicPr>
          <p:nvPr/>
        </p:nvPicPr>
        <p:blipFill>
          <a:blip r:embed="rId2"/>
          <a:stretch>
            <a:fillRect/>
          </a:stretch>
        </p:blipFill>
        <p:spPr>
          <a:xfrm>
            <a:off x="2240280" y="1828800"/>
            <a:ext cx="7680959" cy="3099816"/>
          </a:xfrm>
          <a:prstGeom prst="rect">
            <a:avLst/>
          </a:prstGeom>
        </p:spPr>
      </p:pic>
      <p:sp>
        <p:nvSpPr>
          <p:cNvPr id="6" name="Rectangle 5"/>
          <p:cNvSpPr/>
          <p:nvPr/>
        </p:nvSpPr>
        <p:spPr>
          <a:xfrm>
            <a:off x="548640" y="5020056"/>
            <a:ext cx="10515600" cy="170078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10, Q3–Q4. Match each situation to ONE move — curation · class-weights/SMOTE/oversample · focal loss · curriculum: (1) many mislabeled/junk runs · (2) only 41 real resistant spectra, the model ignores them · (3) easy cases fine but borderline isolates missed · (4) training unstable across very easy/hard batches. Then: which of these adds NEW resistant signal? Q4 finishes the SMOTE point. Worked answers in the notes.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ASSESSMENT · QUIZ 10</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You've now worked all of Quiz 10 — keep the sheet</a:t>
            </a:r>
          </a:p>
        </p:txBody>
      </p:sp>
      <p:sp>
        <p:nvSpPr>
          <p:cNvPr id="5" name="TextBox 4"/>
          <p:cNvSpPr txBox="1"/>
          <p:nvPr/>
        </p:nvSpPr>
        <p:spPr>
          <a:xfrm>
            <a:off x="548640" y="1920240"/>
            <a:ext cx="10789920" cy="3809999"/>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Q1 — the confusion matrix: recall 0.80, specificity 0.93, precision 0.33 (worked at the you-do)</a:t>
            </a:r>
          </a:p>
          <a:p>
            <a:pPr>
              <a:spcAft>
                <a:spcPts val="1800"/>
              </a:spcAft>
            </a:pPr>
            <a:r>
              <a:rPr sz="2300" b="1" i="0">
                <a:solidFill>
                  <a:srgbClr val="0E7C7B"/>
                </a:solidFill>
                <a:latin typeface="Avenir Next"/>
              </a:rPr>
              <a:t>•  </a:t>
            </a:r>
            <a:r>
              <a:rPr sz="2300" b="0" i="0">
                <a:solidFill>
                  <a:srgbClr val="1B2025"/>
                </a:solidFill>
                <a:latin typeface="Avenir Next"/>
              </a:rPr>
              <a:t>Q2 — the ROC point (FPR 0.067, TPR 0.80) vs. the PR point (0.80, 0.33); at 4% prevalence, trust AUPRC</a:t>
            </a:r>
          </a:p>
          <a:p>
            <a:pPr>
              <a:spcAft>
                <a:spcPts val="1800"/>
              </a:spcAft>
            </a:pPr>
            <a:r>
              <a:rPr sz="2300" b="1" i="0">
                <a:solidFill>
                  <a:srgbClr val="0E7C7B"/>
                </a:solidFill>
                <a:latin typeface="Avenir Next"/>
              </a:rPr>
              <a:t>•  </a:t>
            </a:r>
            <a:r>
              <a:rPr sz="2300" b="0" i="0">
                <a:solidFill>
                  <a:srgbClr val="1B2025"/>
                </a:solidFill>
                <a:latin typeface="Avenir Next"/>
              </a:rPr>
              <a:t>Q3 — match the four situations to curation / reweight-SMOTE / focal / curriculum, and the 'no new signal' question</a:t>
            </a:r>
          </a:p>
          <a:p>
            <a:pPr>
              <a:spcAft>
                <a:spcPts val="1800"/>
              </a:spcAft>
            </a:pPr>
            <a:r>
              <a:rPr sz="2300" b="1" i="0">
                <a:solidFill>
                  <a:srgbClr val="0E7C7B"/>
                </a:solidFill>
                <a:latin typeface="Avenir Next"/>
              </a:rPr>
              <a:t>•  </a:t>
            </a:r>
            <a:r>
              <a:rPr sz="2300" b="0" i="0">
                <a:solidFill>
                  <a:srgbClr val="1B2025"/>
                </a:solidFill>
                <a:latin typeface="Avenir Next"/>
              </a:rPr>
              <a:t>Q4 — SMOTE with λ = 0.25: A=(2,6), B=(4,10) → (2.5, 7), plus one caveat for raw-spectrum SMOTE</a:t>
            </a:r>
          </a:p>
        </p:txBody>
      </p:sp>
      <p:sp>
        <p:nvSpPr>
          <p:cNvPr id="6" name="Rectangle 5"/>
          <p:cNvSpPr/>
          <p:nvPr/>
        </p:nvSpPr>
        <p:spPr>
          <a:xfrm>
            <a:off x="548640" y="5852160"/>
            <a:ext cx="10515600" cy="914400"/>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PAIR · </a:t>
            </a:r>
            <a:r>
              <a:rPr sz="1700" b="0" i="0">
                <a:solidFill>
                  <a:srgbClr val="3D444C"/>
                </a:solidFill>
                <a:latin typeface="Avenir Next"/>
              </a:rPr>
              <a:t>💬 60 sec: which single metric would you put on the validation report for your own rarest-class assay — and why NOT accuracy? Then hand in Quiz 10.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10 · WHAT YOU CAN DO NOW</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 can now…</a:t>
            </a:r>
          </a:p>
        </p:txBody>
      </p:sp>
      <p:sp>
        <p:nvSpPr>
          <p:cNvPr id="5" name="TextBox 4"/>
          <p:cNvSpPr txBox="1"/>
          <p:nvPr/>
        </p:nvSpPr>
        <p:spPr>
          <a:xfrm>
            <a:off x="548640" y="1920240"/>
            <a:ext cx="10789920" cy="3809999"/>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Compute precision, recall (sensitivity), and specificity by hand — and say why accuracy lies under imbalance</a:t>
            </a:r>
          </a:p>
          <a:p>
            <a:pPr>
              <a:spcAft>
                <a:spcPts val="1800"/>
              </a:spcAft>
            </a:pPr>
            <a:r>
              <a:rPr sz="2300" b="1" i="0">
                <a:solidFill>
                  <a:srgbClr val="0E7C7B"/>
                </a:solidFill>
                <a:latin typeface="Avenir Next"/>
              </a:rPr>
              <a:t>•  </a:t>
            </a:r>
            <a:r>
              <a:rPr sz="2300" b="0" i="0">
                <a:solidFill>
                  <a:srgbClr val="1B2025"/>
                </a:solidFill>
                <a:latin typeface="Avenir Next"/>
              </a:rPr>
              <a:t>Explain why AUROC flatters a rare-positive screen and report AUPRC / the PR curve with sensitivity instead</a:t>
            </a:r>
          </a:p>
          <a:p>
            <a:pPr>
              <a:spcAft>
                <a:spcPts val="1800"/>
              </a:spcAft>
            </a:pPr>
            <a:r>
              <a:rPr sz="2300" b="1" i="0">
                <a:solidFill>
                  <a:srgbClr val="0E7C7B"/>
                </a:solidFill>
                <a:latin typeface="Avenir Next"/>
              </a:rPr>
              <a:t>•  </a:t>
            </a:r>
            <a:r>
              <a:rPr sz="2300" b="0" i="0">
                <a:solidFill>
                  <a:srgbClr val="1B2025"/>
                </a:solidFill>
                <a:latin typeface="Avenir Next"/>
              </a:rPr>
              <a:t>Demand external + temporal validation — a metric is only valid on the distribution you tested</a:t>
            </a:r>
          </a:p>
          <a:p>
            <a:pPr>
              <a:spcAft>
                <a:spcPts val="1800"/>
              </a:spcAft>
            </a:pPr>
            <a:r>
              <a:rPr sz="2300" b="1" i="0">
                <a:solidFill>
                  <a:srgbClr val="0E7C7B"/>
                </a:solidFill>
                <a:latin typeface="Avenir Next"/>
              </a:rPr>
              <a:t>•  </a:t>
            </a:r>
            <a:r>
              <a:rPr sz="2300" b="0" i="0">
                <a:solidFill>
                  <a:srgbClr val="1B2025"/>
                </a:solidFill>
                <a:latin typeface="Avenir Next"/>
              </a:rPr>
              <a:t>Treat imbalance with curation, SMOTE, class weights / focal loss, and curriculum — knowing none adds new signal</a:t>
            </a:r>
          </a:p>
        </p:txBody>
      </p:sp>
      <p:sp>
        <p:nvSpPr>
          <p:cNvPr id="6" name="Rectangle 5"/>
          <p:cNvSpPr/>
          <p:nvPr/>
        </p:nvSpPr>
        <p:spPr>
          <a:xfrm>
            <a:off x="548640" y="5843016"/>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You have worked the whole of Quiz 10 live — the three rates (Q1), AUROC vs. AUPRC (Q2), the treatment match (Q3), and a SMOTE point (Q4). Keep the sheet; it's your checklist for any rare-class assay in your own lab.</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10 · OVER TO YOUR LAB · DISCUSSION</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Next — learning without labels (Lecture 11 + Lab 4)</a:t>
            </a:r>
          </a:p>
        </p:txBody>
      </p:sp>
      <p:sp>
        <p:nvSpPr>
          <p:cNvPr id="5" name="TextBox 4"/>
          <p:cNvSpPr txBox="1"/>
          <p:nvPr/>
        </p:nvSpPr>
        <p:spPr>
          <a:xfrm>
            <a:off x="548640" y="1920240"/>
            <a:ext cx="10789920" cy="3566159"/>
          </a:xfrm>
          <a:prstGeom prst="rect">
            <a:avLst/>
          </a:prstGeom>
          <a:noFill/>
        </p:spPr>
        <p:txBody>
          <a:bodyPr wrap="square" anchor="t">
            <a:spAutoFit/>
          </a:bodyPr>
          <a:lstStyle/>
          <a:p>
            <a:pPr>
              <a:spcAft>
                <a:spcPts val="1800"/>
              </a:spcAft>
            </a:pPr>
            <a:r>
              <a:rPr sz="2100" b="1" i="0">
                <a:solidFill>
                  <a:srgbClr val="0E7C7B"/>
                </a:solidFill>
                <a:latin typeface="Avenir Next"/>
              </a:rPr>
              <a:t>•  </a:t>
            </a:r>
            <a:r>
              <a:rPr sz="2100" b="0" i="0">
                <a:solidFill>
                  <a:srgbClr val="1B2025"/>
                </a:solidFill>
                <a:latin typeface="Avenir Next"/>
              </a:rPr>
              <a:t>Most lab data is UNLABELED — Lecture 11 asks what you can learn without labels</a:t>
            </a:r>
          </a:p>
          <a:p>
            <a:pPr>
              <a:spcAft>
                <a:spcPts val="1800"/>
              </a:spcAft>
            </a:pPr>
            <a:r>
              <a:rPr sz="2100" b="1" i="0">
                <a:solidFill>
                  <a:srgbClr val="0E7C7B"/>
                </a:solidFill>
                <a:latin typeface="Avenir Next"/>
              </a:rPr>
              <a:t>•  </a:t>
            </a:r>
            <a:r>
              <a:rPr sz="2100" b="0" i="0">
                <a:solidFill>
                  <a:srgbClr val="1B2025"/>
                </a:solidFill>
                <a:latin typeface="Avenir Next"/>
              </a:rPr>
              <a:t>Autoencoders &amp; VAEs: reconstruction error as an anomaly/QC score — a precision/recall threshold, straight back to today</a:t>
            </a:r>
          </a:p>
          <a:p>
            <a:pPr>
              <a:spcAft>
                <a:spcPts val="1800"/>
              </a:spcAft>
            </a:pPr>
            <a:r>
              <a:rPr sz="2100" b="1" i="0">
                <a:solidFill>
                  <a:srgbClr val="0E7C7B"/>
                </a:solidFill>
                <a:latin typeface="Avenir Next"/>
              </a:rPr>
              <a:t>•  </a:t>
            </a:r>
            <a:r>
              <a:rPr sz="2100" b="0" i="0">
                <a:solidFill>
                  <a:srgbClr val="1B2025"/>
                </a:solidFill>
                <a:latin typeface="Avenir Next"/>
              </a:rPr>
              <a:t>Lab 4 trains a VAE on normal spectra and flags anomalies — your metrics knowledge picks the threshold</a:t>
            </a:r>
          </a:p>
          <a:p>
            <a:pPr>
              <a:spcAft>
                <a:spcPts val="1800"/>
              </a:spcAft>
            </a:pPr>
            <a:r>
              <a:rPr sz="2100" b="1" i="0">
                <a:solidFill>
                  <a:srgbClr val="0E7C7B"/>
                </a:solidFill>
                <a:latin typeface="Avenir Next"/>
              </a:rPr>
              <a:t>•  </a:t>
            </a:r>
            <a:r>
              <a:rPr sz="2100" b="0" i="0">
                <a:solidFill>
                  <a:srgbClr val="1B2025"/>
                </a:solidFill>
                <a:latin typeface="Avenir Next"/>
              </a:rPr>
              <a:t>💬 Discussion D4: what does 'abnormal' look like in YOUR instrument's output, and would reconstruction error catch it before a human does?</a:t>
            </a:r>
          </a:p>
        </p:txBody>
      </p:sp>
      <p:sp>
        <p:nvSpPr>
          <p:cNvPr id="6" name="Rectangle 5"/>
          <p:cNvSpPr/>
          <p:nvPr/>
        </p:nvSpPr>
        <p:spPr>
          <a:xfrm>
            <a:off x="548640" y="5623559"/>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PAIR · </a:t>
            </a:r>
            <a:r>
              <a:rPr sz="1700" b="0" i="0">
                <a:solidFill>
                  <a:srgbClr val="3D444C"/>
                </a:solidFill>
                <a:latin typeface="Avenir Next"/>
              </a:rPr>
              <a:t>💬 Discussion D4: name one place in your workflow where a rare event hides in a majority-normal stream — and which metric, not accuracy, would tell you if a model caught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10 · No Perfect Data: Evaluation and Treatment</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
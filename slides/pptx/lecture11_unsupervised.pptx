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0"/>
  </p:notesMasterIdLst>
  <p:sldIdLst>
    <p:sldId id="256" r:id="rId2"/>
    <p:sldId id="257" r:id="rId3"/>
    <p:sldId id="258" r:id="rId4"/>
    <p:sldId id="259" r:id="rId5"/>
    <p:sldId id="277" r:id="rId6"/>
    <p:sldId id="278" r:id="rId7"/>
    <p:sldId id="260" r:id="rId8"/>
    <p:sldId id="261" r:id="rId9"/>
    <p:sldId id="262" r:id="rId10"/>
    <p:sldId id="279" r:id="rId11"/>
    <p:sldId id="263" r:id="rId12"/>
    <p:sldId id="264" r:id="rId13"/>
    <p:sldId id="265" r:id="rId14"/>
    <p:sldId id="266" r:id="rId15"/>
    <p:sldId id="267" r:id="rId16"/>
    <p:sldId id="268" r:id="rId17"/>
    <p:sldId id="281" r:id="rId18"/>
    <p:sldId id="269" r:id="rId19"/>
    <p:sldId id="283" r:id="rId20"/>
    <p:sldId id="284" r:id="rId21"/>
    <p:sldId id="282" r:id="rId22"/>
    <p:sldId id="270" r:id="rId23"/>
    <p:sldId id="285" r:id="rId24"/>
    <p:sldId id="286" r:id="rId25"/>
    <p:sldId id="271" r:id="rId26"/>
    <p:sldId id="272" r:id="rId27"/>
    <p:sldId id="273" r:id="rId28"/>
    <p:sldId id="276"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11017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sample-the-latent (Q1), the semi-supervised decision (Q2), the reconstruction-error trap (Q3), and the DINO/contrastive safe-vs-corrupt augmentation call (Q4). Lab 4 next hour builds a VAE on real spectra, so everything here is the on-ramp.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framed as a trap; the rest are predict/decide you-dos.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Q3 (upgraded from a plug-in to a real trap that ends in a surprising answer). (a) MSE = 0.40 / 20 = 0.02. (b) 0.02 &lt; 0.05, so the MEAN says PASS — it MISSES the contaminant. (c) The mean divides one big error across 20 bins, so a LOCALIZED spike gets diluted below threshold; the fix is to look at the MAX per-bin error (0.40 &gt; 0.05 → flag) or the error inside the peak window. This is the anomaly-overlay slide made quantitative: a contaminant is a localized gap, and a mean over thousands of bins can wash it out. Tie it to Lecture 10 — lowering the flag threshold or switching to max-error is the sensitivity/specificity dial. Take the MSE and the (surprising) decision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MNIST as a brief, vivid bridge (rule 2) before mapping straight back to spectra. Why digits: everyone reads them instantly, so the smoothness of a VAE latent is impossible to miss. LEFT — the latent MANIFOLD: decode a grid of latent points (z1, z2) and you get a continuous sheet of digits that morph into their neighbours with no holes; that is the "one smooth, organized, gap-free cloud" from two slides ago, now literally visible. RIGHT — the INTERPOLATION: take two real digits, encode each to its latent code, walk a straight line between the codes, and decode the stops — a 3 slides smoothly into an 8, a 7 into a 1, every intermediate a valid digit. That is only possible because the cloud is gap-free; the same walk in a plain autoencoder's latent would cross an empty gap and decode to garbage. Now map it back to mass spec, which is the whole point: on a VAE trained on spectra you can SAMPLE a latent point to get a brand-new plausible spectrum, and INTERPOLATE between two real spectra to watch peaks slide and trade height — exactly the Lab 4 "fun payoff" cell. Next slide the room makes the AE-vs-VAE call itself (Quiz 11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Q1 (upgraded from 'identify the picture' to 'predict what sampling does'). (a) Picture A is the autoencoder: scattered islands with big empty GAPS, so a random sample usually lands in a gap the decoder never trained on and decodes to GARBAGE — a non-physical spectrum. (b) Picture B is the VAE: one smooth, gap-free cloud, so every sampled point decodes to a PLAUSIBLE spectrum. (c) B is the VAE, and it is the one you use to generate (or interpolate) — only a gap-free latent is safe to sample. Good extension (the old pair prompt): B is also the map you trust to flag a NOVEL contaminant, because a genuinely new spectrum lands OUTSIDE the tidy cloud (high reconstruction error, easy to flag) while the AE's gaps make 'far from training data' ambiguous. Both pictures are on the Quiz 11 sheet, so the room answers straight off this slide. Take the sampling prediction with its reason, then have them fill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BD5A6-39FA-E117-5382-1A8F031DE6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3D8C20-03BB-69D9-FC15-93A9208AF0DF}"/>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64BFD7B-85BC-017E-ACF2-C22961FED8E7}"/>
              </a:ext>
            </a:extLst>
          </p:cNvPr>
          <p:cNvSpPr>
            <a:spLocks noGrp="1"/>
          </p:cNvSpPr>
          <p:nvPr>
            <p:ph type="body" sz="quarter" idx="3"/>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a:endParaRPr/>
          </a:p>
        </p:txBody>
      </p:sp>
      <p:sp>
        <p:nvSpPr>
          <p:cNvPr id="4" name="Slide Number Placeholder 3">
            <a:extLst>
              <a:ext uri="{FF2B5EF4-FFF2-40B4-BE49-F238E27FC236}">
                <a16:creationId xmlns:a16="http://schemas.microsoft.com/office/drawing/2014/main" id="{85BB06E4-7CCD-DDEE-3FE3-C5495C8EC375}"/>
              </a:ext>
            </a:extLst>
          </p:cNvPr>
          <p:cNvSpPr>
            <a:spLocks noGrp="1"/>
          </p:cNvSpPr>
          <p:nvPr>
            <p:ph type="sldNum" sz="quarter" idx="5"/>
          </p:nvPr>
        </p:nvSpPr>
        <p:spPr/>
      </p:sp>
    </p:spTree>
    <p:extLst>
      <p:ext uri="{BB962C8B-B14F-4D97-AF65-F5344CB8AC3E}">
        <p14:creationId xmlns:p14="http://schemas.microsoft.com/office/powerpoint/2010/main" val="3470170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D502-988D-55BF-F359-2B562483BC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22B418-B05A-A3CD-B955-31E91C9138F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A625467-A2CF-1A73-1D5B-142866C0A059}"/>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2BD9636D-0F5F-1582-55DC-39A4E774241F}"/>
              </a:ext>
            </a:extLst>
          </p:cNvPr>
          <p:cNvSpPr>
            <a:spLocks noGrp="1"/>
          </p:cNvSpPr>
          <p:nvPr>
            <p:ph type="sldNum" sz="quarter" idx="5"/>
          </p:nvPr>
        </p:nvSpPr>
        <p:spPr/>
      </p:sp>
    </p:spTree>
    <p:extLst>
      <p:ext uri="{BB962C8B-B14F-4D97-AF65-F5344CB8AC3E}">
        <p14:creationId xmlns:p14="http://schemas.microsoft.com/office/powerpoint/2010/main" val="27975470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592EF-17CB-8E80-8B29-B08F0AAB8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F4B9F9-934E-797F-4E76-34239890B47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6C6B85C-012D-75AE-4F12-1A3E95C07B46}"/>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59C2D8A8-AE18-CF23-F75C-75CDB08F9483}"/>
              </a:ext>
            </a:extLst>
          </p:cNvPr>
          <p:cNvSpPr>
            <a:spLocks noGrp="1"/>
          </p:cNvSpPr>
          <p:nvPr>
            <p:ph type="sldNum" sz="quarter" idx="5"/>
          </p:nvPr>
        </p:nvSpPr>
        <p:spPr/>
      </p:sp>
    </p:spTree>
    <p:extLst>
      <p:ext uri="{BB962C8B-B14F-4D97-AF65-F5344CB8AC3E}">
        <p14:creationId xmlns:p14="http://schemas.microsoft.com/office/powerpoint/2010/main" val="13796505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AB112-18AF-A735-7509-1AE185407A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C25E7D-0ADD-CED6-6BAD-2361FCC4B61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6E82FAE-CFFF-812E-164E-A63526FA3353}"/>
              </a:ext>
            </a:extLst>
          </p:cNvPr>
          <p:cNvSpPr>
            <a:spLocks noGrp="1"/>
          </p:cNvSpPr>
          <p:nvPr>
            <p:ph type="body" sz="quarter" idx="3"/>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a:endParaRPr/>
          </a:p>
        </p:txBody>
      </p:sp>
      <p:sp>
        <p:nvSpPr>
          <p:cNvPr id="4" name="Slide Number Placeholder 3">
            <a:extLst>
              <a:ext uri="{FF2B5EF4-FFF2-40B4-BE49-F238E27FC236}">
                <a16:creationId xmlns:a16="http://schemas.microsoft.com/office/drawing/2014/main" id="{661BA30A-0E73-C29D-C269-E85CF724C263}"/>
              </a:ext>
            </a:extLst>
          </p:cNvPr>
          <p:cNvSpPr>
            <a:spLocks noGrp="1"/>
          </p:cNvSpPr>
          <p:nvPr>
            <p:ph type="sldNum" sz="quarter" idx="5"/>
          </p:nvPr>
        </p:nvSpPr>
        <p:spPr/>
      </p:sp>
    </p:spTree>
    <p:extLst>
      <p:ext uri="{BB962C8B-B14F-4D97-AF65-F5344CB8AC3E}">
        <p14:creationId xmlns:p14="http://schemas.microsoft.com/office/powerpoint/2010/main" val="369868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5B586-4BC1-B855-3864-1B33BB876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7FB8D-B43F-F9E4-4A3F-F553F406323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0D55388-0719-4C7F-A3DF-C7D196B2400C}"/>
              </a:ext>
            </a:extLst>
          </p:cNvPr>
          <p:cNvSpPr>
            <a:spLocks noGrp="1"/>
          </p:cNvSpPr>
          <p:nvPr>
            <p:ph type="body" sz="quarter" idx="3"/>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a:p>
        </p:txBody>
      </p:sp>
      <p:sp>
        <p:nvSpPr>
          <p:cNvPr id="4" name="Slide Number Placeholder 3">
            <a:extLst>
              <a:ext uri="{FF2B5EF4-FFF2-40B4-BE49-F238E27FC236}">
                <a16:creationId xmlns:a16="http://schemas.microsoft.com/office/drawing/2014/main" id="{FE8DDAF6-374E-35C9-283C-21C434082502}"/>
              </a:ext>
            </a:extLst>
          </p:cNvPr>
          <p:cNvSpPr>
            <a:spLocks noGrp="1"/>
          </p:cNvSpPr>
          <p:nvPr>
            <p:ph type="sldNum" sz="quarter" idx="5"/>
          </p:nvPr>
        </p:nvSpPr>
        <p:spPr/>
      </p:sp>
    </p:spTree>
    <p:extLst>
      <p:ext uri="{BB962C8B-B14F-4D97-AF65-F5344CB8AC3E}">
        <p14:creationId xmlns:p14="http://schemas.microsoft.com/office/powerpoint/2010/main" val="1359797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B628B-4099-FE32-0915-756345C411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275035-C904-4424-1B94-621FC7A0BD5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B14557F-9F5F-87FC-7972-EB7033CF1BAD}"/>
              </a:ext>
            </a:extLst>
          </p:cNvPr>
          <p:cNvSpPr>
            <a:spLocks noGrp="1"/>
          </p:cNvSpPr>
          <p:nvPr>
            <p:ph type="body" sz="quarter" idx="3"/>
          </p:nvPr>
        </p:nvSpPr>
        <p:spPr/>
        <p:txBody>
          <a:bodyPr/>
          <a:lstStyle/>
          <a:p>
            <a:r>
              <a:rPr dirty="0"/>
              <a:t>The third self-supervised flavor and the one with the striking visual: DINO (self-</a:t>
            </a:r>
            <a:r>
              <a:rPr dirty="0" err="1"/>
              <a:t>DIstillation</a:t>
            </a:r>
            <a:r>
              <a:rPr dirty="0"/>
              <a:t>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decides WHICH augmentation would corrupt this agreement — a spot-the-break DECIDE, not a definition restated (Quiz 11 Q4).</a:t>
            </a:r>
          </a:p>
          <a:p>
            <a:endParaRPr dirty="0"/>
          </a:p>
        </p:txBody>
      </p:sp>
      <p:sp>
        <p:nvSpPr>
          <p:cNvPr id="4" name="Slide Number Placeholder 3">
            <a:extLst>
              <a:ext uri="{FF2B5EF4-FFF2-40B4-BE49-F238E27FC236}">
                <a16:creationId xmlns:a16="http://schemas.microsoft.com/office/drawing/2014/main" id="{3528EE16-21AB-460B-E093-A68171BF5AB7}"/>
              </a:ext>
            </a:extLst>
          </p:cNvPr>
          <p:cNvSpPr>
            <a:spLocks noGrp="1"/>
          </p:cNvSpPr>
          <p:nvPr>
            <p:ph type="sldNum" sz="quarter" idx="5"/>
          </p:nvPr>
        </p:nvSpPr>
        <p:spPr/>
      </p:sp>
    </p:spTree>
    <p:extLst>
      <p:ext uri="{BB962C8B-B14F-4D97-AF65-F5344CB8AC3E}">
        <p14:creationId xmlns:p14="http://schemas.microsoft.com/office/powerpoint/2010/main" val="31990951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11 Q4 (a DECIDE beat, not "restate the definition": the room must spot which augmentation breaks the trick). Answer: (c) is CORRUPT; (a), (b), (d) are safe. The safe three add only the NUISANCE variation the SAME sample would show run-to-run — detector noise, a small m/z calibration drift, a global intensity rescale — so forcing those views to agree makes the model ignore the nuisance and keep the real content (augmentation-invariance, the whole point of contrastive/DINO). But (c) swaps in a GENUINELY DIFFERENT sample: forcing its embedding to match would teach the model to ignore real biological differences — it would treat two different patients as identical. The durable rule the beat lands: augmentations must preserve the underlying biology, or agreement teaches the model to throw away something real. Take one SAFE/CORRUPT call with its reason, then have them fill Q4 — that's the fourth Quiz 11 item; one more paradigm to name.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chart the Q2 decision is read off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reads ONE realistic scenario off this same chart next slide (Quiz 11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6.xml"/><Relationship Id="rId4" Type="http://schemas.openxmlformats.org/officeDocument/2006/relationships/notesSlide" Target="../notesSlides/notesSlide21.xml"/><Relationship Id="rId5" Type="http://schemas.openxmlformats.org/officeDocument/2006/relationships/image" Target="../media/image21.png"/><Relationship Id="rId6"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Autoencoders — compress → reconstruct; reconstruction error as an anomaly / QC score</a:t>
            </a:r>
            <a:r>
              <a:rPr sz="2100" b="0" i="0" dirty="0">
                <a:solidFill>
                  <a:srgbClr val="8A9099"/>
                </a:solidFill>
                <a:latin typeface="Menlo"/>
              </a:rPr>
              <a:t>   · 14 min</a:t>
            </a:r>
          </a:p>
          <a:p>
            <a:pPr>
              <a:spcAft>
                <a:spcPts val="1800"/>
              </a:spcAft>
            </a:pPr>
            <a:r>
              <a:rPr sz="2600" b="1" i="0" dirty="0">
                <a:solidFill>
                  <a:srgbClr val="0E7C7B"/>
                </a:solidFill>
                <a:latin typeface="Avenir Next"/>
              </a:rPr>
              <a:t>•  </a:t>
            </a:r>
            <a:r>
              <a:rPr sz="2600" b="0" i="0" dirty="0">
                <a:solidFill>
                  <a:srgbClr val="1B2025"/>
                </a:solidFill>
                <a:latin typeface="Avenir Next"/>
              </a:rPr>
              <a:t>VAEs, intuitively — points vs. clouds; sample and interpolate; tell an AE latent from a VAE latent</a:t>
            </a:r>
            <a:r>
              <a:rPr sz="2100" b="0" i="0" dirty="0">
                <a:solidFill>
                  <a:srgbClr val="8A9099"/>
                </a:solidFill>
                <a:latin typeface="Menlo"/>
              </a:rPr>
              <a:t>   · 16 min</a:t>
            </a:r>
          </a:p>
          <a:p>
            <a:pPr>
              <a:spcAft>
                <a:spcPts val="1800"/>
              </a:spcAft>
            </a:pPr>
            <a:r>
              <a:rPr sz="2600" b="1" i="0" dirty="0">
                <a:solidFill>
                  <a:srgbClr val="0E7C7B"/>
                </a:solidFill>
                <a:latin typeface="Avenir Next"/>
              </a:rPr>
              <a:t>•  </a:t>
            </a:r>
            <a:r>
              <a:rPr sz="2600" b="0" i="0" dirty="0">
                <a:solidFill>
                  <a:srgbClr val="1B2025"/>
                </a:solidFill>
                <a:latin typeface="Avenir Next"/>
              </a:rPr>
              <a:t>Self-supervised — the data labels itself: masking (BERT), contrastive, DINO</a:t>
            </a:r>
            <a:r>
              <a:rPr sz="2100" b="0" i="0" dirty="0">
                <a:solidFill>
                  <a:srgbClr val="8A9099"/>
                </a:solidFill>
                <a:latin typeface="Menlo"/>
              </a:rPr>
              <a:t>   · 17 min</a:t>
            </a:r>
          </a:p>
          <a:p>
            <a:pPr>
              <a:spcAft>
                <a:spcPts val="1800"/>
              </a:spcAft>
            </a:pPr>
            <a:r>
              <a:rPr sz="2600" b="1" i="0" dirty="0">
                <a:solidFill>
                  <a:srgbClr val="0E7C7B"/>
                </a:solidFill>
                <a:latin typeface="Avenir Next"/>
              </a:rPr>
              <a:t>•  </a:t>
            </a:r>
            <a:r>
              <a:rPr sz="2600" b="0" i="0" dirty="0">
                <a:solidFill>
                  <a:srgbClr val="1B2025"/>
                </a:solidFill>
                <a:latin typeface="Avenir Next"/>
              </a:rPr>
              <a:t>Semi-supervised in one slide — pseudo-labeling, the 10,000 + 100 middle path; then Quiz 11</a:t>
            </a:r>
            <a:r>
              <a:rPr sz="2100" b="0" i="0" dirty="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3"/>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7D1E7-D96A-D0D8-69DA-A11E10574647}"/>
              </a:ext>
            </a:extLst>
          </p:cNvPr>
          <p:cNvSpPr>
            <a:spLocks noGrp="1"/>
          </p:cNvSpPr>
          <p:nvPr>
            <p:ph type="title"/>
          </p:nvPr>
        </p:nvSpPr>
        <p:spPr/>
        <p:txBody>
          <a:bodyPr/>
          <a:lstStyle/>
          <a:p>
            <a:r>
              <a:rPr lang="en-US" dirty="0"/>
              <a:t>Dense Autoencoder for denoising</a:t>
            </a:r>
          </a:p>
        </p:txBody>
      </p:sp>
      <p:pic>
        <p:nvPicPr>
          <p:cNvPr id="5" name="Content Placeholder 4" descr="faster_r_cnn-1">
            <a:extLst>
              <a:ext uri="{FF2B5EF4-FFF2-40B4-BE49-F238E27FC236}">
                <a16:creationId xmlns:a16="http://schemas.microsoft.com/office/drawing/2014/main" id="{8475638C-C8D5-74B5-20BD-3D16679606D6}"/>
              </a:ext>
            </a:extLst>
          </p:cNvPr>
          <p:cNvPicPr>
            <a:picLocks noGrp="1" noChangeAspect="1"/>
          </p:cNvPicPr>
          <p:nvPr>
            <p:ph idx="1"/>
          </p:nvPr>
        </p:nvPicPr>
        <p:blipFill>
          <a:blip r:embed="rId2"/>
          <a:stretch>
            <a:fillRect/>
          </a:stretch>
        </p:blipFill>
        <p:spPr>
          <a:xfrm>
            <a:off x="2368434" y="1477257"/>
            <a:ext cx="7455132" cy="4951646"/>
          </a:xfrm>
          <a:prstGeom prst="rect">
            <a:avLst/>
          </a:prstGeom>
        </p:spPr>
      </p:pic>
      <p:sp>
        <p:nvSpPr>
          <p:cNvPr id="4" name="Text Placeholder 3">
            <a:extLst>
              <a:ext uri="{FF2B5EF4-FFF2-40B4-BE49-F238E27FC236}">
                <a16:creationId xmlns:a16="http://schemas.microsoft.com/office/drawing/2014/main" id="{D577B068-605D-A620-BDBF-D7E0054F09CF}"/>
              </a:ext>
            </a:extLst>
          </p:cNvPr>
          <p:cNvSpPr>
            <a:spLocks noGrp="1"/>
          </p:cNvSpPr>
          <p:nvPr>
            <p:ph type="body" sz="quarter" idx="13"/>
          </p:nvPr>
        </p:nvSpPr>
        <p:spPr/>
        <p:txBody>
          <a:bodyPr>
            <a:normAutofit/>
          </a:bodyPr>
          <a:lstStyle/>
          <a:p>
            <a:r>
              <a:rPr lang="en-US" dirty="0"/>
              <a:t>Autoencoder - Applications</a:t>
            </a:r>
          </a:p>
        </p:txBody>
      </p:sp>
      <p:sp>
        <p:nvSpPr>
          <p:cNvPr id="6" name="TextBox 5">
            <a:extLst>
              <a:ext uri="{FF2B5EF4-FFF2-40B4-BE49-F238E27FC236}">
                <a16:creationId xmlns:a16="http://schemas.microsoft.com/office/drawing/2014/main" id="{8A256C20-E6FD-BCCF-3671-B732485109B5}"/>
              </a:ext>
            </a:extLst>
          </p:cNvPr>
          <p:cNvSpPr txBox="1"/>
          <p:nvPr/>
        </p:nvSpPr>
        <p:spPr>
          <a:xfrm>
            <a:off x="548640" y="6455664"/>
            <a:ext cx="11091672" cy="310896"/>
          </a:xfrm>
          <a:prstGeom prst="rect">
            <a:avLst/>
          </a:prstGeom>
          <a:noFill/>
        </p:spPr>
        <p:txBody>
          <a:bodyPr wrap="none" rtlCol="0">
            <a:spAutoFit/>
          </a:bodyPr>
          <a:lstStyle/>
          <a:p>
            <a:r>
              <a:rPr lang="en-US" sz="1100" i="1" dirty="0">
                <a:solidFill>
                  <a:schemeClr val="accent6">
                    <a:lumMod val="75000"/>
                  </a:schemeClr>
                </a:solidFill>
              </a:rPr>
              <a:t>source: GeeksforGeeks, “Denoising Autoencoders in Machine Learning” · © GeeksforGeeks; all rights reserved, not for redistribution</a:t>
            </a:r>
          </a:p>
        </p:txBody>
      </p:sp>
    </p:spTree>
    <p:extLst>
      <p:ext uri="{BB962C8B-B14F-4D97-AF65-F5344CB8AC3E}">
        <p14:creationId xmlns:p14="http://schemas.microsoft.com/office/powerpoint/2010/main" val="28615673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7AB26-BF59-6491-B9BC-27CE50E8A7AF}"/>
              </a:ext>
            </a:extLst>
          </p:cNvPr>
          <p:cNvSpPr>
            <a:spLocks noGrp="1"/>
          </p:cNvSpPr>
          <p:nvPr>
            <p:ph type="title"/>
          </p:nvPr>
        </p:nvSpPr>
        <p:spPr>
          <a:xfrm>
            <a:off x="548640" y="731520"/>
            <a:ext cx="11091672" cy="677150"/>
          </a:xfrm>
        </p:spPr>
        <p:txBody>
          <a:bodyPr/>
          <a:lstStyle/>
          <a:p>
            <a:r>
              <a:rPr lang="en-US" dirty="0"/>
              <a:t>Denoising Results on MNIST</a:t>
            </a:r>
          </a:p>
        </p:txBody>
      </p:sp>
      <p:pic>
        <p:nvPicPr>
          <p:cNvPr id="5" name="Content Placeholder 4">
            <a:extLst>
              <a:ext uri="{FF2B5EF4-FFF2-40B4-BE49-F238E27FC236}">
                <a16:creationId xmlns:a16="http://schemas.microsoft.com/office/drawing/2014/main" id="{77CB049A-AB82-3E36-2333-EA578E3EE8A6}"/>
              </a:ext>
            </a:extLst>
          </p:cNvPr>
          <p:cNvPicPr>
            <a:picLocks noGrp="1" noChangeAspect="1"/>
          </p:cNvPicPr>
          <p:nvPr>
            <p:ph idx="1"/>
          </p:nvPr>
        </p:nvPicPr>
        <p:blipFill>
          <a:blip r:embed="rId2"/>
          <a:stretch>
            <a:fillRect/>
          </a:stretch>
        </p:blipFill>
        <p:spPr>
          <a:xfrm>
            <a:off x="2447301" y="1541193"/>
            <a:ext cx="6693250" cy="4864243"/>
          </a:xfrm>
          <a:prstGeom prst="rect">
            <a:avLst/>
          </a:prstGeom>
        </p:spPr>
      </p:pic>
      <p:sp>
        <p:nvSpPr>
          <p:cNvPr id="4" name="Text Placeholder 3">
            <a:extLst>
              <a:ext uri="{FF2B5EF4-FFF2-40B4-BE49-F238E27FC236}">
                <a16:creationId xmlns:a16="http://schemas.microsoft.com/office/drawing/2014/main" id="{2D2CE9A6-FD95-8807-2677-90C1D53766E0}"/>
              </a:ext>
            </a:extLst>
          </p:cNvPr>
          <p:cNvSpPr>
            <a:spLocks noGrp="1"/>
          </p:cNvSpPr>
          <p:nvPr>
            <p:ph type="body" sz="quarter" idx="13"/>
          </p:nvPr>
        </p:nvSpPr>
        <p:spPr/>
        <p:txBody>
          <a:bodyPr/>
          <a:lstStyle/>
          <a:p>
            <a:r>
              <a:rPr lang="en-US" dirty="0" err="1"/>
              <a:t>Autoencoder</a:t>
            </a:r>
            <a:endParaRPr lang="en-US" dirty="0"/>
          </a:p>
        </p:txBody>
      </p:sp>
      <p:sp>
        <p:nvSpPr>
          <p:cNvPr id="6" name="TextBox 5">
            <a:extLst>
              <a:ext uri="{FF2B5EF4-FFF2-40B4-BE49-F238E27FC236}">
                <a16:creationId xmlns:a16="http://schemas.microsoft.com/office/drawing/2014/main" id="{13544AC1-DC40-A1E9-AF0C-DA6D1E7E325E}"/>
              </a:ext>
            </a:extLst>
          </p:cNvPr>
          <p:cNvSpPr txBox="1"/>
          <p:nvPr/>
        </p:nvSpPr>
        <p:spPr>
          <a:xfrm>
            <a:off x="548640" y="6455664"/>
            <a:ext cx="11091672" cy="310896"/>
          </a:xfrm>
          <a:prstGeom prst="rect">
            <a:avLst/>
          </a:prstGeom>
          <a:noFill/>
        </p:spPr>
        <p:txBody>
          <a:bodyPr wrap="none" rtlCol="0">
            <a:spAutoFit/>
          </a:bodyPr>
          <a:lstStyle/>
          <a:p>
            <a:r>
              <a:rPr lang="en-US" i="1" dirty="0" sz="1100">
                <a:solidFill>
                  <a:schemeClr val="accent6">
                    <a:lumMod val="75000"/>
                  </a:schemeClr>
                </a:solidFill>
              </a:rPr>
              <a:t>source: GeeksforGeeks, “Denoising Autoencoders in Machine Learning” · © GeeksforGeeks; all rights reserved, not for redistribution</a:t>
            </a:r>
          </a:p>
          <a:p>
            <a:endParaRPr lang="en-US" dirty="0"/>
          </a:p>
        </p:txBody>
      </p:sp>
    </p:spTree>
    <p:extLst>
      <p:ext uri="{BB962C8B-B14F-4D97-AF65-F5344CB8AC3E}">
        <p14:creationId xmlns:p14="http://schemas.microsoft.com/office/powerpoint/2010/main" val="3255632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AUTOENCODERS · </a:t>
            </a:r>
            <a:r>
              <a:rPr lang="en-US" sz="1300" b="1" dirty="0">
                <a:solidFill>
                  <a:srgbClr val="8A9099"/>
                </a:solidFill>
                <a:latin typeface="Menlo"/>
              </a:rPr>
              <a:t>APPLICATIONS</a:t>
            </a:r>
            <a:endParaRPr sz="1300" b="1" i="0" dirty="0">
              <a:solidFill>
                <a:srgbClr val="8A9099"/>
              </a:solidFill>
              <a:latin typeface="Menlo"/>
            </a:endParaRP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Anomaly Detection</a:t>
            </a:r>
            <a:endParaRPr sz="3400" b="1" i="0" dirty="0">
              <a:solidFill>
                <a:srgbClr val="1B2025"/>
              </a:solidFill>
              <a:latin typeface="Avenir Next"/>
            </a:endParaRPr>
          </a:p>
        </p:txBody>
      </p:sp>
      <p:pic>
        <p:nvPicPr>
          <p:cNvPr id="5" name="Picture 4" descr="fig_anomaly_overlay.png"/>
          <p:cNvPicPr>
            <a:picLocks noChangeAspect="1"/>
          </p:cNvPicPr>
          <p:nvPr/>
        </p:nvPicPr>
        <p:blipFill>
          <a:blip r:embed="rId3"/>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
        <p:nvSpPr>
          <p:cNvPr id="8" name="TextBox 7">
            <a:extLst>
              <a:ext uri="{FF2B5EF4-FFF2-40B4-BE49-F238E27FC236}">
                <a16:creationId xmlns:a16="http://schemas.microsoft.com/office/drawing/2014/main" id="{4472430E-E17A-0F89-5459-C9D3B92F34E5}"/>
              </a:ext>
            </a:extLst>
          </p:cNvPr>
          <p:cNvSpPr txBox="1"/>
          <p:nvPr/>
        </p:nvSpPr>
        <p:spPr>
          <a:xfrm>
            <a:off x="548640" y="1537305"/>
            <a:ext cx="6097772" cy="400110"/>
          </a:xfrm>
          <a:prstGeom prst="rect">
            <a:avLst/>
          </a:prstGeom>
          <a:noFill/>
        </p:spPr>
        <p:txBody>
          <a:bodyPr wrap="square">
            <a:spAutoFit/>
          </a:bodyPr>
          <a:lstStyle/>
          <a:p>
            <a:r>
              <a:rPr lang="en-US" sz="2000" i="0" dirty="0">
                <a:solidFill>
                  <a:srgbClr val="1B2025"/>
                </a:solidFill>
              </a:rPr>
              <a:t>Rebuild it badly → flag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3"/>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does the mean catch a contaminant?</a:t>
            </a:r>
          </a:p>
        </p:txBody>
      </p:sp>
      <p:pic>
        <p:nvPicPr>
          <p:cNvPr id="5" name="Picture 4" descr="fig_recon_trap_youdo.png"/>
          <p:cNvPicPr>
            <a:picLocks noChangeAspect="1"/>
          </p:cNvPicPr>
          <p:nvPr/>
        </p:nvPicPr>
        <p:blipFill>
          <a:blip r:embed="rId3"/>
          <a:stretch>
            <a:fillRect/>
          </a:stretch>
        </p:blipFill>
        <p:spPr>
          <a:xfrm>
            <a:off x="2061567" y="1828800"/>
            <a:ext cx="803838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Q3. A contaminant spikes ONE m/z bin out of 20; that bin's squared error is 0.40, the other 19 are 0. (a) Compute the MEAN MSE over all 20 bins. (b) With threshold 0.05, does mean-MSE FLAG the run? (c) It doesn't — why does averaging hide a sharp contaminant, and what single number WOULD catch it? Worked answer in the notes.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9238CC-883E-957A-C929-D1187F1E3F3C}"/>
              </a:ext>
            </a:extLst>
          </p:cNvPr>
          <p:cNvSpPr>
            <a:spLocks noGrp="1"/>
          </p:cNvSpPr>
          <p:nvPr>
            <p:ph type="title"/>
          </p:nvPr>
        </p:nvSpPr>
        <p:spPr/>
        <p:txBody>
          <a:bodyPr/>
          <a:lstStyle/>
          <a:p>
            <a:r>
              <a:rPr lang="en-US" dirty="0"/>
              <a:t>Generation?</a:t>
            </a:r>
          </a:p>
        </p:txBody>
      </p:sp>
      <p:sp>
        <p:nvSpPr>
          <p:cNvPr id="4" name="Text Placeholder 3">
            <a:extLst>
              <a:ext uri="{FF2B5EF4-FFF2-40B4-BE49-F238E27FC236}">
                <a16:creationId xmlns:a16="http://schemas.microsoft.com/office/drawing/2014/main" id="{35570D0F-B62B-C7CF-4DC3-4AC47FCD61FB}"/>
              </a:ext>
            </a:extLst>
          </p:cNvPr>
          <p:cNvSpPr>
            <a:spLocks noGrp="1"/>
          </p:cNvSpPr>
          <p:nvPr>
            <p:ph type="body" sz="quarter" idx="13"/>
          </p:nvPr>
        </p:nvSpPr>
        <p:spPr/>
        <p:txBody>
          <a:bodyPr/>
          <a:lstStyle/>
          <a:p>
            <a:r>
              <a:rPr lang="en-US" dirty="0"/>
              <a:t>Autoencoder - Applications</a:t>
            </a:r>
          </a:p>
        </p:txBody>
      </p:sp>
      <p:pic>
        <p:nvPicPr>
          <p:cNvPr id="5" name="Content Placeholder 4" descr="fig_ae_bottleneck.png">
            <a:extLst>
              <a:ext uri="{FF2B5EF4-FFF2-40B4-BE49-F238E27FC236}">
                <a16:creationId xmlns:a16="http://schemas.microsoft.com/office/drawing/2014/main" id="{1133112C-C151-3088-34FD-D3FCC2BB3C5A}"/>
              </a:ext>
            </a:extLst>
          </p:cNvPr>
          <p:cNvPicPr>
            <a:picLocks noGrp="1" noChangeAspect="1"/>
          </p:cNvPicPr>
          <p:nvPr>
            <p:ph idx="1"/>
          </p:nvPr>
        </p:nvPicPr>
        <p:blipFill>
          <a:blip r:embed="rId2"/>
          <a:stretch>
            <a:fillRect/>
          </a:stretch>
        </p:blipFill>
        <p:spPr>
          <a:xfrm>
            <a:off x="1574984" y="1390650"/>
            <a:ext cx="8890000" cy="4076700"/>
          </a:xfrm>
          <a:prstGeom prst="rect">
            <a:avLst/>
          </a:prstGeom>
        </p:spPr>
      </p:pic>
      <p:sp>
        <p:nvSpPr>
          <p:cNvPr id="6" name="TextBox 5">
            <a:extLst>
              <a:ext uri="{FF2B5EF4-FFF2-40B4-BE49-F238E27FC236}">
                <a16:creationId xmlns:a16="http://schemas.microsoft.com/office/drawing/2014/main" id="{666E3F17-FFDC-7494-088C-E00F36BFF9C1}"/>
              </a:ext>
            </a:extLst>
          </p:cNvPr>
          <p:cNvSpPr txBox="1"/>
          <p:nvPr/>
        </p:nvSpPr>
        <p:spPr>
          <a:xfrm>
            <a:off x="2512444" y="5746204"/>
            <a:ext cx="2557849" cy="658368"/>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A random latent code  </a:t>
            </a:r>
          </a:p>
        </p:txBody>
      </p:sp>
      <p:sp>
        <p:nvSpPr>
          <p:cNvPr id="7" name="Right Arrow 6">
            <a:extLst>
              <a:ext uri="{FF2B5EF4-FFF2-40B4-BE49-F238E27FC236}">
                <a16:creationId xmlns:a16="http://schemas.microsoft.com/office/drawing/2014/main" id="{5709E490-C978-AEA9-92CB-F9A315EDDBEF}"/>
              </a:ext>
            </a:extLst>
          </p:cNvPr>
          <p:cNvSpPr/>
          <p:nvPr/>
        </p:nvSpPr>
        <p:spPr>
          <a:xfrm>
            <a:off x="5348177" y="5866323"/>
            <a:ext cx="1320457" cy="150982"/>
          </a:xfrm>
          <a:prstGeom prst="right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74B84E-DF41-B0CC-4D42-13B0BA8A918F}"/>
              </a:ext>
            </a:extLst>
          </p:cNvPr>
          <p:cNvSpPr txBox="1"/>
          <p:nvPr/>
        </p:nvSpPr>
        <p:spPr>
          <a:xfrm>
            <a:off x="6946518" y="5757148"/>
            <a:ext cx="2718501" cy="36933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none" rtlCol="0">
            <a:spAutoFit/>
          </a:bodyPr>
          <a:lstStyle/>
          <a:p>
            <a:r>
              <a:rPr lang="en-US" dirty="0"/>
              <a:t>A random nice sample ?</a:t>
            </a:r>
          </a:p>
        </p:txBody>
      </p:sp>
    </p:spTree>
    <p:extLst>
      <p:ext uri="{BB962C8B-B14F-4D97-AF65-F5344CB8AC3E}">
        <p14:creationId xmlns:p14="http://schemas.microsoft.com/office/powerpoint/2010/main" val="3874105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3"/>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3"/>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A SMOOTH LATENT (MNIST)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smooth latent plane: walk a line, watch it morph</a:t>
            </a:r>
          </a:p>
        </p:txBody>
      </p:sp>
      <p:pic>
        <p:nvPicPr>
          <p:cNvPr id="5" name="Picture 4" descr="fig_mnist_latent.png"/>
          <p:cNvPicPr>
            <a:picLocks noChangeAspect="1"/>
          </p:cNvPicPr>
          <p:nvPr/>
        </p:nvPicPr>
        <p:blipFill>
          <a:blip r:embed="rId3"/>
          <a:stretch>
            <a:fillRect/>
          </a:stretch>
        </p:blipFill>
        <p:spPr>
          <a:xfrm>
            <a:off x="3137611" y="1828800"/>
            <a:ext cx="5886297" cy="2596896"/>
          </a:xfrm>
          <a:prstGeom prst="rect">
            <a:avLst/>
          </a:prstGeom>
        </p:spPr>
      </p:pic>
      <p:sp>
        <p:nvSpPr>
          <p:cNvPr id="6" name="TextBox 5"/>
          <p:cNvSpPr txBox="1"/>
          <p:nvPr/>
        </p:nvSpPr>
        <p:spPr>
          <a:xfrm>
            <a:off x="548640" y="4480560"/>
            <a:ext cx="11064240" cy="411480"/>
          </a:xfrm>
          <a:prstGeom prst="rect">
            <a:avLst/>
          </a:prstGeom>
          <a:noFill/>
        </p:spPr>
        <p:txBody>
          <a:bodyPr wrap="square" anchor="t">
            <a:spAutoFit/>
          </a:bodyPr>
          <a:lstStyle/>
          <a:p>
            <a:pPr algn="ctr"/>
            <a:r>
              <a:rPr sz="1200" b="0" i="1">
                <a:solidFill>
                  <a:srgbClr val="8A9099"/>
                </a:solidFill>
                <a:latin typeface="Avenir Next"/>
              </a:rPr>
              <a:t>2-D-latent VAE trained on MNIST (public-domain digits) — a vivid bridge; the same trick runs on spectra in Lab 4</a:t>
            </a:r>
          </a:p>
        </p:txBody>
      </p:sp>
      <p:sp>
        <p:nvSpPr>
          <p:cNvPr id="7" name="Rectangle 6"/>
          <p:cNvSpPr/>
          <p:nvPr/>
        </p:nvSpPr>
        <p:spPr>
          <a:xfrm>
            <a:off x="548640" y="4983480"/>
            <a:ext cx="10515600" cy="170078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Digits make the idea unmissable. A VAE packs all of MNIST into ONE smooth latent plane (left) — nearby points are similar digits, with NO gaps. Pick two real digits and walk the straight line between their codes (right): a 3 morphs smoothly into an 8, every stop a real digit. Same trick on SPECTRA (Lab 4): sample a latent point → a new plausible spectrum; walk A→B → a smooth spectral morph. An AE's gaps would decode to garbage partway across.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sample each latent: what comes out?</a:t>
            </a:r>
          </a:p>
        </p:txBody>
      </p:sp>
      <p:pic>
        <p:nvPicPr>
          <p:cNvPr id="5" name="Picture 4" descr="fig_latent_ab_quiz.png"/>
          <p:cNvPicPr>
            <a:picLocks noChangeAspect="1"/>
          </p:cNvPicPr>
          <p:nvPr/>
        </p:nvPicPr>
        <p:blipFill>
          <a:blip r:embed="rId3"/>
          <a:stretch>
            <a:fillRect/>
          </a:stretch>
        </p:blipFill>
        <p:spPr>
          <a:xfrm>
            <a:off x="2513906" y="1828800"/>
            <a:ext cx="71337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Q1. You want to GENERATE synthetic resistant spectra to augment training, so you sample random latent points and decode. (a) From Picture A (scattered islands with gaps), what comes out — and why? (b) From Picture B (one smooth cloud)? (c) Which is the VAE, and which latent do you use to generate? Worked answer in the notes.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Masked Language Models</a:t>
            </a:r>
            <a:r>
              <a:rPr sz="3400" b="1" i="0" dirty="0">
                <a:solidFill>
                  <a:srgbClr val="1B2025"/>
                </a:solidFill>
                <a:latin typeface="Avenir Next"/>
              </a:rPr>
              <a:t>: hide a </a:t>
            </a:r>
            <a:r>
              <a:rPr sz="3400" b="1" dirty="0">
                <a:solidFill>
                  <a:srgbClr val="1B2025"/>
                </a:solidFill>
                <a:latin typeface="Avenir Next"/>
              </a:rPr>
              <a:t>piece, predict </a:t>
            </a:r>
            <a:r>
              <a:rPr sz="3400" b="1" i="0" dirty="0">
                <a:solidFill>
                  <a:srgbClr val="1B2025"/>
                </a:solidFill>
                <a:latin typeface="Avenir Next"/>
              </a:rPr>
              <a:t>it</a:t>
            </a:r>
          </a:p>
        </p:txBody>
      </p:sp>
      <p:pic>
        <p:nvPicPr>
          <p:cNvPr id="5" name="Picture 4" descr="fig_masking.png"/>
          <p:cNvPicPr>
            <a:picLocks noChangeAspect="1"/>
          </p:cNvPicPr>
          <p:nvPr/>
        </p:nvPicPr>
        <p:blipFill>
          <a:blip r:embed="rId3"/>
          <a:stretch>
            <a:fillRect/>
          </a:stretch>
        </p:blipFill>
        <p:spPr>
          <a:xfrm>
            <a:off x="1587012" y="1932432"/>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EC50D-EE5D-54A6-0136-300580CECE7F}"/>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18FD0D3-7BA3-60EF-C27D-C4776E519764}"/>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E329941-5600-6E8C-FD82-2C0C86E6809F}"/>
              </a:ext>
            </a:extLst>
          </p:cNvPr>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SELF-SUPERVISED · MASKING (BERT) · I-DO</a:t>
            </a:r>
          </a:p>
        </p:txBody>
      </p:sp>
      <p:sp>
        <p:nvSpPr>
          <p:cNvPr id="4" name="TextBox 3">
            <a:extLst>
              <a:ext uri="{FF2B5EF4-FFF2-40B4-BE49-F238E27FC236}">
                <a16:creationId xmlns:a16="http://schemas.microsoft.com/office/drawing/2014/main" id="{8707090A-C0FB-6ECE-E340-6D0929F31D5A}"/>
              </a:ext>
            </a:extLst>
          </p:cNvPr>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latin typeface="Avenir Next"/>
              </a:rPr>
              <a:t>Same idea also works on images (and others)</a:t>
            </a:r>
            <a:endParaRPr sz="3400" b="1" i="0" dirty="0">
              <a:solidFill>
                <a:srgbClr val="1B2025"/>
              </a:solidFill>
              <a:latin typeface="Avenir Next"/>
            </a:endParaRPr>
          </a:p>
        </p:txBody>
      </p:sp>
      <p:pic>
        <p:nvPicPr>
          <p:cNvPr id="7" name="Picture 6">
            <a:extLst>
              <a:ext uri="{FF2B5EF4-FFF2-40B4-BE49-F238E27FC236}">
                <a16:creationId xmlns:a16="http://schemas.microsoft.com/office/drawing/2014/main" id="{F869A53A-E733-E464-F1F3-300F35560AC9}"/>
              </a:ext>
            </a:extLst>
          </p:cNvPr>
          <p:cNvPicPr>
            <a:picLocks noChangeAspect="1"/>
          </p:cNvPicPr>
          <p:nvPr/>
        </p:nvPicPr>
        <p:blipFill>
          <a:blip r:embed="rId3"/>
          <a:stretch>
            <a:fillRect/>
          </a:stretch>
        </p:blipFill>
        <p:spPr>
          <a:xfrm>
            <a:off x="1104013" y="1666338"/>
            <a:ext cx="9122509" cy="4362321"/>
          </a:xfrm>
          <a:prstGeom prst="rect">
            <a:avLst/>
          </a:prstGeom>
        </p:spPr>
      </p:pic>
    </p:spTree>
    <p:extLst>
      <p:ext uri="{BB962C8B-B14F-4D97-AF65-F5344CB8AC3E}">
        <p14:creationId xmlns:p14="http://schemas.microsoft.com/office/powerpoint/2010/main" val="4077681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165BB7C5-365D-886F-899F-24628D8E4E7D}"/>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8" name="Picture 7">
            <a:extLst>
              <a:ext uri="{FF2B5EF4-FFF2-40B4-BE49-F238E27FC236}">
                <a16:creationId xmlns:a16="http://schemas.microsoft.com/office/drawing/2014/main" id="{9E9112FB-3977-205F-628B-EF29153D390B}"/>
              </a:ext>
            </a:extLst>
          </p:cNvPr>
          <p:cNvPicPr>
            <a:picLocks noChangeAspect="1"/>
          </p:cNvPicPr>
          <p:nvPr/>
        </p:nvPicPr>
        <p:blipFill>
          <a:blip r:embed="rId3"/>
          <a:stretch>
            <a:fillRect/>
          </a:stretch>
        </p:blipFill>
        <p:spPr>
          <a:xfrm>
            <a:off x="363221" y="2316024"/>
            <a:ext cx="7772400" cy="3810456"/>
          </a:xfrm>
          <a:prstGeom prst="rect">
            <a:avLst/>
          </a:prstGeom>
        </p:spPr>
      </p:pic>
      <p:pic>
        <p:nvPicPr>
          <p:cNvPr id="9" name="Picture 8" descr="Contrastive Learning Framework: Augmented views of data points are transformed into embeddings, optimizing agreement using contrastive loss to learn robust visual representations.">
            <a:extLst>
              <a:ext uri="{FF2B5EF4-FFF2-40B4-BE49-F238E27FC236}">
                <a16:creationId xmlns:a16="http://schemas.microsoft.com/office/drawing/2014/main" id="{87D4F9DB-EF1D-B2AD-EDB7-44977FB4B173}"/>
              </a:ext>
            </a:extLst>
          </p:cNvPr>
          <p:cNvPicPr>
            <a:picLocks noChangeAspect="1"/>
          </p:cNvPicPr>
          <p:nvPr/>
        </p:nvPicPr>
        <p:blipFill>
          <a:blip r:embed="rId4"/>
          <a:stretch>
            <a:fillRect/>
          </a:stretch>
        </p:blipFill>
        <p:spPr>
          <a:xfrm>
            <a:off x="8190485" y="2368252"/>
            <a:ext cx="3733800" cy="3505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835012-A7E9-5ED7-DBAC-7A551CB58C1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5E7D02-086D-0AA3-11B4-6564B2364FC7}"/>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4EA66475-9133-0748-5148-007C8319C490}"/>
              </a:ext>
            </a:extLst>
          </p:cNvPr>
          <p:cNvSpPr txBox="1"/>
          <p:nvPr/>
        </p:nvSpPr>
        <p:spPr>
          <a:xfrm>
            <a:off x="548640" y="731520"/>
            <a:ext cx="11064240" cy="113877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sz="3400" b="1" i="0" dirty="0">
                <a:solidFill>
                  <a:srgbClr val="1B2025"/>
                </a:solidFill>
                <a:latin typeface="Avenir Next"/>
              </a:rPr>
              <a:t>: two views should land together</a:t>
            </a:r>
          </a:p>
        </p:txBody>
      </p:sp>
      <p:sp>
        <p:nvSpPr>
          <p:cNvPr id="7" name="TextBox 6">
            <a:extLst>
              <a:ext uri="{FF2B5EF4-FFF2-40B4-BE49-F238E27FC236}">
                <a16:creationId xmlns:a16="http://schemas.microsoft.com/office/drawing/2014/main" id="{620A1011-961F-F90B-562A-E9C0B3E0E607}"/>
              </a:ext>
            </a:extLst>
          </p:cNvPr>
          <p:cNvSpPr txBox="1"/>
          <p:nvPr/>
        </p:nvSpPr>
        <p:spPr>
          <a:xfrm>
            <a:off x="548640" y="1998920"/>
            <a:ext cx="8575809" cy="369332"/>
          </a:xfrm>
          <a:prstGeom prst="rect">
            <a:avLst/>
          </a:prstGeom>
          <a:noFill/>
        </p:spPr>
        <p:txBody>
          <a:bodyPr wrap="none" rtlCol="0">
            <a:spAutoFit/>
          </a:bodyPr>
          <a:lstStyle/>
          <a:p>
            <a:r>
              <a:rPr lang="en-US" dirty="0" err="1"/>
              <a:t>SimCLR</a:t>
            </a:r>
            <a:r>
              <a:rPr lang="en-US" dirty="0"/>
              <a:t>: A Simple Framework for Contrastive Learning of Visual Representations</a:t>
            </a: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C64BE64F-2369-347A-351A-3E1DD318EE80}"/>
              </a:ext>
            </a:extLst>
          </p:cNvPr>
          <p:cNvPicPr>
            <a:picLocks noChangeAspect="1"/>
          </p:cNvPicPr>
          <p:nvPr/>
        </p:nvPicPr>
        <p:blipFill>
          <a:blip r:embed="rId3"/>
          <a:stretch>
            <a:fillRect/>
          </a:stretch>
        </p:blipFill>
        <p:spPr>
          <a:xfrm>
            <a:off x="2261781" y="2368252"/>
            <a:ext cx="7264990" cy="4043989"/>
          </a:xfrm>
          <a:prstGeom prst="rect">
            <a:avLst/>
          </a:prstGeom>
        </p:spPr>
      </p:pic>
    </p:spTree>
    <p:extLst>
      <p:ext uri="{BB962C8B-B14F-4D97-AF65-F5344CB8AC3E}">
        <p14:creationId xmlns:p14="http://schemas.microsoft.com/office/powerpoint/2010/main" val="2162735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3CBE8-195B-77C6-0645-34A76F32655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0257F85-A65E-8C30-24C3-0DD9FC0CEBC4}"/>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99A7FACE-396D-3531-9FA2-E29421A7A957}"/>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 Problem: </a:t>
            </a:r>
            <a:r>
              <a:rPr lang="en-US" sz="3400" b="1" i="0" dirty="0">
                <a:solidFill>
                  <a:srgbClr val="FF0000"/>
                </a:solidFill>
                <a:latin typeface="Avenir Next"/>
              </a:rPr>
              <a:t>Collapse</a:t>
            </a:r>
            <a:endParaRPr sz="3400" b="1" i="0" dirty="0">
              <a:solidFill>
                <a:srgbClr val="FF0000"/>
              </a:solidFill>
              <a:latin typeface="Avenir Next"/>
            </a:endParaRPr>
          </a:p>
        </p:txBody>
      </p:sp>
      <p:pic>
        <p:nvPicPr>
          <p:cNvPr id="2" name="Picture 1" descr="A visual representation of the contrastive learning process. The image X undergoes two augmentations producing two different views. Each view is encoded into embeddings using&#10;f(⋅), then further projected into embedding space through g(⋅). The framework optimizes agreement between projections.">
            <a:extLst>
              <a:ext uri="{FF2B5EF4-FFF2-40B4-BE49-F238E27FC236}">
                <a16:creationId xmlns:a16="http://schemas.microsoft.com/office/drawing/2014/main" id="{D2A938F0-1711-6967-D9FF-E2DB63D44C0B}"/>
              </a:ext>
            </a:extLst>
          </p:cNvPr>
          <p:cNvPicPr>
            <a:picLocks noChangeAspect="1"/>
          </p:cNvPicPr>
          <p:nvPr/>
        </p:nvPicPr>
        <p:blipFill>
          <a:blip r:embed="rId3"/>
          <a:stretch>
            <a:fillRect/>
          </a:stretch>
        </p:blipFill>
        <p:spPr>
          <a:xfrm>
            <a:off x="401084" y="1658607"/>
            <a:ext cx="4957725" cy="2759671"/>
          </a:xfrm>
          <a:prstGeom prst="rect">
            <a:avLst/>
          </a:prstGeom>
        </p:spPr>
      </p:pic>
      <p:sp>
        <p:nvSpPr>
          <p:cNvPr id="5" name="Rounded Rectangle 4">
            <a:extLst>
              <a:ext uri="{FF2B5EF4-FFF2-40B4-BE49-F238E27FC236}">
                <a16:creationId xmlns:a16="http://schemas.microsoft.com/office/drawing/2014/main" id="{87F148AB-495B-0EC1-2225-23D2E4EE8858}"/>
              </a:ext>
            </a:extLst>
          </p:cNvPr>
          <p:cNvSpPr/>
          <p:nvPr/>
        </p:nvSpPr>
        <p:spPr>
          <a:xfrm>
            <a:off x="3990535" y="3059707"/>
            <a:ext cx="1271654" cy="175438"/>
          </a:xfrm>
          <a:prstGeom prst="round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767D331-E5AB-716F-3FEA-C25A90BBA282}"/>
              </a:ext>
            </a:extLst>
          </p:cNvPr>
          <p:cNvSpPr txBox="1"/>
          <p:nvPr/>
        </p:nvSpPr>
        <p:spPr>
          <a:xfrm>
            <a:off x="5522822" y="2962760"/>
            <a:ext cx="5365636"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Trivial solution: just making everything the same!!</a:t>
            </a:r>
          </a:p>
        </p:txBody>
      </p:sp>
      <p:sp>
        <p:nvSpPr>
          <p:cNvPr id="8" name="TextBox 7">
            <a:extLst>
              <a:ext uri="{FF2B5EF4-FFF2-40B4-BE49-F238E27FC236}">
                <a16:creationId xmlns:a16="http://schemas.microsoft.com/office/drawing/2014/main" id="{3F150009-FA6D-1F34-C453-E77C9B0A97F1}"/>
              </a:ext>
            </a:extLst>
          </p:cNvPr>
          <p:cNvSpPr txBox="1"/>
          <p:nvPr/>
        </p:nvSpPr>
        <p:spPr>
          <a:xfrm>
            <a:off x="2200940" y="5198798"/>
            <a:ext cx="8721618" cy="1200329"/>
          </a:xfrm>
          <a:prstGeom prst="rect">
            <a:avLst/>
          </a:prstGeom>
          <a:noFill/>
        </p:spPr>
        <p:txBody>
          <a:bodyPr wrap="none" rtlCol="0">
            <a:spAutoFit/>
          </a:bodyPr>
          <a:lstStyle/>
          <a:p>
            <a:pPr lvl="0" fontAlgn="base"/>
            <a:r>
              <a:rPr lang="en-US" b="1" dirty="0"/>
              <a:t>Contrastive Loss (NT-</a:t>
            </a:r>
            <a:r>
              <a:rPr lang="en-US" b="1" dirty="0" err="1"/>
              <a:t>Xent</a:t>
            </a:r>
            <a:r>
              <a:rPr lang="en-US" b="1" dirty="0"/>
              <a:t>)</a:t>
            </a:r>
            <a:r>
              <a:rPr lang="en-US" dirty="0"/>
              <a:t>: </a:t>
            </a:r>
            <a:r>
              <a:rPr lang="en-US" u="sng" dirty="0">
                <a:solidFill>
                  <a:srgbClr val="FF0000"/>
                </a:solidFill>
              </a:rPr>
              <a:t>You must bring negative samples to create contrast. </a:t>
            </a:r>
          </a:p>
          <a:p>
            <a:pPr lvl="1" fontAlgn="base"/>
            <a:r>
              <a:rPr lang="en-US" dirty="0">
                <a:solidFill>
                  <a:srgbClr val="C00000"/>
                </a:solidFill>
              </a:rPr>
              <a:t>- Maximizes the similarity of positive pairs z</a:t>
            </a:r>
            <a:r>
              <a:rPr lang="en-US" sz="1200" baseline="-25000" dirty="0">
                <a:solidFill>
                  <a:srgbClr val="C00000"/>
                </a:solidFill>
              </a:rPr>
              <a:t>1</a:t>
            </a:r>
            <a:r>
              <a:rPr lang="en-US" dirty="0">
                <a:solidFill>
                  <a:srgbClr val="C00000"/>
                </a:solidFill>
              </a:rPr>
              <a:t>, and z</a:t>
            </a:r>
            <a:r>
              <a:rPr lang="en-US" sz="1200" baseline="-25000" dirty="0">
                <a:solidFill>
                  <a:srgbClr val="C00000"/>
                </a:solidFill>
              </a:rPr>
              <a:t>2</a:t>
            </a:r>
            <a:r>
              <a:rPr lang="en-US" dirty="0">
                <a:solidFill>
                  <a:srgbClr val="C00000"/>
                </a:solidFill>
              </a:rPr>
              <a:t>​ using cosine similarity.</a:t>
            </a:r>
          </a:p>
          <a:p>
            <a:pPr lvl="1" fontAlgn="base"/>
            <a:r>
              <a:rPr lang="en-US" dirty="0">
                <a:solidFill>
                  <a:srgbClr val="00B050"/>
                </a:solidFill>
              </a:rPr>
              <a:t>- Minimizes the similarity with negative pairs (other images in the batch).</a:t>
            </a:r>
          </a:p>
          <a:p>
            <a:endParaRPr lang="en-US" dirty="0"/>
          </a:p>
        </p:txBody>
      </p:sp>
      <p:pic>
        <p:nvPicPr>
          <p:cNvPr id="9" name="Picture 8">
            <a:extLst>
              <a:ext uri="{FF2B5EF4-FFF2-40B4-BE49-F238E27FC236}">
                <a16:creationId xmlns:a16="http://schemas.microsoft.com/office/drawing/2014/main" id="{918F1034-ABF3-4FAF-C7D0-39321E34E967}"/>
              </a:ext>
            </a:extLst>
          </p:cNvPr>
          <p:cNvPicPr>
            <a:picLocks noChangeAspect="1"/>
          </p:cNvPicPr>
          <p:nvPr/>
        </p:nvPicPr>
        <p:blipFill>
          <a:blip r:embed="rId4"/>
          <a:stretch>
            <a:fillRect/>
          </a:stretch>
        </p:blipFill>
        <p:spPr>
          <a:xfrm>
            <a:off x="5522822" y="3868279"/>
            <a:ext cx="6096000" cy="1079500"/>
          </a:xfrm>
          <a:prstGeom prst="rect">
            <a:avLst/>
          </a:prstGeom>
        </p:spPr>
      </p:pic>
    </p:spTree>
    <p:extLst>
      <p:ext uri="{BB962C8B-B14F-4D97-AF65-F5344CB8AC3E}">
        <p14:creationId xmlns:p14="http://schemas.microsoft.com/office/powerpoint/2010/main" val="1233397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CE23D6-A0B0-BF86-123A-A899494D5CE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7664481F-DE18-E0F8-7D2C-069EF2CCA63F}"/>
              </a:ext>
            </a:extLst>
          </p:cNvPr>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C742216D-E40A-FC61-FDB8-438C749E866D}"/>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a:extLst>
              <a:ext uri="{FF2B5EF4-FFF2-40B4-BE49-F238E27FC236}">
                <a16:creationId xmlns:a16="http://schemas.microsoft.com/office/drawing/2014/main" id="{3DFA4DEF-4161-3BAE-5ABF-EE0A5FA87F03}"/>
              </a:ext>
            </a:extLst>
          </p:cNvPr>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Contrastive</a:t>
            </a:r>
            <a:r>
              <a:rPr lang="en-US" sz="3400" b="1" i="0" dirty="0">
                <a:solidFill>
                  <a:srgbClr val="1B2025"/>
                </a:solidFill>
                <a:latin typeface="Avenir Next"/>
              </a:rPr>
              <a:t> Learning</a:t>
            </a:r>
            <a:r>
              <a:rPr lang="en-US" sz="3400" b="1" dirty="0">
                <a:solidFill>
                  <a:srgbClr val="1B2025"/>
                </a:solidFill>
                <a:latin typeface="Avenir Next"/>
              </a:rPr>
              <a:t> on MS</a:t>
            </a:r>
            <a:endParaRPr sz="3400" b="1" i="0" dirty="0">
              <a:solidFill>
                <a:srgbClr val="1B2025"/>
              </a:solidFill>
              <a:latin typeface="Avenir Next"/>
            </a:endParaRPr>
          </a:p>
        </p:txBody>
      </p:sp>
      <p:pic>
        <p:nvPicPr>
          <p:cNvPr id="5" name="Picture 4" descr="fig_contrastive.png">
            <a:extLst>
              <a:ext uri="{FF2B5EF4-FFF2-40B4-BE49-F238E27FC236}">
                <a16:creationId xmlns:a16="http://schemas.microsoft.com/office/drawing/2014/main" id="{400AB5C0-25BF-DFC7-AD01-D5E3DA6AD8F5}"/>
              </a:ext>
            </a:extLst>
          </p:cNvPr>
          <p:cNvPicPr>
            <a:picLocks noChangeAspect="1"/>
          </p:cNvPicPr>
          <p:nvPr/>
        </p:nvPicPr>
        <p:blipFill>
          <a:blip r:embed="rId3"/>
          <a:stretch>
            <a:fillRect/>
          </a:stretch>
        </p:blipFill>
        <p:spPr>
          <a:xfrm>
            <a:off x="1922167" y="1828800"/>
            <a:ext cx="8317186" cy="3617976"/>
          </a:xfrm>
          <a:prstGeom prst="rect">
            <a:avLst/>
          </a:prstGeom>
        </p:spPr>
      </p:pic>
      <p:sp>
        <p:nvSpPr>
          <p:cNvPr id="6" name="Rectangle 5">
            <a:extLst>
              <a:ext uri="{FF2B5EF4-FFF2-40B4-BE49-F238E27FC236}">
                <a16:creationId xmlns:a16="http://schemas.microsoft.com/office/drawing/2014/main" id="{55D471E3-1CD1-EAF6-0F98-B5530183544E}"/>
              </a:ext>
            </a:extLst>
          </p:cNvPr>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extLst>
      <p:ext uri="{BB962C8B-B14F-4D97-AF65-F5344CB8AC3E}">
        <p14:creationId xmlns:p14="http://schemas.microsoft.com/office/powerpoint/2010/main" val="16797243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3"/>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F794F-4007-85C9-36B3-F41A79B3782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C062E5B-5C77-A559-11A7-0F8FAFF01E5C}"/>
              </a:ext>
            </a:extLst>
          </p:cNvPr>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a:extLst>
              <a:ext uri="{FF2B5EF4-FFF2-40B4-BE49-F238E27FC236}">
                <a16:creationId xmlns:a16="http://schemas.microsoft.com/office/drawing/2014/main" id="{1CE94D3D-9E2D-FBC1-CF0C-CE3E84CF208E}"/>
              </a:ext>
            </a:extLst>
          </p:cNvPr>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sp>
        <p:nvSpPr>
          <p:cNvPr id="6" name="TextBox 5">
            <a:extLst>
              <a:ext uri="{FF2B5EF4-FFF2-40B4-BE49-F238E27FC236}">
                <a16:creationId xmlns:a16="http://schemas.microsoft.com/office/drawing/2014/main" id="{298F9DD1-246E-B62C-80D9-CA0140E073D1}"/>
              </a:ext>
            </a:extLst>
          </p:cNvPr>
          <p:cNvSpPr txBox="1"/>
          <p:nvPr/>
        </p:nvSpPr>
        <p:spPr>
          <a:xfrm>
            <a:off x="548640" y="5108973"/>
            <a:ext cx="11064240" cy="411480"/>
          </a:xfrm>
          <a:prstGeom prst="rect">
            <a:avLst/>
          </a:prstGeom>
          <a:noFill/>
        </p:spPr>
        <p:txBody>
          <a:bodyPr wrap="square" anchor="t">
            <a:spAutoFit/>
          </a:bodyPr>
          <a:lstStyle/>
          <a:p>
            <a:pPr algn="ctr"/>
            <a:r>
              <a:rPr sz="1200" b="0" i="1" dirty="0">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a:extLst>
              <a:ext uri="{FF2B5EF4-FFF2-40B4-BE49-F238E27FC236}">
                <a16:creationId xmlns:a16="http://schemas.microsoft.com/office/drawing/2014/main" id="{92AF5F5A-B91A-3DBC-D4D8-869B9C1CB487}"/>
              </a:ext>
            </a:extLst>
          </p:cNvPr>
          <p:cNvSpPr/>
          <p:nvPr/>
        </p:nvSpPr>
        <p:spPr>
          <a:xfrm>
            <a:off x="548640" y="5582093"/>
            <a:ext cx="10515600" cy="1102171"/>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
        <p:nvSpPr>
          <p:cNvPr id="8" name="TextBox 7">
            <a:extLst>
              <a:ext uri="{FF2B5EF4-FFF2-40B4-BE49-F238E27FC236}">
                <a16:creationId xmlns:a16="http://schemas.microsoft.com/office/drawing/2014/main" id="{75A9C089-E350-A305-F2A2-E278A1E86867}"/>
              </a:ext>
            </a:extLst>
          </p:cNvPr>
          <p:cNvSpPr txBox="1"/>
          <p:nvPr/>
        </p:nvSpPr>
        <p:spPr>
          <a:xfrm>
            <a:off x="575521" y="1453635"/>
            <a:ext cx="5230919"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none" rtlCol="0">
            <a:spAutoFit/>
          </a:bodyPr>
          <a:lstStyle/>
          <a:p>
            <a:r>
              <a:rPr lang="en-US" dirty="0"/>
              <a:t>What if I don’t have enough negative examples?</a:t>
            </a:r>
          </a:p>
        </p:txBody>
      </p:sp>
      <p:pic>
        <p:nvPicPr>
          <p:cNvPr id="9" name="Picture 8" descr="A student-teacher knowledge distillation framework where raw input images are processed by both the teacher (a larger pre-trained model) and the student (a smaller, efficient model). The teacher's calibrated outputs guide the student via distilled knowledge. The student’s predictions are evaluated against true labels for fine-tuning.">
            <a:extLst>
              <a:ext uri="{FF2B5EF4-FFF2-40B4-BE49-F238E27FC236}">
                <a16:creationId xmlns:a16="http://schemas.microsoft.com/office/drawing/2014/main" id="{5FC3E1E2-53A4-2D6C-5D38-D4AC43EDF1FD}"/>
              </a:ext>
            </a:extLst>
          </p:cNvPr>
          <p:cNvPicPr>
            <a:picLocks noChangeAspect="1"/>
          </p:cNvPicPr>
          <p:nvPr/>
        </p:nvPicPr>
        <p:blipFill>
          <a:blip r:embed="rId3"/>
          <a:stretch>
            <a:fillRect/>
          </a:stretch>
        </p:blipFill>
        <p:spPr>
          <a:xfrm>
            <a:off x="2829560" y="1908573"/>
            <a:ext cx="6502400" cy="3200400"/>
          </a:xfrm>
          <a:prstGeom prst="rect">
            <a:avLst/>
          </a:prstGeom>
        </p:spPr>
      </p:pic>
    </p:spTree>
    <p:extLst>
      <p:ext uri="{BB962C8B-B14F-4D97-AF65-F5344CB8AC3E}">
        <p14:creationId xmlns:p14="http://schemas.microsoft.com/office/powerpoint/2010/main" val="7760977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83366-798E-D27E-59F8-C2DE3F3982F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50FA656-9912-A794-1451-CA3AD8FDD303}"/>
              </a:ext>
            </a:extLst>
          </p:cNvPr>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SELF-SUPERVISED · DINO </a:t>
            </a:r>
          </a:p>
        </p:txBody>
      </p:sp>
      <p:sp>
        <p:nvSpPr>
          <p:cNvPr id="4" name="TextBox 3">
            <a:extLst>
              <a:ext uri="{FF2B5EF4-FFF2-40B4-BE49-F238E27FC236}">
                <a16:creationId xmlns:a16="http://schemas.microsoft.com/office/drawing/2014/main" id="{C4F4E933-655B-BD1A-F163-8D1C40BDEDDE}"/>
              </a:ext>
            </a:extLst>
          </p:cNvPr>
          <p:cNvSpPr txBox="1"/>
          <p:nvPr/>
        </p:nvSpPr>
        <p:spPr>
          <a:xfrm>
            <a:off x="548640" y="731520"/>
            <a:ext cx="11064240" cy="590906"/>
          </a:xfrm>
          <a:prstGeom prst="rect">
            <a:avLst/>
          </a:prstGeom>
          <a:noFill/>
        </p:spPr>
        <p:txBody>
          <a:bodyPr wrap="square" anchor="t">
            <a:spAutoFit/>
          </a:bodyPr>
          <a:lstStyle/>
          <a:p>
            <a:r>
              <a:rPr sz="3400" b="1" i="0" dirty="0">
                <a:solidFill>
                  <a:srgbClr val="1B2025"/>
                </a:solidFill>
                <a:latin typeface="Avenir Next"/>
              </a:rPr>
              <a:t>DINO: a student learns to match a teacher</a:t>
            </a:r>
          </a:p>
        </p:txBody>
      </p:sp>
      <p:pic>
        <p:nvPicPr>
          <p:cNvPr id="2" name="AQPHvHYYEt4DKJtSC7visNIswB567YKxsjNsNmcab2-vCipfaVUT58jdNHZ79wbjHEFBcE2vRXSjQaa0Sm5SldVV.mp4">
            <a:hlinkClick r:id="" action="ppaction://media"/>
            <a:extLst>
              <a:ext uri="{FF2B5EF4-FFF2-40B4-BE49-F238E27FC236}">
                <a16:creationId xmlns:a16="http://schemas.microsoft.com/office/drawing/2014/main" id="{18FE5A9C-3572-A9BC-5077-5314B2CFD63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6273209" y="1496533"/>
            <a:ext cx="5631712" cy="4223784"/>
          </a:xfrm>
          <a:prstGeom prst="rect">
            <a:avLst/>
          </a:prstGeom>
        </p:spPr>
      </p:pic>
      <p:pic>
        <p:nvPicPr>
          <p:cNvPr id="5" name="Picture 4">
            <a:extLst>
              <a:ext uri="{FF2B5EF4-FFF2-40B4-BE49-F238E27FC236}">
                <a16:creationId xmlns:a16="http://schemas.microsoft.com/office/drawing/2014/main" id="{A610D32A-6296-BF87-9535-1089D1171129}"/>
              </a:ext>
            </a:extLst>
          </p:cNvPr>
          <p:cNvPicPr>
            <a:picLocks noChangeAspect="1"/>
          </p:cNvPicPr>
          <p:nvPr/>
        </p:nvPicPr>
        <p:blipFill>
          <a:blip r:embed="rId6"/>
          <a:stretch>
            <a:fillRect/>
          </a:stretch>
        </p:blipFill>
        <p:spPr>
          <a:xfrm>
            <a:off x="419492" y="1377290"/>
            <a:ext cx="5561676" cy="4703098"/>
          </a:xfrm>
          <a:prstGeom prst="rect">
            <a:avLst/>
          </a:prstGeom>
        </p:spPr>
      </p:pic>
      <p:sp>
        <p:nvSpPr>
          <p:cNvPr id="10" name="Rounded Rectangle 9">
            <a:extLst>
              <a:ext uri="{FF2B5EF4-FFF2-40B4-BE49-F238E27FC236}">
                <a16:creationId xmlns:a16="http://schemas.microsoft.com/office/drawing/2014/main" id="{A8640E72-7CFE-968E-6C2A-8BC08A2C89B6}"/>
              </a:ext>
            </a:extLst>
          </p:cNvPr>
          <p:cNvSpPr/>
          <p:nvPr/>
        </p:nvSpPr>
        <p:spPr>
          <a:xfrm>
            <a:off x="733647" y="5358809"/>
            <a:ext cx="5247521" cy="361508"/>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548640" y="6391656"/>
            <a:ext cx="11064240" cy="411480"/>
          </a:xfrm>
          <a:prstGeom prst="rect">
            <a:avLst/>
          </a:prstGeom>
          <a:noFill/>
        </p:spPr>
        <p:txBody>
          <a:bodyPr wrap="square">
            <a:spAutoFit/>
          </a:bodyPr>
          <a:lstStyle/>
          <a:p>
            <a:pPr algn="ctr"/>
            <a:r>
              <a:rPr sz="1200" i="1">
                <a:solidFill>
                  <a:srgbClr val="8A9099"/>
                </a:solidFill>
                <a:latin typeface="Avenir Next"/>
              </a:rPr>
              <a:t>source: Caron et al., “Emerging Properties in Self-Supervised Vision Transformers” (ICCV 2021, Meta AI) — Algorithm 1 pseudocode and the DINO self-attention video (github.com/facebookresearch/dino) · © the authors; all rights reserved, not for redistribution</a:t>
            </a:r>
          </a:p>
        </p:txBody>
      </p:sp>
    </p:spTree>
    <p:extLst>
      <p:ext uri="{BB962C8B-B14F-4D97-AF65-F5344CB8AC3E}">
        <p14:creationId xmlns:p14="http://schemas.microsoft.com/office/powerpoint/2010/main" val="2898688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0133" fill="hold"/>
                                        <p:tgtEl>
                                          <p:spTgt spid="2"/>
                                        </p:tgtEl>
                                      </p:cBhvr>
                                    </p:cmd>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mediacall" presetSubtype="0" fill="hold" nodeType="clickEffect">
                                  <p:stCondLst>
                                    <p:cond delay="0"/>
                                  </p:stCondLst>
                                  <p:childTnLst>
                                    <p:cmd type="call" cmd="playFrom(0.0)">
                                      <p:cBhvr>
                                        <p:cTn id="14" dur="10133"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5" fill="hold" display="0">
                  <p:stCondLst>
                    <p:cond delay="indefinite"/>
                  </p:stCondLst>
                </p:cTn>
                <p:tgtEl>
                  <p:spTgt spid="2"/>
                </p:tgtEl>
              </p:cMediaNode>
            </p:video>
            <p:seq concurrent="1" nextAc="seek">
              <p:cTn id="16" restart="whenNotActive" fill="hold" evtFilter="cancelBubble" nodeType="interactiveSeq">
                <p:stCondLst>
                  <p:cond evt="onClick" delay="0">
                    <p:tgtEl>
                      <p:spTgt spid="2"/>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2"/>
                                        </p:tgtEl>
                                      </p:cBhvr>
                                    </p:cmd>
                                  </p:childTnLst>
                                </p:cTn>
                              </p:par>
                            </p:childTnLst>
                          </p:cTn>
                        </p:par>
                      </p:childTnLst>
                    </p:cTn>
                  </p:par>
                </p:childTnLst>
              </p:cTn>
              <p:nextCondLst>
                <p:cond evt="onClick" delay="0">
                  <p:tgtEl>
                    <p:spTgt spid="2"/>
                  </p:tgtEl>
                </p:cond>
              </p:nextCondLst>
            </p:seq>
          </p:childTnLst>
        </p:cTn>
      </p:par>
    </p:tnLst>
    <p:bldLst>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augmentation would corrupt it?</a:t>
            </a:r>
          </a:p>
        </p:txBody>
      </p:sp>
      <p:pic>
        <p:nvPicPr>
          <p:cNvPr id="5" name="Picture 4" descr="fig_contrastive.png"/>
          <p:cNvPicPr>
            <a:picLocks noChangeAspect="1"/>
          </p:cNvPicPr>
          <p:nvPr/>
        </p:nvPicPr>
        <p:blipFill>
          <a:blip r:embed="rId3"/>
          <a:stretch>
            <a:fillRect/>
          </a:stretch>
        </p:blipFill>
        <p:spPr>
          <a:xfrm>
            <a:off x="2517753" y="1828800"/>
            <a:ext cx="712601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11, Q4. Contrastive pretraining forces two augmented VIEWS of the same spectrum to land together. Three augmentations are fine, ONE corrupts it — mark each SAFE or CORRUPT: (a) add intensity noise · (b) shift m/z 0.2 Da · (c) swap in a DIFFERENT patient's spectrum · (d) scale intensities ×1.05. Which is corrupt, and what would forcing agreement then teach the model? Worked answer in the notes.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3"/>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3"/>
          <a:stretch>
            <a:fillRect/>
          </a:stretch>
        </p:blipFill>
        <p:spPr>
          <a:xfrm>
            <a:off x="1156212" y="178308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SUMMARY</a:t>
            </a:r>
            <a:r>
              <a:rPr sz="1200" b="1" i="0" dirty="0">
                <a:solidFill>
                  <a:srgbClr val="0E7C7B"/>
                </a:solidFill>
                <a:latin typeface="Menlo"/>
              </a:rPr>
              <a:t>· </a:t>
            </a:r>
            <a:r>
              <a:rPr sz="1700" b="0" i="0" dirty="0">
                <a:solidFill>
                  <a:srgbClr val="3D444C"/>
                </a:solidFill>
                <a:latin typeface="Avenir Next"/>
              </a:rPr>
              <a:t>Match the DATA YOU HAVE to a paradigm. SUPERVISED: many labeled → learn </a:t>
            </a:r>
            <a:r>
              <a:rPr sz="1700" b="0" i="0" dirty="0" err="1">
                <a:solidFill>
                  <a:srgbClr val="3D444C"/>
                </a:solidFill>
                <a:latin typeface="Avenir Next"/>
              </a:rPr>
              <a:t>input→label</a:t>
            </a:r>
            <a:r>
              <a:rPr sz="1700" b="0" i="0" dirty="0">
                <a:solidFill>
                  <a:srgbClr val="3D444C"/>
                </a:solidFill>
                <a:latin typeface="Avenir Next"/>
              </a:rPr>
              <a:t>. UNSUPERVISED: no labels → find structure / score anomalies (autoencoder QC). SELF-SUPERVISED: no labels, the data labels itself → pretext task pretrains a body (mask &amp; predict). SEMI-SUPERVISED: few labeled + many unlabeled → pseudo-label the rest.</a:t>
            </a:r>
          </a:p>
        </p:txBody>
      </p:sp>
      <p:sp>
        <p:nvSpPr>
          <p:cNvPr id="7" name="TextBox 6">
            <a:extLst>
              <a:ext uri="{FF2B5EF4-FFF2-40B4-BE49-F238E27FC236}">
                <a16:creationId xmlns:a16="http://schemas.microsoft.com/office/drawing/2014/main" id="{DA30D7E2-A904-9315-8665-6D02635BABFB}"/>
              </a:ext>
            </a:extLst>
          </p:cNvPr>
          <p:cNvSpPr txBox="1"/>
          <p:nvPr/>
        </p:nvSpPr>
        <p:spPr>
          <a:xfrm>
            <a:off x="8332676" y="3105834"/>
            <a:ext cx="2703112" cy="923330"/>
          </a:xfrm>
          <a:prstGeom prst="rect">
            <a:avLst/>
          </a:prstGeom>
        </p:spPr>
        <p:style>
          <a:lnRef idx="3">
            <a:schemeClr val="lt1"/>
          </a:lnRef>
          <a:fillRef idx="1">
            <a:schemeClr val="accent3"/>
          </a:fillRef>
          <a:effectRef idx="1">
            <a:schemeClr val="accent3"/>
          </a:effectRef>
          <a:fontRef idx="minor">
            <a:schemeClr val="lt1"/>
          </a:fontRef>
        </p:style>
        <p:txBody>
          <a:bodyPr wrap="none" rtlCol="0">
            <a:spAutoFit/>
          </a:bodyPr>
          <a:lstStyle/>
          <a:p>
            <a:pPr algn="ctr"/>
            <a:r>
              <a:rPr lang="en-US" dirty="0"/>
              <a:t>One more paradigm:</a:t>
            </a:r>
          </a:p>
          <a:p>
            <a:pPr algn="ctr"/>
            <a:r>
              <a:rPr lang="en-US" dirty="0"/>
              <a:t>Reinforcement Learning</a:t>
            </a:r>
          </a:p>
          <a:p>
            <a:pPr algn="ctr"/>
            <a:r>
              <a:rPr lang="en-US" dirty="0"/>
              <a:t>(Coming Next)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171</TotalTime>
  <Words>7015</Words>
  <Application>Microsoft Macintosh PowerPoint</Application>
  <PresentationFormat>Widescreen</PresentationFormat>
  <Paragraphs>127</Paragraphs>
  <Slides>28</Slides>
  <Notes>25</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Arial</vt:lpstr>
      <vt:lpstr>Avenir Next</vt:lpstr>
      <vt:lpstr>Menlo</vt:lpstr>
      <vt:lpstr>MSACL DS301</vt:lpstr>
      <vt:lpstr>PowerPoint Presentation</vt:lpstr>
      <vt:lpstr>PowerPoint Presentation</vt:lpstr>
      <vt:lpstr>PowerPoint Presentation</vt:lpstr>
      <vt:lpstr>PowerPoint Presentation</vt:lpstr>
      <vt:lpstr>Dense Autoencoder for denoising</vt:lpstr>
      <vt:lpstr>Denoising Results on NMINST</vt:lpstr>
      <vt:lpstr>PowerPoint Presentation</vt:lpstr>
      <vt:lpstr>PowerPoint Presentation</vt:lpstr>
      <vt:lpstr>PowerPoint Presentation</vt:lpstr>
      <vt:lpstr>Generation?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Song, Lixing</cp:lastModifiedBy>
  <cp:revision>23</cp:revision>
  <dcterms:created xsi:type="dcterms:W3CDTF">2013-01-27T09:14:16Z</dcterms:created>
  <dcterms:modified xsi:type="dcterms:W3CDTF">2026-09-14T18:18:54Z</dcterms:modified>
  <cp:category/>
</cp:coreProperties>
</file>
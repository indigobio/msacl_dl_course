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lecture, Tuesday morning, straight after Lecture 13's LLMs — and then Lab 5 (the capstone). This hour is deliberately DEMO-DRIVEN and hands-on. One idea carries the whole hour: an AGENT is just an LLM given TOOLS and a reason→act LOOP (the ReAct pattern), and everything we do traces or builds that loop. Four stops. (1) From chatbot to agent — the ReAct pattern (Thought → Action → Observation → … → Answer) annotated on a real-looking transcript, with a one-line callback to Lecture 13's RL: reinforcement-style feedback/reward is how these reason→act behaviours get trained. (2) A FOLLOW-ALONG on your own free-tier bot — paste a small QC table from the handout and prompt for explicit reason→act→check steps, then compare with a neighbour. (3) An instructor LIVE DEMO — an 'MS analysis assistant' that reads a QC CSV, analyses it, plots, flags an anomaly, and drafts a summary, each reason→act step narrated. (4) WHERE agents fit in the lab (triage, report drafting, data wrangling, literature) and where they must NOT run unsupervised, with guardrails: human review, restricted tools, logging. The interactive spine (rule 8): the ReAct I-do → a you-do that points to Quiz 14 Q1 (LABEL reason vs act); the guardrails I-do → Quiz 14 Q2 (which guardrail for which failure); a human-review you-do → Quiz 14 Q3; the follow-along is a do-it-together on the handout; and a 💬 discussion on which task you'd hand an agent first. Hand out Quiz 14 (short) now, blank — the room fills it across the hour. Close with the Lab 5 capstone briefing.</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Signpost the four stops and set expectations: this hour has almost no new machinery — an agent is the LLM you already understand, wrapped in tools and a loop — so the work is TRACING and RUNNING that loop, not math. The single skill we assess all hour is reading a ReAct transcript and labelling each step reason vs act; the follow-along and the live demo are the same loop, first on your own bot, then on a real MS-analysis task. Aim for a hands-on beat every ~8–10 minutes: the ReAct you-do (Quiz 14 Q1), the follow-along do-it-together on the handout, the guardrail you-do (Q2), the human-review you-do (Q3), and the 💬 discussion. Keep the demo brisk and narrated — every panel is one reason→act step. Reassure the room the quiz is short.</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Demystify 'agent' in one picture. On the left, a plain chatbot: prompt in, reply out, answering only from what the model already learned — it cannot touch your files or run anything. On the right, an AGENT: the SAME LLM, now given a set of TOOLS (read a file, run code, make a plot, search) and run in a LOOP — it reasons about the next step, acts by calling a tool, observes what came back, and goes around again, keeping a memory of the run. That is the whole idea; there is no new neural architecture here — an agent is a wiring pattern around an LLM. One-line callback to Lecture 13 (say it out loud): reinforcement-style feedback and reward is how these reason→act behaviours get TRAINED — the model was tuned (RLHF and related) to plan, call tools, and use their results well. Next slide we watch the loop turn, step by step, on a real-looking MS-analysis transcript.</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centrepiece (rule 6/9): the ReAct loop annotated on a real-looking transcript of the 'MS analysis assistant' asked to flag QC anomalies. Walk it top to bottom, naming each colour. THOUGHT (teal) = the agent REASONING: "I first need to open the QC table and see its columns" — a plan, no tool used yet. ACTION (amber) = the agent ACTING by calling a tool: read_csv("qc_runs.csv"). OBSERVATION (grey) = what the tool returned: 8 runs, columns run_id/mass_error_ppm/resolution/TIC. Then it loops again: THOUGHT — mass error must stay within ±2 ppm, check each run; ACTION — filter |mass_error_ppm| &gt; 2; OBSERVATION — R-07 = 5.3 ppm. Once more: THOUGHT — R-07 is far outside ±2 ppm, so it's the anomaly; ACTION — draft_summary(flag="R-07"); then the final ANSWER. The single distinction the room must carry to the quiz: a step is REASON if it's a Thought (planning/interpreting) and ACT if it's an Action (invoking a tool: read, run/compute, filter, plot, write/draft — so "compute the mean" is an act, because it runs a tool). Observations are the environment's replies, not the agent's steps. Note the qc_runs.csv here is a short standalone demo table, separate from the six-run QC-04 table on the follow-along handout — say so if anyone asks. One-line RL callback again: this reason-then-act behaviour is exactly what preference tuning (Lecture 13) shapes. Next slide the room labels a fresh transcript themselves (Quiz 14 Q1).</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14 Q1 (label reason vs act on a transcript — the hour's spine, assessing the ReAct outcome). Same ReAct shape, a different task (summarise this week's peptide-ID counts and note any underperforming run) and different numbers, so it's transfer not recall. The transcript is reproduced verbatim on the Quiz 14 sheet, so the room answers straight off it. The correct labels, fixed by the ReAct definition on the previous slide: Step 1 (plan: load results.csv and see its columns) = REASON; Step 2 (read_csv("results.csv")) = ACT; Step 3 (plan: compute the average to see which runs fall below) = REASON; Step 4 (compute the mean of peptide_ids) = ACT; Step 5 (interpret: B-04 at 420 is far below the mean of 1,850 → underperformed) = REASON; Step 6 (write_summary(flag="B-04")) = ACT. So: 1 R, 2 A, 3 R, 4 A, 5 R, 6 A — reasoning/interpreting is reason; every step that calls a tool (read, compute, write) is act; the grey lines are observations, not steps. Take a couple of labels from the floor, confirm against the pattern, then have the room fill Q1.</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DO-IT-TOGETHER (rule 8), pointing at the printed handout, not the quiz. Give the room ~5 minutes on whatever free-tier assistant they have — ChatGPT, Claude, or Gemini — no sign-ups beyond what they already use. The handout carries a small realistic QC table (six runs, one obviously out-of-range row, QC-04) and this exact reason→act→check prompt template. They paste both and read what comes back. The point is to FEEL the loop: a good bot states its REASON (the ±2 ppm / resolution / TIC limits) before it ACTS (checks the runs and names QC-04), and ends with a CHECK (what a human must verify). Walk the room; some bots will skip straight to an answer or invent a number — that is the teachable moment for the next slide and for guardrails later. Then have neighbours compare answers: did both flag QC-04? did either invent a value? Next slide, what a good answer looks like.</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Debrief the follow-along against four checks (a genuine checklist, rule 9). A GOOD answer: (1) shows its REASON before it ACTS — it states the limits (±2 ppm, resolution &gt; 30,000, TIC 8–12) first, then checks the runs; (2) flags the right run and no other — QC-04 — and names WHICH metrics are out of range (mass error +5.6 ppm, resolution 22,300, TIC 3.1); (3) invents no number that isn't in the pasted table — this is the hallucination check from Lecture 13, made concrete; (4) defers the final pass/fail to a human — it drafts, a person signs off. 💬 Run the pair prompt: have neighbours score each other's bot output on those four. The likely findings — some bots answer confidently without showing reasoning, and some cite a value that isn't in the table — are exactly why the lab needs guardrails, which we get to after the live demo. Harvest two observations, then move to the demo.</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piece of the hour: watch a REAL agent do the ReAct loop on real MS data, not a toy transcript. The assistant is pointed at a QC/spectra CSV derived from the course datasets (the same Lab 2/4 style data), and it reads the file, runs the analysis, plots, flags any anomaly, and drafts a QC summary — with the instructor narrating each reason→act step as it happens, tying every action back to the ReAct pattern the room just labelled. Tooling plan (state it briefly): PRIMARY is the instructor's Claude Code as a live agent; ALTERNATIVE is the Bedrock API if Claude Code is unavailable; FALLBACK is a pre-recorded run so the demo never fails live. Keep narrating the loop out loud — "here it REASONS, now it ACTS by running code, here's the OBSERVATION" — so the abstract pattern becomes concrete.</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storyboard so the room knows what's coming and can map each step to the ReAct loop. Five beats: READ (open the CSV — an Action; the Thought before it: "I need the data first"), ANALYZE (run the limit checks and stats), PLOT (draw the spectra or QC trends), FLAG (mark the out-of-range run), and DRAFT (write a QC summary for a human to review). Narrate each as reason→act as the agent runs. Keep the room's hands in it: just before the FLAG beat, pause 30 seconds and have everyone PREDICT which run the agent will flag (they've already seen the QC-04 row on the follow-along handout), then run it and check the prediction — a quick hands-on beat inside the demo stretch. Emphasise two things the room should watch for: the agent shows its reasoning before each tool call (that's the ReAct transcript, live), and its final output is a DRAFT for review, never a released result — which sets up the guardrails stop. Restate the tooling plan: primary Claude Code, alternative Bedrock, fallback recording. Next slide, the flag→draft beat made concrete on the QC numbers.</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 in on the money beat so the class sees the reason→act with real numbers (the same QC-04 row the follow-along handout uses, so it's familiar). REASON: the agent notes QC-04 breaks all three limits at once — mass error +5.6 ppm (limit ±2), resolution 22,300 (limit &gt; 30,000), TIC 3.1 (limit 8–12) — while QC-01/02/03/05/06 pass. ACT: it drafts a short QC summary that names the failed run, cites each out-of-range value, gives a recommendation (recalibrate + re-run), and explicitly asks a human to verify before results are released. Two teaching points to say out loud: (1) every number in the draft is READ from the table — nothing invented, the hallucination guardrail working; (2) the draft ends by handing the decision back to a human — the agent proposes, a person disposes. That is exactly the posture we want in a lab, and it motivates the guardrails next.</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practical map for a clinical lab (rule 2). On the left, tasks an agent can plausibly help with FIRST — each paired with the check that keeps it honest: TRIAGE (flag runs/samples for a human to look at — the human still decides), REPORT DRAFTING (a person verifies every number and citation before release), DATA WRANGLING (reformat/merge tables — but on COPIES, with spot-checks and logging), LITERATURE (search and summarise — verify each citation against the source, per Lecture 13's hallucination lesson). On the right, what must NEVER run unsupervised: releasing a patient report or signing out results, making the final clinical call (a diagnosis or a resistance R/S decision), deleting or overwriting raw data, or ordering reagents / anything irreversible. Three guardrails ride on every fit — HUMAN REVIEW, RESTRICTED TOOLS, LOGGING — which we pair to failure modes next. This is also the setup for the Q3 human-review item.</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guardrails from the outcomes, each tied to the specific failure it prevents (rule 3 — every guardrail and failure is taught HERE, before the Q2 match). FAILURE 1: the agent writes a confident summary containing a fabricated number or citation (the Lecture 13 hallucination, in an agent) → GUARDRAIL: HUMAN REVIEW — a qualified person verifies every number and flag before anything is released. FAILURE 2: the agent takes a destructive or irreversible action — deletes/overwrites the raw data file, or orders reagents — on its own → GUARDRAIL: RESTRICTED TOOLS — give it read-only access and a limited toolset; no write, delete, or purchase without explicit approval. FAILURE 3: a wrong result ships and no one can tell what the agent did or reproduce it → GUARDRAIL: LOGGING — record every reason→act step so the run is auditable and reproducible. Say the pairing pattern aloud, then the room matches them itself next slide (Quiz 14 Q2).</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14 Q2 (match guardrail to failure; assesses the guardrails outcome). Answers, identical to the Quiz 14 Q2 key and straight off the previous slide: (1) fabricated number/citation in a summary → HUMAN REVIEW (a person verifies every number/flag before release); (2) the agent deletes/overwrites raw data or orders reagents on its own → RESTRICTED TOOLS (read-only; no write/delete/purchase without approval); (3) a wrong result ships and no one can tell what the agent did or reproduce it → LOGGING (record every reason→act step; auditable, reproducible). Each guardrail used once. Take one match from the floor, confirm, then have the room fill Q2.</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14 Q3 (what must stay human-reviewed in a clinical workflow; assesses the guardrail/where-agents-fit outcome). Answer (identical to the Quiz 14 Q3 key): steps (c) releasing the patient report / signing results and (d) the final resistance (R/S) call MUST stay human-reviewed and signed — they become a released clinical result or a patient-affecting decision, so a qualified person must verify and sign, no matter how good the agent's draft. Steps (a) merge/reformat QC tables, (b) draft the QC summary text, and (e) summarise method papers are fine for an agent to DO as a helper — still checked (spot-check + log; verify citations; verify the draft before release), but they don't directly affect a patient without a human. The rule of thumb: anything that becomes a released result or a patient-affecting decision needs the human gate. Take one answer, then have the room fill Q3 — that's all three Quiz 14 items worked live.</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outcomes' discussion beat (rule 8), and the bridge to using this in their own lab. Two minutes, then harvest three or four. Good answers pair a concrete first task with a concrete check and a clear stopping point: "an agent triages overnight QC runs and flags the suspect ones — a tech reviews the flags each morning (human review), it only READS the QC files (restricted tools), and every check is logged"; or "it drafts the method section of a validation report — I verify every number and citation before it goes anywhere (human review + logging)." Push for WHERE IT STOPS: the agent proposes, a qualified human reviews and signs before any result reaches a patient. This rehearses the exact judgement the course objective 5 asks for — deciding when the tool is and isn't appropriate — now for agents. Then finish Quiz 14 and brief the capstone.</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 the Lecture 14 outcomes, each already a you-do this hour tied to a Quiz 14 item: define/trace the ReAct loop and label reason vs act (Q1); run a reason→act→check interaction on your own bot (the follow-along); name where agents fit and the guardrail each needs (Q2); and what must stay human-reviewed in a clinical workflow (Q3). The sheet was filled across the hour, not as an end block. The big takeaway to send them off with: an agent is not a new kind of AI — it is the LLM you already understand, given tools and a reason→act loop, and the whole job of deploying it safely is putting a human in the loop where it matters and restricting and logging what it can do. Keep the sheet; the capstone is next.</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the last minutes to finishing Quiz 14, then brief the Lab 5 capstone — the course's integrative finale. Each participant picks one guided, rubric-scored track: A (beat the Lab 2 spectra classifier by architecture / augmentation / tuning), B (peak QC — classify chromatographic peaks as good/bad integrations, the Lecture 5 object-detection segment made real), or C (a new question on the same spectra via fine-tuning / re-heading — transfer learning in practice). All reuse course datasets. The rubric rewards proper data handling, a justified model choice, correct split/metrics, and honest error analysis — everything from Lectures 4 and 10. Everyone also completes the one-page 'first DL project in my own lab' template: problem → data &amp; representation → architecture → validation plan → why not a simpler model. Closing Discussion D5: share one-pagers in pairs, a few 60-second presentations, and a resources-to-keep-learning slide to send them off. Mark Quiz 14 together as Colab boots.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5 · LECTURE 14</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Agentic AI, demo-driven</a:t>
            </a:r>
          </a:p>
          <a:p>
            <a:pPr>
              <a:spcBef>
                <a:spcPts val="1600"/>
              </a:spcBef>
            </a:pPr>
            <a:r>
              <a:rPr sz="2200" b="0" i="0">
                <a:solidFill>
                  <a:srgbClr val="0E7C7B"/>
                </a:solidFill>
                <a:latin typeface="Avenir Next"/>
              </a:rPr>
              <a:t>from chatbot to agent · the ReAct reason→act loop, annotated on a transcript · a follow-along on your own bot · a live 'MS analysis assistant' · where agents fit in the lab, and the guardrails each needs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14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 and it's demo-driven</a:t>
            </a:r>
          </a:p>
        </p:txBody>
      </p:sp>
      <p:sp>
        <p:nvSpPr>
          <p:cNvPr id="5" name="TextBox 4"/>
          <p:cNvSpPr txBox="1"/>
          <p:nvPr/>
        </p:nvSpPr>
        <p:spPr>
          <a:xfrm>
            <a:off x="548640" y="1920240"/>
            <a:ext cx="10789920" cy="4572000"/>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From chatbot to agent — the ReAct reason→act loop, annotated on a transcript (+ a one-line callback to Lecture 13's RL)</a:t>
            </a:r>
            <a:r>
              <a:rPr sz="2100" b="0" i="0">
                <a:solidFill>
                  <a:srgbClr val="8A9099"/>
                </a:solidFill>
                <a:latin typeface="Menlo"/>
              </a:rPr>
              <a:t>   · 12 min</a:t>
            </a:r>
          </a:p>
          <a:p>
            <a:pPr>
              <a:spcAft>
                <a:spcPts val="1800"/>
              </a:spcAft>
            </a:pPr>
            <a:r>
              <a:rPr sz="2600" b="1" i="0">
                <a:solidFill>
                  <a:srgbClr val="0E7C7B"/>
                </a:solidFill>
                <a:latin typeface="Avenir Next"/>
              </a:rPr>
              <a:t>•  </a:t>
            </a:r>
            <a:r>
              <a:rPr sz="2600" b="0" i="0">
                <a:solidFill>
                  <a:srgbClr val="1B2025"/>
                </a:solidFill>
                <a:latin typeface="Avenir Next"/>
              </a:rPr>
              <a:t>Follow-along on YOUR bot — paste a QC table, prompt for reason→act→check, compare with a neighbour</a:t>
            </a:r>
            <a:r>
              <a:rPr sz="2100" b="0" i="0">
                <a:solidFill>
                  <a:srgbClr val="8A9099"/>
                </a:solidFill>
                <a:latin typeface="Menlo"/>
              </a:rPr>
              <a:t>   · 10 min</a:t>
            </a:r>
          </a:p>
          <a:p>
            <a:pPr>
              <a:spcAft>
                <a:spcPts val="1800"/>
              </a:spcAft>
            </a:pPr>
            <a:r>
              <a:rPr sz="2600" b="1" i="0">
                <a:solidFill>
                  <a:srgbClr val="0E7C7B"/>
                </a:solidFill>
                <a:latin typeface="Avenir Next"/>
              </a:rPr>
              <a:t>•  </a:t>
            </a:r>
            <a:r>
              <a:rPr sz="2600" b="0" i="0">
                <a:solidFill>
                  <a:srgbClr val="1B2025"/>
                </a:solidFill>
                <a:latin typeface="Avenir Next"/>
              </a:rPr>
              <a:t>Instructor live demo — an 'MS analysis assistant' reads, analyses, plots, flags, drafts</a:t>
            </a:r>
            <a:r>
              <a:rPr sz="2100" b="0" i="0">
                <a:solidFill>
                  <a:srgbClr val="8A9099"/>
                </a:solidFill>
                <a:latin typeface="Menlo"/>
              </a:rPr>
              <a:t>   · 18 min</a:t>
            </a:r>
          </a:p>
          <a:p>
            <a:pPr>
              <a:spcAft>
                <a:spcPts val="1800"/>
              </a:spcAft>
            </a:pPr>
            <a:r>
              <a:rPr sz="2600" b="1" i="0">
                <a:solidFill>
                  <a:srgbClr val="0E7C7B"/>
                </a:solidFill>
                <a:latin typeface="Avenir Next"/>
              </a:rPr>
              <a:t>•  </a:t>
            </a:r>
            <a:r>
              <a:rPr sz="2600" b="0" i="0">
                <a:solidFill>
                  <a:srgbClr val="1B2025"/>
                </a:solidFill>
                <a:latin typeface="Avenir Next"/>
              </a:rPr>
              <a:t>Where agents fit in the lab — and the guardrails each needs; then Quiz 14 + capstone briefing</a:t>
            </a:r>
            <a:r>
              <a:rPr sz="2100" b="0" i="0">
                <a:solidFill>
                  <a:srgbClr val="8A9099"/>
                </a:solidFill>
                <a:latin typeface="Menlo"/>
              </a:rPr>
              <a:t>   · 12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CHATBOT → AGENT · 1 OF 3 · THE DEFINITION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agent = LLM + tools + a reason→act loop</a:t>
            </a:r>
          </a:p>
        </p:txBody>
      </p:sp>
      <p:pic>
        <p:nvPicPr>
          <p:cNvPr id="5" name="Picture 4" descr="fig_agent_schematic.png"/>
          <p:cNvPicPr>
            <a:picLocks noChangeAspect="1"/>
          </p:cNvPicPr>
          <p:nvPr/>
        </p:nvPicPr>
        <p:blipFill>
          <a:blip r:embed="rId2"/>
          <a:stretch>
            <a:fillRect/>
          </a:stretch>
        </p:blipFill>
        <p:spPr>
          <a:xfrm>
            <a:off x="1766308" y="1828800"/>
            <a:ext cx="8628903"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A CHATBOT answers only from what it already knows. An AGENT wraps that same LLM with TOOLS (read files, run code, plot, search) and a LOOP: it REASONS about what to do, ACTS by calling a tool, OBSERVES the result, and repeats — plus MEMORY of what it has seen and done. Same LLM; the tools and the loop are what's new.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CHATBOT → AGENT · 2 OF 3 · THE REACT PATTERN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ReAct, annotated: Thought → Action → Observation → … → Answer</a:t>
            </a:r>
          </a:p>
        </p:txBody>
      </p:sp>
      <p:pic>
        <p:nvPicPr>
          <p:cNvPr id="5" name="Picture 4" descr="fig_react_transcript_ido.png"/>
          <p:cNvPicPr>
            <a:picLocks noChangeAspect="1"/>
          </p:cNvPicPr>
          <p:nvPr/>
        </p:nvPicPr>
        <p:blipFill>
          <a:blip r:embed="rId2"/>
          <a:stretch>
            <a:fillRect/>
          </a:stretch>
        </p:blipFill>
        <p:spPr>
          <a:xfrm>
            <a:off x="3280034" y="1828800"/>
            <a:ext cx="5601451" cy="2840736"/>
          </a:xfrm>
          <a:prstGeom prst="rect">
            <a:avLst/>
          </a:prstGeom>
        </p:spPr>
      </p:pic>
      <p:sp>
        <p:nvSpPr>
          <p:cNvPr id="6" name="Rectangle 5"/>
          <p:cNvSpPr/>
          <p:nvPr/>
        </p:nvSpPr>
        <p:spPr>
          <a:xfrm>
            <a:off x="548640" y="4760976"/>
            <a:ext cx="10515600" cy="195986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The ReAct pattern, colour-coded on a transcript. A THOUGHT is the agent REASONING about what to do (teal). An ACTION is the agent ACTING — calling a tool (read a file, filter, compute/run code, write): here read_csv, filter, draft_summary (amber). An OBSERVATION is the tool's result (grey). The loop repeats until an ANSWER. Reason → act → observe → … → answer. (This qc_runs.csv is a short standalone demo table — separate from the QC table on your handout.) Callback: RL feedback is how this behaviour got trained.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CHATBOT → AGENT · 3 OF 3 · YOUR TURN (YOU-DO = Q1)</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label each step: reason or act?</a:t>
            </a:r>
          </a:p>
        </p:txBody>
      </p:sp>
      <p:pic>
        <p:nvPicPr>
          <p:cNvPr id="5" name="Picture 4" descr="fig_react_transcript_youdo.png"/>
          <p:cNvPicPr>
            <a:picLocks noChangeAspect="1"/>
          </p:cNvPicPr>
          <p:nvPr/>
        </p:nvPicPr>
        <p:blipFill>
          <a:blip r:embed="rId2"/>
          <a:stretch>
            <a:fillRect/>
          </a:stretch>
        </p:blipFill>
        <p:spPr>
          <a:xfrm>
            <a:off x="1860015" y="1828800"/>
            <a:ext cx="8441490" cy="3877056"/>
          </a:xfrm>
          <a:prstGeom prst="rect">
            <a:avLst/>
          </a:prstGeom>
        </p:spPr>
      </p:pic>
      <p:sp>
        <p:nvSpPr>
          <p:cNvPr id="6" name="Rectangle 5"/>
          <p:cNvSpPr/>
          <p:nvPr/>
        </p:nvSpPr>
        <p:spPr>
          <a:xfrm>
            <a:off x="548640" y="579729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14, Q1. A new transcript (same ReAct shape). Label each numbered step R (reason = a Thought) or A (act = calling a tool). The observations (grey) are given context, not steps. Worked answer in the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FOLLOW-ALONG · 1 OF 2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Do it together: reason → act → check, on your own bot</a:t>
            </a:r>
          </a:p>
        </p:txBody>
      </p:sp>
      <p:pic>
        <p:nvPicPr>
          <p:cNvPr id="5" name="Picture 4" descr="fig_followalong_card.png"/>
          <p:cNvPicPr>
            <a:picLocks noChangeAspect="1"/>
          </p:cNvPicPr>
          <p:nvPr/>
        </p:nvPicPr>
        <p:blipFill>
          <a:blip r:embed="rId2"/>
          <a:stretch>
            <a:fillRect/>
          </a:stretch>
        </p:blipFill>
        <p:spPr>
          <a:xfrm>
            <a:off x="2282330" y="1828800"/>
            <a:ext cx="7596859"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Do-it-together → your handout. Open any free-tier bot (ChatGPT / Claude / Gemini). Paste the prompt template AND the small QC table from your handout, and ask for three labelled steps — REASON (what a QC anomaly is + which limit), ACT (check each run, name the out-of-range one), CHECK (what a human must verify). Then compare answers with a neighbour.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FOLLOW-ALONG · 2 OF 2 · DEBRIEF · 💬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What a good answer looks like</a:t>
            </a:r>
          </a:p>
        </p:txBody>
      </p:sp>
      <p:pic>
        <p:nvPicPr>
          <p:cNvPr id="5" name="Picture 4" descr="fig_followalong_debrief.png"/>
          <p:cNvPicPr>
            <a:picLocks noChangeAspect="1"/>
          </p:cNvPicPr>
          <p:nvPr/>
        </p:nvPicPr>
        <p:blipFill>
          <a:blip r:embed="rId2"/>
          <a:stretch>
            <a:fillRect/>
          </a:stretch>
        </p:blipFill>
        <p:spPr>
          <a:xfrm>
            <a:off x="1027497" y="1828800"/>
            <a:ext cx="10106526" cy="3566160"/>
          </a:xfrm>
          <a:prstGeom prst="rect">
            <a:avLst/>
          </a:prstGeom>
        </p:spPr>
      </p:pic>
      <p:sp>
        <p:nvSpPr>
          <p:cNvPr id="6" name="Rectangle 5"/>
          <p:cNvSpPr/>
          <p:nvPr/>
        </p:nvSpPr>
        <p:spPr>
          <a:xfrm>
            <a:off x="548640" y="548640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 With your neighbour: did your bot (1) show its REASON before it ACTED, (2) flag QC-04 and name which metrics are out of range, (3) invent any number not in the table, and (4) leave the final pass/fail to a human? Answer in the notes.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14 · PART THREE</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Instructor live demo — the 'MS analysis assistant'</a:t>
            </a:r>
          </a:p>
          <a:p>
            <a:pPr>
              <a:spcBef>
                <a:spcPts val="1600"/>
              </a:spcBef>
            </a:pPr>
            <a:r>
              <a:rPr sz="2200" b="0" i="0">
                <a:solidFill>
                  <a:srgbClr val="0E7C7B"/>
                </a:solidFill>
                <a:latin typeface="Avenir Next"/>
              </a:rPr>
              <a:t>a real agent on a spectra/QC CSV: reads files → runs analysis → plots → flags anomalies → drafts a summary, each reason→act step narrated</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LIVE DEMO · THE STORYBOARD</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demo, five reason→act beats</a:t>
            </a:r>
          </a:p>
        </p:txBody>
      </p:sp>
      <p:pic>
        <p:nvPicPr>
          <p:cNvPr id="5" name="Picture 4" descr="fig_demo_storyboard.png"/>
          <p:cNvPicPr>
            <a:picLocks noChangeAspect="1"/>
          </p:cNvPicPr>
          <p:nvPr/>
        </p:nvPicPr>
        <p:blipFill>
          <a:blip r:embed="rId2"/>
          <a:stretch>
            <a:fillRect/>
          </a:stretch>
        </p:blipFill>
        <p:spPr>
          <a:xfrm>
            <a:off x="1340381" y="1828800"/>
            <a:ext cx="9480757"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The demo as five beats, each one reason→act: READ the QC/spectra CSV → ANALYZE (limits, stats) → PLOT the spectra/trends → FLAG the out-of-range run → DRAFT the QC summary for review. 💬 Before the FLAG beat, take 30 s: predict which run the agent will flag. Primary: instructor's Claude Code · alt: Bedrock API · fallback: pre-recorded run — the demo never fails live.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LIVE DEMO · FLAG → DRAFT, CONCRETE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It finds the bad run, then drafts it up</a:t>
            </a:r>
          </a:p>
        </p:txBody>
      </p:sp>
      <p:pic>
        <p:nvPicPr>
          <p:cNvPr id="5" name="Picture 4" descr="fig_demo_flag.png"/>
          <p:cNvPicPr>
            <a:picLocks noChangeAspect="1"/>
          </p:cNvPicPr>
          <p:nvPr/>
        </p:nvPicPr>
        <p:blipFill>
          <a:blip r:embed="rId2"/>
          <a:stretch>
            <a:fillRect/>
          </a:stretch>
        </p:blipFill>
        <p:spPr>
          <a:xfrm>
            <a:off x="2075261" y="1828800"/>
            <a:ext cx="8010997"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The FLAG→DRAFT beat on real numbers. REASON: QC-04 breaks all three limits (mass error +5.6 ppm vs ±2; resolution 22,300 vs &gt;30,000; TIC 3.1 vs 8–12). ACT: it drafts a summary naming the failed run, the exact out-of-range values, and a recommendation — and ends 'please verify before releasing results'. Every number is read from the table, none invented.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WHERE AGENTS FIT · THE MAP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Where agents fit — and where they must not run alone</a:t>
            </a:r>
          </a:p>
        </p:txBody>
      </p:sp>
      <p:pic>
        <p:nvPicPr>
          <p:cNvPr id="5" name="Picture 4" descr="fig_agents_fit.png"/>
          <p:cNvPicPr>
            <a:picLocks noChangeAspect="1"/>
          </p:cNvPicPr>
          <p:nvPr/>
        </p:nvPicPr>
        <p:blipFill>
          <a:blip r:embed="rId2"/>
          <a:stretch>
            <a:fillRect/>
          </a:stretch>
        </p:blipFill>
        <p:spPr>
          <a:xfrm>
            <a:off x="2652843" y="1828800"/>
            <a:ext cx="6855833" cy="3099816"/>
          </a:xfrm>
          <a:prstGeom prst="rect">
            <a:avLst/>
          </a:prstGeom>
        </p:spPr>
      </p:pic>
      <p:sp>
        <p:nvSpPr>
          <p:cNvPr id="6" name="Rectangle 5"/>
          <p:cNvSpPr/>
          <p:nvPr/>
        </p:nvSpPr>
        <p:spPr>
          <a:xfrm>
            <a:off x="548640" y="5020056"/>
            <a:ext cx="10515600" cy="170078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GOOD FIRST FITS (each with a check): triage (flag runs for a human), report drafting (human verifies every number), data wrangling (work on copies; spot-check + log), literature (verify each citation). MUST NOT run unsupervised: releasing a patient report, the final clinical call (R/S), deleting raw data, ordering reagents. Guardrails on every fit: human review · restricted tools · logging.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GUARDRAILS · FAILURE → GUARDRAIL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Each failure mode has a guardrail</a:t>
            </a:r>
          </a:p>
        </p:txBody>
      </p:sp>
      <p:pic>
        <p:nvPicPr>
          <p:cNvPr id="5" name="Picture 4" descr="fig_guardrails_ido.png"/>
          <p:cNvPicPr>
            <a:picLocks noChangeAspect="1"/>
          </p:cNvPicPr>
          <p:nvPr/>
        </p:nvPicPr>
        <p:blipFill>
          <a:blip r:embed="rId2"/>
          <a:stretch>
            <a:fillRect/>
          </a:stretch>
        </p:blipFill>
        <p:spPr>
          <a:xfrm>
            <a:off x="2175066" y="1828800"/>
            <a:ext cx="7811388"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Three failures, three guardrails. FABRICATED number/citation in a summary → HUMAN REVIEW (a person verifies every number before release). Agent DELETES/overwrites raw data or orders reagents → RESTRICTED TOOLS (read-only; no write/delete/purchase without approval). A wrong result ships and no one can tell what happened → LOGGING (record every reason→act step so the run is auditable).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GUARDRAILS · YOUR TURN (YOU-DO = Q2)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which guardrail for which failure?</a:t>
            </a:r>
          </a:p>
        </p:txBody>
      </p:sp>
      <p:pic>
        <p:nvPicPr>
          <p:cNvPr id="5" name="Picture 4" descr="fig_guardrails_youdo.png"/>
          <p:cNvPicPr>
            <a:picLocks noChangeAspect="1"/>
          </p:cNvPicPr>
          <p:nvPr/>
        </p:nvPicPr>
        <p:blipFill>
          <a:blip r:embed="rId2"/>
          <a:stretch>
            <a:fillRect/>
          </a:stretch>
        </p:blipFill>
        <p:spPr>
          <a:xfrm>
            <a:off x="1572555" y="1828800"/>
            <a:ext cx="9016409" cy="3877056"/>
          </a:xfrm>
          <a:prstGeom prst="rect">
            <a:avLst/>
          </a:prstGeom>
        </p:spPr>
      </p:pic>
      <p:sp>
        <p:nvSpPr>
          <p:cNvPr id="6" name="Rectangle 5"/>
          <p:cNvSpPr/>
          <p:nvPr/>
        </p:nvSpPr>
        <p:spPr>
          <a:xfrm>
            <a:off x="548640" y="579729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14, Q2. Match each failure mode to the ONE guardrail that prevents it, using the word bank: HUMAN REVIEW · RESTRICTED TOOLS · LOGGING. Worked answer in the notes.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CLINICAL REVIEW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what must stay human-reviewed?</a:t>
            </a:r>
          </a:p>
        </p:txBody>
      </p:sp>
      <p:pic>
        <p:nvPicPr>
          <p:cNvPr id="5" name="Picture 4" descr="fig_human_review.png"/>
          <p:cNvPicPr>
            <a:picLocks noChangeAspect="1"/>
          </p:cNvPicPr>
          <p:nvPr/>
        </p:nvPicPr>
        <p:blipFill>
          <a:blip r:embed="rId2"/>
          <a:stretch>
            <a:fillRect/>
          </a:stretch>
        </p:blipFill>
        <p:spPr>
          <a:xfrm>
            <a:off x="1450809" y="1828800"/>
            <a:ext cx="9259902"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14, Q3. In a clinical workflow, which of these steps must a qualified human review and sign before it reaches a patient? (a) merge/reformat QC tables (b) draft the QC summary (c) release the patient report (d) the final R/S call (e) summarise 3 papers. Worked answer in the notes.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WHERE AGENTS FIT · 💬 DISCUSS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 Which task would you hand an agent first?</a:t>
            </a:r>
          </a:p>
        </p:txBody>
      </p:sp>
      <p:sp>
        <p:nvSpPr>
          <p:cNvPr id="5" name="TextBox 4"/>
          <p:cNvSpPr txBox="1"/>
          <p:nvPr/>
        </p:nvSpPr>
        <p:spPr>
          <a:xfrm>
            <a:off x="548640" y="1920240"/>
            <a:ext cx="10789920" cy="3444240"/>
          </a:xfrm>
          <a:prstGeom prst="rect">
            <a:avLst/>
          </a:prstGeom>
          <a:noFill/>
        </p:spPr>
        <p:txBody>
          <a:bodyPr wrap="square" anchor="t">
            <a:spAutoFit/>
          </a:bodyPr>
          <a:lstStyle/>
          <a:p>
            <a:pPr>
              <a:spcAft>
                <a:spcPts val="1800"/>
              </a:spcAft>
            </a:pPr>
            <a:r>
              <a:rPr sz="2500" b="1" i="0">
                <a:solidFill>
                  <a:srgbClr val="0E7C7B"/>
                </a:solidFill>
                <a:latin typeface="Avenir Next"/>
              </a:rPr>
              <a:t>•  </a:t>
            </a:r>
            <a:r>
              <a:rPr sz="2500" b="0" i="0">
                <a:solidFill>
                  <a:srgbClr val="1B2025"/>
                </a:solidFill>
                <a:latin typeface="Avenir Next"/>
              </a:rPr>
              <a:t>Pick ONE task from your own week you'd hand an agent first — triage, report drafting, data wrangling, or a literature scan</a:t>
            </a:r>
          </a:p>
          <a:p>
            <a:pPr>
              <a:spcAft>
                <a:spcPts val="1800"/>
              </a:spcAft>
            </a:pPr>
            <a:r>
              <a:rPr sz="2500" b="1" i="0">
                <a:solidFill>
                  <a:srgbClr val="0E7C7B"/>
                </a:solidFill>
                <a:latin typeface="Avenir Next"/>
              </a:rPr>
              <a:t>•  </a:t>
            </a:r>
            <a:r>
              <a:rPr sz="2500" b="0" i="0">
                <a:solidFill>
                  <a:srgbClr val="1B2025"/>
                </a:solidFill>
                <a:latin typeface="Avenir Next"/>
              </a:rPr>
              <a:t>Name the ONE check that keeps it honest — a human review, a restricted (read-only) toolset, or a log you can audit</a:t>
            </a:r>
          </a:p>
          <a:p>
            <a:pPr>
              <a:spcAft>
                <a:spcPts val="1800"/>
              </a:spcAft>
            </a:pPr>
            <a:r>
              <a:rPr sz="2500" b="1" i="0">
                <a:solidFill>
                  <a:srgbClr val="0E7C7B"/>
                </a:solidFill>
                <a:latin typeface="Avenir Next"/>
              </a:rPr>
              <a:t>•  </a:t>
            </a:r>
            <a:r>
              <a:rPr sz="2500" b="0" i="0">
                <a:solidFill>
                  <a:srgbClr val="1B2025"/>
                </a:solidFill>
                <a:latin typeface="Avenir Next"/>
              </a:rPr>
              <a:t>Say where it must stop — the point at which a human must review and sign before anything reaches a patient</a:t>
            </a:r>
          </a:p>
        </p:txBody>
      </p:sp>
      <p:sp>
        <p:nvSpPr>
          <p:cNvPr id="6" name="Rectangle 5"/>
          <p:cNvSpPr/>
          <p:nvPr/>
        </p:nvSpPr>
        <p:spPr>
          <a:xfrm>
            <a:off x="548640" y="55016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 2 minutes with your neighbour: which task would you hand an agent first — and what ONE check keeps it honest? Be specific about where the agent stops and the human signs. Share-outs in the notes.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14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Define an agent as LLM + tools + a reason→act loop (ReAct), and label the reasoning vs acting steps on a transcript (Quiz 14 Q1)</a:t>
            </a:r>
          </a:p>
          <a:p>
            <a:pPr>
              <a:spcAft>
                <a:spcPts val="1800"/>
              </a:spcAft>
            </a:pPr>
            <a:r>
              <a:rPr sz="2100" b="1" i="0">
                <a:solidFill>
                  <a:srgbClr val="0E7C7B"/>
                </a:solidFill>
                <a:latin typeface="Avenir Next"/>
              </a:rPr>
              <a:t>•  </a:t>
            </a:r>
            <a:r>
              <a:rPr sz="2100" b="0" i="0">
                <a:solidFill>
                  <a:srgbClr val="1B2025"/>
                </a:solidFill>
                <a:latin typeface="Avenir Next"/>
              </a:rPr>
              <a:t>Run a simple agentic interaction yourself on a free-tier bot — a structured reason → act → check prompt (the follow-along)</a:t>
            </a:r>
          </a:p>
          <a:p>
            <a:pPr>
              <a:spcAft>
                <a:spcPts val="1800"/>
              </a:spcAft>
            </a:pPr>
            <a:r>
              <a:rPr sz="2100" b="1" i="0">
                <a:solidFill>
                  <a:srgbClr val="0E7C7B"/>
                </a:solidFill>
                <a:latin typeface="Avenir Next"/>
              </a:rPr>
              <a:t>•  </a:t>
            </a:r>
            <a:r>
              <a:rPr sz="2100" b="0" i="0">
                <a:solidFill>
                  <a:srgbClr val="1B2025"/>
                </a:solidFill>
                <a:latin typeface="Avenir Next"/>
              </a:rPr>
              <a:t>Name where agents fit in lab workflows and the guardrail each needs — human review, restricted tools, logging (Quiz 14 Q2)</a:t>
            </a:r>
          </a:p>
          <a:p>
            <a:pPr>
              <a:spcAft>
                <a:spcPts val="1800"/>
              </a:spcAft>
            </a:pPr>
            <a:r>
              <a:rPr sz="2100" b="1" i="0">
                <a:solidFill>
                  <a:srgbClr val="0E7C7B"/>
                </a:solidFill>
                <a:latin typeface="Avenir Next"/>
              </a:rPr>
              <a:t>•  </a:t>
            </a:r>
            <a:r>
              <a:rPr sz="2100" b="0" i="0">
                <a:solidFill>
                  <a:srgbClr val="1B2025"/>
                </a:solidFill>
                <a:latin typeface="Avenir Next"/>
              </a:rPr>
              <a:t>Say what must stay human-reviewed in a clinical workflow — anything that becomes a released result or a patient decision (Quiz 14 Q3)</a:t>
            </a:r>
          </a:p>
        </p:txBody>
      </p:sp>
      <p:sp>
        <p:nvSpPr>
          <p:cNvPr id="6" name="Rectangle 5"/>
          <p:cNvSpPr/>
          <p:nvPr/>
        </p:nvSpPr>
        <p:spPr>
          <a:xfrm>
            <a:off x="548640" y="5623559"/>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You've now worked every item on Quiz 14 live — labelling reason vs act on a transcript (Q1), matching guardrail to failure (Q2), and what stays human-reviewed (Q3) — plus a follow-along on your own bot and a live demo. Keep the sheet.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14 · NEXT — LAB 5 CAPSTONE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 the Lab 5 capstone</a:t>
            </a:r>
          </a:p>
        </p:txBody>
      </p:sp>
      <p:sp>
        <p:nvSpPr>
          <p:cNvPr id="5" name="TextBox 4"/>
          <p:cNvSpPr txBox="1"/>
          <p:nvPr/>
        </p:nvSpPr>
        <p:spPr>
          <a:xfrm>
            <a:off x="548640" y="1920240"/>
            <a:ext cx="10789920" cy="3749039"/>
          </a:xfrm>
          <a:prstGeom prst="rect">
            <a:avLst/>
          </a:prstGeom>
          <a:noFill/>
        </p:spPr>
        <p:txBody>
          <a:bodyPr wrap="square" anchor="t">
            <a:spAutoFit/>
          </a:bodyPr>
          <a:lstStyle/>
          <a:p>
            <a:pPr>
              <a:spcAft>
                <a:spcPts val="1800"/>
              </a:spcAft>
            </a:pPr>
            <a:r>
              <a:rPr sz="2000" b="1" i="0">
                <a:solidFill>
                  <a:srgbClr val="0E7C7B"/>
                </a:solidFill>
                <a:latin typeface="Avenir Next"/>
              </a:rPr>
              <a:t>•  </a:t>
            </a:r>
            <a:r>
              <a:rPr sz="2000" b="0" i="0">
                <a:solidFill>
                  <a:srgbClr val="1B2025"/>
                </a:solidFill>
                <a:latin typeface="Avenir Next"/>
              </a:rPr>
              <a:t>Pick ONE guided track: A — beat the Lab 2 spectra baseline · B — peak QC (good/bad integrations) · C — new question, same spectra (transfer learning)</a:t>
            </a:r>
          </a:p>
          <a:p>
            <a:pPr>
              <a:spcAft>
                <a:spcPts val="1800"/>
              </a:spcAft>
            </a:pPr>
            <a:r>
              <a:rPr sz="2000" b="1" i="0">
                <a:solidFill>
                  <a:srgbClr val="0E7C7B"/>
                </a:solidFill>
                <a:latin typeface="Avenir Next"/>
              </a:rPr>
              <a:t>•  </a:t>
            </a:r>
            <a:r>
              <a:rPr sz="2000" b="0" i="0">
                <a:solidFill>
                  <a:srgbClr val="1B2025"/>
                </a:solidFill>
                <a:latin typeface="Avenir Next"/>
              </a:rPr>
              <a:t>Adapt a working pipeline, evaluate it PROPERLY — split, metrics, honest error analysis (Lectures 4 &amp; 10) — all rubric-scored</a:t>
            </a:r>
          </a:p>
          <a:p>
            <a:pPr>
              <a:spcAft>
                <a:spcPts val="1800"/>
              </a:spcAft>
            </a:pPr>
            <a:r>
              <a:rPr sz="2000" b="1" i="0">
                <a:solidFill>
                  <a:srgbClr val="0E7C7B"/>
                </a:solidFill>
                <a:latin typeface="Avenir Next"/>
              </a:rPr>
              <a:t>•  </a:t>
            </a:r>
            <a:r>
              <a:rPr sz="2000" b="0" i="0">
                <a:solidFill>
                  <a:srgbClr val="1B2025"/>
                </a:solidFill>
                <a:latin typeface="Avenir Next"/>
              </a:rPr>
              <a:t>Complete your project one-pager: problem → data &amp; representation → architecture → validation plan → 'why not a simpler model?'</a:t>
            </a:r>
          </a:p>
          <a:p>
            <a:pPr>
              <a:spcAft>
                <a:spcPts val="1800"/>
              </a:spcAft>
            </a:pPr>
            <a:r>
              <a:rPr sz="2000" b="1" i="0">
                <a:solidFill>
                  <a:srgbClr val="0E7C7B"/>
                </a:solidFill>
                <a:latin typeface="Avenir Next"/>
              </a:rPr>
              <a:t>•  </a:t>
            </a:r>
            <a:r>
              <a:rPr sz="2000" b="0" i="0">
                <a:solidFill>
                  <a:srgbClr val="1B2025"/>
                </a:solidFill>
                <a:latin typeface="Avenir Next"/>
              </a:rPr>
              <a:t>Closing discussion D5: share your one-pager in pairs, a few 60-second share-outs, then resources to keep learning</a:t>
            </a:r>
          </a:p>
        </p:txBody>
      </p:sp>
      <p:sp>
        <p:nvSpPr>
          <p:cNvPr id="6" name="Rectangle 5"/>
          <p:cNvSpPr/>
          <p:nvPr/>
        </p:nvSpPr>
        <p:spPr>
          <a:xfrm>
            <a:off x="548640" y="5806439"/>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2 minutes to finish Quiz 14 solo → we mark it together as Lab 5 opens. Then choose your capstone track and open the Colab. Bring everything: representation (Lec 10), the right architecture (Lec 5/8/11), and honest metrics (Lec 4/10).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Agentic AI, Demo-Driven</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
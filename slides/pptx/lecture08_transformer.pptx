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Monday morning, hour two, straight on from Lecture 7. Last hour we built one thing — self-attention, a soft lookup that is just a weighted average. This hour we bolt on the four missing pieces and the whole transformer falls out, then we turn it loose on spectra and show how to borrow a pretrained one for a lab with only a few hundred labels. Nothing new that is hard: the only arithmetic is a mean and a subtract-and-divide (layer norm), both by hand. Same interactive spine as every lecture so far: each worked example (I-do) is followed by one you do yourself (you-do), and every quiz-backed you-do IS a Quiz 8 item. Hand out Quiz 8 now, blank; the room fills it across the hour. Quiz 8 has four items and we hit all four live — label the four transformer blocks (Q1), match data to tokenization strategy (Q2), the fine-tune-vs-scratch call (Q3), and which-norm-averages-what (Q4). Keep the Quiz 7 sheet handy — attention is the beating heart of what we assemble today.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Signpost the five stops so the room can pace itself. Every block today is one they already own: attention (Lecture 7), softmax (Lecture 4), residual skips and normalization (Lecture 5), embeddings (Lecture 7). The only two genuinely new pieces are positional encoding and layer norm, and both are a single picture plus a one-line calculation. The back half is the money for this room — how their actual data (spectra, peak lists, imaging-MS) becomes transformer input, and how to fine-tune a pretrained model on a small labeled set, which is exactly what Lab 3 does next hour. Every quiz item gets worked live; there is no end-of-class quiz block.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cliffhanger from Lecture 7's last slide: the weighted average is unchanged if you shuffle the tokens, so raw self-attention cannot tell D–E–K from K–E–D — a disaster for sequences, where order IS the identity (slide 3 of Lecture 7, SAGK vs GKAS). The fix is deliberately unglamorous: manufacture a distinct signal for each POSITION and add it, element-by-element, onto that slot's token embedding. Do the four sums live with the room (do-it-together, a genuine hands-on beat): 0.2+0.1, 0.9+0.0, 0.5+0.5, 0.1+1.0 → [0.3, 0.9, 1.0, 1.1] — exact, no rounding. The teaching point: because the position signal differs slot to slot, the SAME token "peptide" lands at a different vector depending on where it sits, so attention can finally see order. Where do the signals come from? Sine/cosine waves of different frequencies — each position is a unique blend, and neighbours get similar blends (that is the only reason the exact wave shape matters; don't derive it). Modern models often LEARN these position vectors instead, but the job is identical: positions must be injected because attention won't infer them.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Normalization keeps activations in a sane range as signals pass through a deep stack — the same drift problem behind Lecture 4's vanishing/exploding gradients — by recentering and rescaling to mean 0, standard size. The only question worth teaching is WHICH AXIS the mean-and-spread is taken over, and the figure answers it with exact numbers. Batch norm (amber column) pools a single feature across every sample in the batch: mean(2,4,0)=2. Layer norm (teal row) pools across one token's own features: mean(2,2,6,6)=4; centre to [−2,−2,2,2]; the population variance is (4+4+4+4)/4=4 so std=2; divide to get [−1,−1,1,1] — all exact, reproducible from the numbers on screen (rule 3). Then the "why layer norm for transformers" beat, stated before the you-do so Q4 is answerable: batch norm's statistics depend on the OTHER samples in the batch, which is fragile when batches are small, mixed-length, or size 1 at inference; layer norm looks only within a single token, so it is independent of batch size and sequence length — perfect for a model whose inputs are ragged sequences. Next slide the room computes both means on a new matrix (Quiz 8 Q4).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8 Q4 (same "which axis, then take the mean" skill, new numbers; it assesses the batch-vs-layer outcome). Answers: (a) LAYER norm averages across a token's FEATURES (one row) — mean of tok1 = (2+4+6)/3 = 4. (b) BATCH norm averages down the BATCH (one feature's column across all samples) — mean of f1 = (2+4)/2 = 3. (c) Layer norm needs no batch statistics, so it is stable at batch size 1 and with variable-length sequences, and treats each token independently — which is why transformers use it. Every number is identical to the Quiz 8 Q4 figure and key. Take one axis answer from the floor, then have them fill Q4.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reveal: the intimidating "Attention Is All You Need" diagram is entirely blocks this room has already built. Walk the left (encoder) stack bottom to top once: embeddings with positional encoding added (this hour), a Norm (this hour), multi-head self-attention (Lecture 7, the weighted-average lookup), the circled "+" which is the residual skip connection straight from ResNet (Lecture 5's gradient highway), then a feed-forward network — literally the dense MLP from Lab 1 — and another skip. Stack that block N times. The right (decoder) stack is the same parts plus two wrinkles: its self-attention is "masked" (it may only look at tokens already generated, because it writes left to right) and it has a cross-attention block whose queries come from the decoder but whose keys/values come from the ENCODER — that is how the output reads the input. Don't belabour masking; the message is that nothing here is new, it is assembly. This is a real licensed figure (dvgodoy, CC BY 4.0, same series as Lecture 7's multi-head diagram); credit it. Next slide we strip it to the four blocks we will label.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Strip the canonical diagram down to the four blocks the quiz will ask for, each labelled here so the you-do next slide is a fair test (rule 3: Q1 must be labelable from a labelled version taught first). Bottom to top: ① the input — token embeddings with the positional encoding we added two slides ago (label it "Positional encoding", matching the word bank and Quiz 8 Q1 key); ② multi-head self-attention, last hour's query/key/value weighted average run by several heads at once; ③ "Add &amp; Norm" — the residual skip (Lecture 5) adds the block's input back to its output, then layer norm (this hour) rescales; ④ the feed-forward network, a small dense MLP applied to each position — exactly the Lecture-1 neuron stack. Name the residual skip explicitly (the curved arrow) so it isn't mistaken for decoration: it is why deep transformers train at all. One honesty note if a sharp eye catches it: the real dvgodoy diagram on the previous slide places its Norm BEFORE each sub-layer (the modern pre-norm arrangement), whereas this teaching block collapses to a single "Add &amp; Norm" drawn after attention for a clean four-way label — same parts, we've just merged the norms for labeling. Next slide the room labels a blank copy (Quiz 8 Q1).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8 Q1 (the same block, labels removed; it assesses the "assemble/label the architecture" outcome). Reading bottom to top, ① = Positional encoding (added to the input embeddings), ② = Multi-head self-attention, ③ = Add &amp; Norm (the residual skip plus layer norm), ④ = Feed-forward network. These are the identical four blocks and order from the labelled I-do slide and from the Quiz 8 Q1 diagram/key. Take one label from the floor, then have them fill Q1. If anyone flips ② and ④, point back to the teaching diagram: attention comes first (mix information across tokens), then the feed-forward refines each token on its own.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dominant wirings, both built from the same block. Encoder-only models (BERT is the famous one) keep just the left stack: they read the entire input at once, every token attending both left and right, and produce either one label for the whole sequence (classification) or a rich per-token embedding — the natural fit for "is this spectrum resistant or susceptible?" or "embed this peptide for search." Decoder-only models (the GPT family) keep the right stack with masked attention: they generate one token at a time, each new token attending only to what came before — the natural fit for GENERATION, like writing a peptide sequence residue by residue. The old encoder→decoder pairing (translation: read all of language A, write language B) is exactly Casanovo's shape: read a spectrum, write a peptide. Tie it to the room's task list: classification jobs → encoder-only; generation/de-novo jobs → decoder-only or encoder–decoder. Lab 3 fine-tunes an encoder-only model (DistilBERT) for classification.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to the question this room actually cares about. Everything so far assumed the input is already a sequence of token vectors — trivial for a peptide (one token per residue, Lecture 7). But a raw spectrum is 6,000 intensities, an imaging-MS slide is a picture, a peak list is a ragged set of (m/z, intensity) pairs. None of those is "a sentence." So the design choice that matters for applying transformers to MS is TOKENIZATION: how to turn your signal into the sequence of vectors the transformer expects. Three strategies, all in real published use, coming up — then a decision chart the room uses on the quiz.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tokenization strategies side by side on the identical spectrum, so the contrast is about the METHOD, not the data. (a) Patch + linear projection: chop the signal into fixed-width chunks and multiply each chunk by a learned matrix to get one token vector — this is exactly how a Vision Transformer (ViT) turns an image into tokens, and it works on a binned spectrum or a 2D imaging-MS tile. (b) CNN front-end: run a small 1D convolutional stack (their Lab-2 machinery) over the signal and treat its output positions as token embeddings — the conv does the local peak-shape detection, the transformer does the long-range mixing. (c) Peak-as-token: throw away the empty baseline and keep only the peaks; each peak becomes a token whose vector encodes its m/z and intensity — this is how Casanovo reads a spectrum, and it is efficient because a spectrum is mostly zeros. No single winner — which one fits depends on the data, which is the very next slide.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chart makes the choice explicit and testable (rule 3: Q2 must be derivable from this chart). Match the strategy to the SHAPE of the data. If the signal is genuinely 2D — an imaging-MS image or an LC×MS heatmap — cut it into patches and project, the ViT recipe. If it is a dense, evenly-sampled 1D signal — a binned full-scan spectrum or a chromatogram — a small CNN front-end is the natural condenser: it exploits local structure before the transformer mixes globally. If it is already a sparse list of peaks with variable count — the (m/z, intensity) pairs a spectral library uses — treat each peak as a token, the most efficient path and the one Casanovo takes. These three rules are exactly the three matches on Quiz 8 Q2. Next slide the room does the matching.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8 Q2 (the same three rules, now applied; it assesses the "name/pick a tokenization strategy" outcome). Answers, straight off the decision chart: imaging-MS image (2D) → patches + linear projection (ViT); raw binned spectrum (dense 1D) → CNN front-end → token embeddings; peak list (sparse (m/z, intensity)) → peak-as-token (Casanovo). Each strategy used once. Identical to the Quiz 8 Q2 key. Take one match from the floor, then have them fill Q2. If someone matches the binned spectrum to patches, accept the reasoning but point to the chart's primary rule — a dense, ordered 1D signal is where a CNN front-end shines.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Casanovo (Yilmaz et al., 2022) makes the whole hour concrete: it treats de novo peptide sequencing as machine translation — spectrum language in, peptide language out. The encoder tokenizes each fragment peak as a token (strategy c) and reads them all with self-attention; the decoder generates the amino-acid sequence one residue at a time, cross-attending back to the peaks, stopping at the end of the peptide — the encoder→decoder wiring from two slides ago. The point for this room: the transformer they just assembled is already doing real mass-spec work, and the tokenization choice (peak-as- token) is the same decision they just made on the quiz. Lab 3's bonus cell fine-tunes a protein language model (ESM-2) on peptides — same alphabet family. Keep this fast, ~90 seconds; it is a payoff, not new mechanics. Beat answer: an encoder-only model can only emit ONE fixed output (a label or embedding); de novo sequencing must PRODUCE a variable-length peptide one residue at a time, which is exactly what an autoregressive decoder does — so you need the decoder to generate, the encoder to read the spectrum.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useful idea for a small lab. A transformer has millions of weights; training them from scratch needs a mountain of labeled data most labs will never have. Transfer learning sidesteps that: take a model someone already pretrained on a huge unlabeled or loosely-labeled corpus — its BODY has learned general-purpose features (peak shapes, sequence motifs, context) — and reuse it. Two moves: FREEZE the body so its learned weights stay put, and attach a small NEW head (a fresh output layer) sized to YOUR task, say a two-class susceptible/resistant readout. You then train only the head on your few hundred labels — cheap, fast, hard to overfit because there are few new weights. "Fine-tuning" is the umbrella term for adapting the pretrained model: head-only training is the most conservative; you can also unfreeze a little of the top of the body and train it gently (a much smaller learning rate — why? you're nudging good weights, not discovering them, the Lab-3 blank). Next slide, why this rescues a 500–800-spectrum project; then the room makes the call.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why the freeze-and-fine-tune move is not just convenient but decisive for this audience. Training from scratch on a few hundred spectra is a textbook overfitting/underfitting trap (Lecture 4): millions of free weights, almost no signal to pin them down, so the model memorizes noise or collapses to predicting the majority class — near chance on anything imbalanced. Fine- tuning inverts the arithmetic: the pretrained body supplies the general features for free, so the only weights you fit are the small head, and a few hundred labels are plenty to fit a small head well. Use a smaller learning rate than from-scratch training, because you're making tiny corrections to already-good weights. This is not hand-waving: Lab 3 runs the exact three-way comparison — full fine-tune vs. frozen-body-head-only vs. from-scratch — and from-scratch lands near the majority floor while the fine-tuned model reaches far higher, on the same small dataset in the same session. Next slide the room makes the call themselves (Quiz 8 Q3).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YOU-DO = Quiz 8 Q3 (the fine-tune-vs-scratch scenario; it assesses the transfer-learning outcome). Expected answer: FINE-TUNE — freeze the pretrained body and train a small new head on the 800 labels (optionally unfreeze a little of the top with a small learning rate). Reason (any one is full credit): 800 labels are far too few to train millions of weights from scratch without overfitting/landing at the majority-class floor; the pretrained body already learned general spectral features from the 2 million spectra, so you only need to fit a small head, which 800 labels can do well. This is a 💬 pair beat — 90 seconds, harvest one or two answers with their reason — then everyone fills Q3. That's all four Quiz 8 items worked live.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= the Lecture 8 outcomes, each already a you-do this hour tied to a Quiz 8 item: Q1 the four-block label, Q2 the tokenization matches, Q3 the fine-tune-vs-scratch call, Q4 which-norm-averages-what. The encoder-vs-decoder (BERT vs. GPT) distinction is taught this hour but is not a separate quiz item — so it rides alongside the Q1 block-labeling bullet without its own tag. Note the sheet was done out of numeric order (Q4 first, at the norm slide) — that's fine, it's a distributed worksheet, not a test block. There is no separate quiz block; they've done all four across the hour. Have them keep the sheet as the on-ramp to Lab 3, then the closing bridge.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the final minutes to finishing Quiz 8 and selling Lab 3. Lab 3 is the transfer-learning slide made real: load a pretrained transformer, replace its head, freeze the body, fine-tune on a small dataset, and race it against training from scratch — the from-scratch model lands near the majority floor while the fine-tuned one reaches far higher, the game-changer lesson made visible. The bonus cell reruns the identical recipe on ESM-2 over peptides — "DistilBERT read billions of English words; ESM-2 read hundreds of millions of protein sequences; same move, different alphabet." Then Colab is up and we mark Quiz 8 together as Lab 3 begins.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MSACL · DS301 DEEP LEARNING · SEGMENT 3 · LECTURE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45640"/>
            <a:ext cx="11064240" cy="2509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The transformer, assembled — and how to borrow one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Positions · layer norm · the full block · encoder vs decoder · a spectrum → tokens · transfer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8 · WHERE THIS HOUR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Five stops, one finished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7396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Positional encoding — attention is order-blind, so inject position</a:t>
            </a:r>
            <a:r>
              <a:rPr sz="18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Normalization — batch vs. layer norm, and why transformers pick layer norm</a:t>
            </a:r>
            <a:r>
              <a:rPr sz="1800" b="0" i="0">
                <a:solidFill>
                  <a:srgbClr val="8A9099"/>
                </a:solidFill>
                <a:latin typeface="Menlo"/>
              </a:rPr>
              <a:t>   · 8 min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Assembling the block; encoder vs. decoder; BERT vs. GPT</a:t>
            </a:r>
            <a:r>
              <a:rPr sz="1800" b="0" i="0">
                <a:solidFill>
                  <a:srgbClr val="8A9099"/>
                </a:solidFill>
                <a:latin typeface="Menlo"/>
              </a:rPr>
              <a:t>   · 12 min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A spectrum → tokens — three strategies, and which to pick</a:t>
            </a:r>
            <a:r>
              <a:rPr sz="1800" b="0" i="0">
                <a:solidFill>
                  <a:srgbClr val="8A9099"/>
                </a:solidFill>
                <a:latin typeface="Menlo"/>
              </a:rPr>
              <a:t>   · 10 min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Transfer learning — borrow a body, retrain a head; why 500–800 labels can be enough</a:t>
            </a:r>
            <a:r>
              <a:rPr sz="1800" b="0" i="0">
                <a:solidFill>
                  <a:srgbClr val="8A9099"/>
                </a:solidFill>
                <a:latin typeface="Menlo"/>
              </a:rPr>
              <a:t>   · 13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POSITIONAL ENCODING · ORDER-BLIND → INJECT POSITION · DO-IT-TOGETHER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Attention ignores order — so we add the order back in</a:t>
            </a:r>
          </a:p>
        </p:txBody>
      </p:sp>
      <p:pic>
        <p:nvPicPr>
          <p:cNvPr id="5" name="Picture 4" descr="fig_pose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941" y="1828800"/>
            <a:ext cx="8789637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Left: the gap we left on purpose last hour — 'output = Σ weight × value' has no notion of position, so D–E–K and K–E–D give the SAME output; attention is order-blind. Right (fill it in together): give each position its own fixed signal and ADD it to the token's embedding — 0.2+0.1=0.3, 0.9+0.0=0.9, 0.5+0.5=1.0, 0.1+1.0=1.1. Now the same token at a new position is a different vector.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NORMALIZATION · WHICH AXIS GETS AVERAGED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Batch norm vs. layer norm: what gets averaged?</a:t>
            </a:r>
          </a:p>
        </p:txBody>
      </p:sp>
      <p:pic>
        <p:nvPicPr>
          <p:cNvPr id="5" name="Picture 4" descr="fig_norm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27" y="1828800"/>
            <a:ext cx="8923066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Rows = samples in the batch, columns = features. BATCH norm averages DOWN a feature across the batch: mean(2,4,0)=2. LAYER norm averages ACROSS one token's features: mean(2,2,6,6)=4, then subtract and divide by the spread → [2,2,6,6] − 4 = [−2,−2,2,2], ÷ std 2 = [−1,−1,1,1]. Transformers use LAYER norm: it needs no batch, so it works at batch size 1 and with variable-length sequences.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NORMALIZATION · YOUR TURN (YOU-DO = Q4)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matrix: which norm averages over what?</a:t>
            </a:r>
          </a:p>
        </p:txBody>
      </p:sp>
      <p:pic>
        <p:nvPicPr>
          <p:cNvPr id="5" name="Picture 4" descr="fig_norm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26" y="1828800"/>
            <a:ext cx="8808068" cy="32918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12080"/>
            <a:ext cx="10515600" cy="118262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8, Q4. Rows = tokens, columns = features. (a) LAYER norm averages across WHAT — and what is the mean of tok1? (b) BATCH norm averages down WHAT — and what is the mean of feature f1? (c) One reason transformers prefer layer norm. Worked answer in the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ASSEMBLE · THE WHOLE 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Every block is one you already own</a:t>
            </a:r>
          </a:p>
        </p:txBody>
      </p:sp>
      <p:pic>
        <p:nvPicPr>
          <p:cNvPr id="5" name="Picture 4" descr="transform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3122" y="1828800"/>
            <a:ext cx="2715276" cy="2855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39641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8A9099"/>
                </a:solidFill>
                <a:latin typeface="Avenir Next"/>
              </a:rPr>
              <a:t>the full transformer · encoder (left, orange) + decoder (right, green) · diagram: dvgodoy, Wikimedia Commons, CC BY 4.0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242561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Read bottom-up. Embeddings + positional encoding (just now) → Norm (just now) → Multi-head attention (Lecture 7) → a '+' residual skip (Lecture 5) → Feed-forward network (the Lab-1 MLP) → repeat ×N. The ENCODER (left) reads the whole input; the DECODER (right) writes an output, one token at a time, and cross-attends back to the encoder.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ASSEMBLE · ONE BLOCK, FOUR PARTS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One block: four parts, each with a name</a:t>
            </a:r>
          </a:p>
        </p:txBody>
      </p:sp>
      <p:pic>
        <p:nvPicPr>
          <p:cNvPr id="5" name="Picture 4" descr="fig_transformer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4734" y="1828800"/>
            <a:ext cx="4292052" cy="309981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020056"/>
            <a:ext cx="10515600" cy="170078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Simplify to one encoder block, bottom-up: ① Positional encoding (added to the input embeddings — inject order) → ② Multi-head self-attention (the Lecture-7 lookup) → ③ Add &amp; Norm (residual skip + layer norm) → ④ Feed-forward network (the MLP). The residual skip carries the input around a block and adds it back — the Lecture-5 highway. Simplified for labeling: the real diagram (prev. slide) norms before each sub-layer; here we collapse to one Add &amp; Norm per block.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ASSEMBLE · YOUR TURN (YOU-DO = Q1)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Label the four blocks</a:t>
            </a:r>
          </a:p>
        </p:txBody>
      </p:sp>
      <p:pic>
        <p:nvPicPr>
          <p:cNvPr id="5" name="Picture 4" descr="fig_transformer_block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361" y="1828800"/>
            <a:ext cx="5978798" cy="3877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97296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8, Q1. Same block, now blank. Name blocks ①–④ from the word bank: Feed-forward network · Multi-head self-attention · Add &amp; Norm (layer norm) · Positional encoding. Worked answer in the notes.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ASSEMBLE · TWO WAYS TO WIRE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Encoder-only reads; decoder-only writes</a:t>
            </a:r>
          </a:p>
        </p:txBody>
      </p:sp>
      <p:pic>
        <p:nvPicPr>
          <p:cNvPr id="5" name="Picture 4" descr="fig_bert_vs_g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289" y="1828800"/>
            <a:ext cx="8518941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Encoder-only (BERT): read the WHOLE sequence both directions → one label/embedding (call a spectrum resistant/susceptible, or embed a peptide). Decoder-only (GPT): generate the next token left to right → write a peptide residue by residue. 💬 Your turn (30 sec): a model that writes a peptide one residue at a time — encoder-only or decoder-only, and why? Worked answer in the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8 · PART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1106424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4400" b="1" i="0">
                <a:solidFill>
                  <a:srgbClr val="1B2025"/>
                </a:solidFill>
                <a:latin typeface="Avenir Next"/>
              </a:rPr>
              <a:t>How does a spectrum become tokens?</a:t>
            </a:r>
          </a:p>
          <a:p>
            <a:pPr>
              <a:spcBef>
                <a:spcPts val="1600"/>
              </a:spcBef>
            </a:pPr>
            <a:r>
              <a:rPr sz="2200" b="0" i="0">
                <a:solidFill>
                  <a:srgbClr val="0E7C7B"/>
                </a:solidFill>
                <a:latin typeface="Avenir Next"/>
              </a:rPr>
              <a:t>a transformer eats a sequence of vectors — so what are the vectors for MS data?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1280160" cy="54864"/>
          </a:xfrm>
          <a:prstGeom prst="rect">
            <a:avLst/>
          </a:prstGeom>
          <a:solidFill>
            <a:srgbClr val="E09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 SPECTRUM → TOKENS · THREE STRATEGIES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One spectrum, three ways to tokenize it</a:t>
            </a:r>
          </a:p>
        </p:txBody>
      </p:sp>
      <p:pic>
        <p:nvPicPr>
          <p:cNvPr id="5" name="Picture 4" descr="fig_tokenization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353" y="1828800"/>
            <a:ext cx="5644813" cy="335889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79137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(a) Patch + linear projection — cut the signal into equal chunks, project each to a vector (the ViT idea). (b) CNN front-end — slide a small 1D CNN (Lecture 5) that emits a sequence of token embeddings. (c) Peak-as-token — keep only the peaks; each becomes one token carrying its (m/z, intensity). Same spectrum, three sequences of vectors.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 SPECTRUM → TOKENS · WHICH ONE?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Which strategy for which data?</a:t>
            </a:r>
          </a:p>
        </p:txBody>
      </p:sp>
      <p:pic>
        <p:nvPicPr>
          <p:cNvPr id="5" name="Picture 4" descr="fig_tokenization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57" y="1828800"/>
            <a:ext cx="8738605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Read it as three rules. A 2D image (imaging-MS, an LC×MS heatmap) → patches + linear projection (ViT). A dense 1D signal (a binned spectrum, a chromatogram) → a CNN front-end that emits tokens. A sparse peak list (a handful of m/z + intensity peaks) → peak-as-token (Casanovo).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 SPECTRUM → TOKENS · YOUR TURN (YOU-DO = Q2)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Match each data type to its strategy</a:t>
            </a:r>
          </a:p>
        </p:txBody>
      </p:sp>
      <p:pic>
        <p:nvPicPr>
          <p:cNvPr id="5" name="Picture 4" descr="fig_tokenization_you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034" y="1828800"/>
            <a:ext cx="8613452" cy="3566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48640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8, Q2. Match each to one strategy (each used once): imaging-MS image · raw binned spectrum · peak list → {patches + linear projection (ViT), CNN front-end, peak-as-token (Casanovo)}. Worked answer in the notes.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A SPECTRUM → TOKENS · A REAL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Casanovo: a spectrum in, a peptide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59461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B2025"/>
                </a:solidFill>
                <a:latin typeface="Avenir Next"/>
              </a:rPr>
              <a:t>peak list</a:t>
            </a:r>
          </a:p>
          <a:p>
            <a:pPr algn="ctr"/>
            <a:r>
              <a:rPr sz="1200" b="0" i="0">
                <a:solidFill>
                  <a:srgbClr val="8A9099"/>
                </a:solidFill>
                <a:latin typeface="Avenir Next"/>
              </a:rPr>
              <a:t>each peak → a token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43250" y="3429000"/>
            <a:ext cx="228600" cy="0"/>
          </a:xfrm>
          <a:prstGeom prst="line">
            <a:avLst/>
          </a:prstGeom>
          <a:ln w="19050">
            <a:solidFill>
              <a:srgbClr val="8A90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371850" y="2743200"/>
            <a:ext cx="2594610" cy="13716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0E7C7B"/>
                </a:solidFill>
                <a:latin typeface="Avenir Next"/>
              </a:rPr>
              <a:t>encoder</a:t>
            </a:r>
          </a:p>
          <a:p>
            <a:pPr algn="ctr"/>
            <a:r>
              <a:rPr sz="1200" b="0" i="0">
                <a:solidFill>
                  <a:srgbClr val="8A9099"/>
                </a:solidFill>
                <a:latin typeface="Avenir Next"/>
              </a:rPr>
              <a:t>reads all peaks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66460" y="3429000"/>
            <a:ext cx="228600" cy="0"/>
          </a:xfrm>
          <a:prstGeom prst="line">
            <a:avLst/>
          </a:prstGeom>
          <a:ln w="19050">
            <a:solidFill>
              <a:srgbClr val="8A90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195060" y="2743200"/>
            <a:ext cx="2594610" cy="13716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E09E2F"/>
                </a:solidFill>
                <a:latin typeface="Avenir Next"/>
              </a:rPr>
              <a:t>decoder</a:t>
            </a:r>
          </a:p>
          <a:p>
            <a:pPr algn="ctr"/>
            <a:r>
              <a:rPr sz="1200" b="0" i="0">
                <a:solidFill>
                  <a:srgbClr val="8A9099"/>
                </a:solidFill>
                <a:latin typeface="Avenir Next"/>
              </a:rPr>
              <a:t>writes residues one at a time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89670" y="3429000"/>
            <a:ext cx="228600" cy="0"/>
          </a:xfrm>
          <a:prstGeom prst="line">
            <a:avLst/>
          </a:prstGeom>
          <a:ln w="19050">
            <a:solidFill>
              <a:srgbClr val="8A90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18270" y="2743200"/>
            <a:ext cx="2594610" cy="13716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4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C4534F"/>
                </a:solidFill>
                <a:latin typeface="Avenir Next"/>
              </a:rPr>
              <a:t>peptide</a:t>
            </a:r>
          </a:p>
          <a:p>
            <a:pPr algn="ctr"/>
            <a:r>
              <a:rPr sz="1200" b="0" i="0">
                <a:solidFill>
                  <a:srgbClr val="8A9099"/>
                </a:solidFill>
                <a:latin typeface="Avenir Next"/>
              </a:rPr>
              <a:t>A-C-D-E-K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37760"/>
            <a:ext cx="10515600" cy="1441703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PAIR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De novo sequencing as TRANSLATION: the encoder reads the spectrum's peaks (peak-as-token), the decoder writes the peptide residue by residue — the encoder→decoder shape on your MS/MS data (Lab 3's bonus cell touches this family). 💬 Quick (90 sec): why does this need a DECODER, not just an encoder-only classifier? Worked answer in the notes.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TRANSFER LEARNING · BORROW A BODY · I-DO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12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Don't train from zero — borrow a pretrained body</a:t>
            </a:r>
          </a:p>
        </p:txBody>
      </p:sp>
      <p:pic>
        <p:nvPicPr>
          <p:cNvPr id="5" name="Picture 4" descr="fig_transfer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297" y="1828800"/>
            <a:ext cx="8236925" cy="361797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538216"/>
            <a:ext cx="10515600" cy="1182624"/>
          </a:xfrm>
          <a:prstGeom prst="rect">
            <a:avLst/>
          </a:prstGeom>
          <a:solidFill>
            <a:srgbClr val="E3F0EF"/>
          </a:solidFill>
          <a:ln w="12700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0E7C7B"/>
                </a:solidFill>
                <a:latin typeface="Menlo"/>
              </a:rPr>
              <a:t>MASS SPEC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Someone pretrained a transformer on MILLIONS of spectra/sequences; its body already learned general features. FREEZE that body (weights kept as-is), bolt on a small NEW head for your task, and train only the head on your few hundred labels. That's transfer learning; training the head (± a little of the body) is fine-tuning.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TRANSFER LEARNING · WHY IT CHANGES THE GAME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Why 500–800 labeled spectra can be enough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481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From scratch: millions of weights need a mountain of labels — hundreds of spectra land near the majority-class floor (Lecture 4's overfitting)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Fine-tuning: the body already knows general spectral features — you only fit a SMALL head, so a few hundred labels suffice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Smaller learning rate when fine-tuning — you're nudging good weights, not discovering them from noise</a:t>
            </a:r>
          </a:p>
          <a:p>
            <a:pPr>
              <a:spcAft>
                <a:spcPts val="1800"/>
              </a:spcAft>
            </a:pPr>
            <a:r>
              <a:rPr sz="25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500" b="0" i="0">
                <a:solidFill>
                  <a:srgbClr val="1B2025"/>
                </a:solidFill>
                <a:latin typeface="Avenir Next"/>
              </a:rPr>
              <a:t>Lab 3 makes it visible: from-scratch ≈ chance, fine-tuned ≈ far better — same data, same afternoon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TRANSFER LEARNING · YOUR TURN (YOU-DO = Q3) · 💬 PAIR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Your call: from scratch, or fine-tune?</a:t>
            </a:r>
          </a:p>
        </p:txBody>
      </p:sp>
      <p:pic>
        <p:nvPicPr>
          <p:cNvPr id="5" name="Picture 4" descr="fig_transfer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014" y="1828800"/>
            <a:ext cx="8743492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760720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Your turn → Quiz 8, Q3. 💬 You have 800 labeled spectra and access to a transformer pretrained on 2 million spectra. Train from scratch, or fine-tune? Give one reason. Worked answer in the notes.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8 · WHAT YOU CAN DO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You can now…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Say positional encoding's job — attention is order-blind, so add a per-position signal to each token embedding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Distinguish batch vs. layer norm by which axis is averaged, and why transformers use layer norm (Quiz 8 Q4)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Label the four blocks of a transformer (Quiz 8 Q1) — and tell an encoder (reads) from a decoder (writes), BERT vs. GPT</a:t>
            </a:r>
          </a:p>
          <a:p>
            <a:pPr>
              <a:spcAft>
                <a:spcPts val="1800"/>
              </a:spcAft>
            </a:pPr>
            <a:r>
              <a:rPr sz="20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000" b="0" i="0">
                <a:solidFill>
                  <a:srgbClr val="1B2025"/>
                </a:solidFill>
                <a:latin typeface="Avenir Next"/>
              </a:rPr>
              <a:t>Pick a tokenization for MS data — patches, a CNN front-end, or peak-as-token (Quiz 8 Q2) — and choose fine-tune vs. from-scratch (Quiz 8 Q3)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06439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3D4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0" i="0">
                <a:solidFill>
                  <a:srgbClr val="3D444C"/>
                </a:solidFill>
                <a:latin typeface="Avenir Next"/>
              </a:rPr>
              <a:t>You have now worked every item on Quiz 8 live — label the blocks (Q1), match the tokenizations (Q2), the fine-tune call (Q3), and which-norm-averages-what (Q4). Keep the sheet — Lab 3 fine-tunes a real pretrained transformer next hour.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8A9099"/>
                </a:solidFill>
                <a:latin typeface="Menlo"/>
              </a:rPr>
              <a:t>LECTURE 8 · OVER TO YOUR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400" b="1" i="0">
                <a:solidFill>
                  <a:srgbClr val="1B2025"/>
                </a:solidFill>
                <a:latin typeface="Avenir Next"/>
              </a:rPr>
              <a:t>Next hour —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789920" cy="3809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Fine-tune a pretrained transformer (DistilBERT) on a small labeled set — swap the head, freeze the body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Run the three-way race: full fine-tune vs. frozen-body head-only vs. from scratch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Watch from-scratch stall near chance while fine-tuning wins — on the same small data</a:t>
            </a:r>
          </a:p>
          <a:p>
            <a:pPr>
              <a:spcAft>
                <a:spcPts val="1800"/>
              </a:spcAft>
            </a:pPr>
            <a:r>
              <a:rPr sz="2300" b="1" i="0">
                <a:solidFill>
                  <a:srgbClr val="0E7C7B"/>
                </a:solidFill>
                <a:latin typeface="Avenir Next"/>
              </a:rPr>
              <a:t>•  </a:t>
            </a:r>
            <a:r>
              <a:rPr sz="2300" b="0" i="0">
                <a:solidFill>
                  <a:srgbClr val="1B2025"/>
                </a:solidFill>
                <a:latin typeface="Avenir Next"/>
              </a:rPr>
              <a:t>Bonus: the same recipe on ESM-2, a protein language model, classifying peptides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843016"/>
            <a:ext cx="10515600" cy="923544"/>
          </a:xfrm>
          <a:prstGeom prst="rect">
            <a:avLst/>
          </a:prstGeom>
          <a:solidFill>
            <a:srgbClr val="F1F1EC"/>
          </a:solidFill>
          <a:ln w="12700">
            <a:solidFill>
              <a:srgbClr val="E09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200" b="1" i="0">
                <a:solidFill>
                  <a:srgbClr val="E09E2F"/>
                </a:solidFill>
                <a:latin typeface="Menlo"/>
              </a:rPr>
              <a:t>CHECKPOINT · </a:t>
            </a:r>
            <a:r>
              <a:rPr sz="1700" b="0" i="0">
                <a:solidFill>
                  <a:srgbClr val="3D444C"/>
                </a:solidFill>
                <a:latin typeface="Avenir Next"/>
              </a:rPr>
              <a:t>2 minutes to finish Quiz 8 solo while Colab boots → we mark it together as Lab 3 opens. The first blank you'll fill is the classification HEAD you bolt onto a frozen pretrained body — exactly the move from the last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8 · The Transformer, Assembled (+ transfer learning)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
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6"/>
  </p:notesMasterIdLst>
  <p:sldIdLst>
    <p:sldId id="256" r:id="rId2"/>
    <p:sldId id="257" r:id="rId3"/>
    <p:sldId id="258" r:id="rId4"/>
    <p:sldId id="259" r:id="rId5"/>
    <p:sldId id="260" r:id="rId6"/>
    <p:sldId id="261" r:id="rId7"/>
    <p:sldId id="264" r:id="rId8"/>
    <p:sldId id="280" r:id="rId9"/>
    <p:sldId id="266" r:id="rId10"/>
    <p:sldId id="286" r:id="rId11"/>
    <p:sldId id="265" r:id="rId12"/>
    <p:sldId id="278" r:id="rId13"/>
    <p:sldId id="279" r:id="rId14"/>
    <p:sldId id="267" r:id="rId15"/>
    <p:sldId id="268" r:id="rId16"/>
    <p:sldId id="269" r:id="rId17"/>
    <p:sldId id="270" r:id="rId18"/>
    <p:sldId id="285" r:id="rId19"/>
    <p:sldId id="272" r:id="rId20"/>
    <p:sldId id="273" r:id="rId21"/>
    <p:sldId id="284" r:id="rId22"/>
    <p:sldId id="281" r:id="rId23"/>
    <p:sldId id="282" r:id="rId24"/>
    <p:sldId id="287" r:id="rId31"/>
    <p:sldId id="288" r:id="rId32"/>
    <p:sldId id="27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5353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Monday morning, hour two, straight on from Lecture 7. Last hour we built one thing — self-attention, a soft lookup that is just a weighted average. This hour we bolt on the four missing pieces and the whole transformer falls out, then we turn it loose on spectra and show how to borrow a pretrained one for a lab with only a few hundred labels. Nothing new that is hard: the only arithmetic is a mean and a subtract-and-divide (layer norm), both by hand. Same interactive spine as every lecture so far: each worked example (I-do) is followed by one you do yourself (you-do), and every quiz-backed you-do IS a Quiz 8 item. Hand out Quiz 8 now, blank; the room fills it across the hour. Quiz 8 has four items and we hit all four live — context is the values (Q1), the encoder's K,V is the cross-attention context (Q2), match data to a tokenization strategy (Q3), and the fine-tune-vs-scratch call (Q4). The diffusion primer that closes the hour carries a do-it-together rather than a quiz item. Keep the Quiz 7 sheet handy — attention is the beating heart of what we assemble today.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Signpost the six stops so the room can pace itself. Every block today is one they already own: attention (Lecture 7), softmax (Lecture 4), residual skips and normalization (Lecture 5), embeddings (Lecture 7). The only two genuinely new pieces are positional encoding and layer norm, and both are a single picture plus a one-line calculation. The back half is the money for this room — how their actual data (spectra, peak lists, imaging-MS) becomes transformer input, and how to fine-tune a pretrained model on a handful of your own examples, which is exactly what Lab 3 does next hour. The hour closes with a four-slide diffusion primer (the idea, how it trains, a do-it-together, and how it generates a new image), because Lab 3's pretrained model is a diffusion GENERATOR — the primer makes its one training line (Lab 3's Blank 2) something they have already computed by hand. Timing: the primer costs ~5 min, taken from positional encoding (12 → 10), the assembly block (15 → 14) and transfer learning (13 → 11). Every quiz item gets worked live; there is no end-of-class quiz block.</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on the cliffhanger from Lecture 7's last slide: the weighted average is unchanged if you shuffle the tokens, so raw self-attention cannot tell D–E–K from K–E–D — a disaster for sequences, where order IS the identity (slide 3 of Lecture 7, SAGK vs GKAS). The fix is deliberately unglamorous: manufacture a distinct signal for each POSITION and add it, element-by-element, onto that slot's token embedding. Do the four sums live with the room (do-it-together, a genuine hands-on beat): 0.2+0.1, 0.9+0.0, 0.5+0.5, 0.1+1.0 → [0.3, 0.9, 1.0, 1.1] — exact, no rounding. The teaching point: because the position signal differs slot to slot, the SAME token "peptide" lands at a different vector depending on where it sits, so attention can finally see order. Where do the signals come from? Sine/cosine waves of different frequencies — each position is a unique blend, and neighbours get similar blends (that is the only reason the exact wave shape matters; don't derive it). Modern models often LEARN these position vectors instead, but the job is identical: positions must be injected because attention won't infer them.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Answer "where do the per-position signals come from?" The classic choice (Vaswani 2017) is sine and cosine waves at geometrically-spaced frequencies. LEFT panel: three dimensions drawn as clocks — dim 0 ticks fast, dim 4 is medium, dim 8 barely moves across the whole sequence. RIGHT panel: stack all dimensions into the positional-encoding matrix and read it ROW by row — every position gets its own row, a unique blend of clock readings, so no two positions collide. Two teaching points: (1) </a:t>
            </a:r>
            <a:r>
              <a:rPr dirty="0" err="1"/>
              <a:t>neighbouring</a:t>
            </a:r>
            <a:r>
              <a:rPr dirty="0"/>
              <a:t> rows are nearly identical (boxed rows 2–3), so nearby positions get similar codes and attention can judge close-vs-far; (2) the pair beat — you need BOTH fast and slow clocks. Pair answer: with only slow clocks, adjacent positions look the same, so the model can't tell residue 4 from residue 5; fast clocks separate </a:t>
            </a:r>
            <a:r>
              <a:rPr dirty="0" err="1"/>
              <a:t>neighbours</a:t>
            </a:r>
            <a:r>
              <a:rPr dirty="0"/>
              <a:t> while slow clocks keep far-apart positions distinct — together every position in a long sequence gets a unique fingerprint. Modern models often LEARN the position vectors instead, but the job is identical. This is the one figure worth lingering on; don't derive the formula.</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absolute scheme just shown tags each seat and adds it in. The modern alternative in LLaMA and GPT-NeoX is RoPE (rotary position embedding), and the intuition needs no matrices: rotate each token's QUERY and KEY by an angle proportional to its position (position m → angle mθ). When you then take the attention dot product query·key, the two rotations combine so the score depends only on the DIFFERENCE (m−n) — the gap between the tokens — not their absolute seats. Picture two clock hands: the query at 5θ and the key at 2θ; what the dot product feels is the angle between them, 3θ, the gap. Pair answer: because the model only ever experiences RELATIVE distances, it keeps working on sequences longer than any it trained on — a peptide or chromatogram longer than the training examples still presents in-range gaps, whereas an absolute seat #9000 was never seen. Keep it intuition-only; do NOT derive the rotation. 💬 60-second pair, harvest one answer, then move 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Normalization keeps activations in a sane range as signals pass through a deep stack — the same drift problem behind Lecture 4's vanishing/exploding gradients — by recentering and rescaling to mean 0, standard size. The only question worth teaching is WHICH AXIS the mean-and-spread is taken over, and the figure answers it with exact numbers. Batch norm (amber column) pools a single feature across every sample in the batch: mean(2,4,0)=2. Layer norm (teal row) pools across one token's own features: mean(2,2,6,6)=4; centre to [−2,−2,2,2]; the population variance is (4+4+4+4)/4=4 so std=2; divide to get [−1,−1,1,1] — all exact, reproducible from the numbers on screen (rule 3). Then the "why layer norm for transformers" beat: batch norm's statistics depend on the OTHER samples in the batch, which is fragile when batches are small, mixed-length, or size 1 at inference; layer norm looks only within a single token, so it is independent of batch size and sequence length — perfect for a model whose inputs are ragged sequences. Next slide the room computes both means on a new matrix (a quick do-it-together).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Strip the canonical diagram down to the four blocks the quiz will ask for, each labelled here so the room sees the whole machine is just parts it already owns. Bottom to top: ① the input — token embeddings with the positional encoding we added two slides ago (label it "Positional encoding"); ② multi-head self-attention, last hour's query/key/value weighted average run by several heads at once; ③ "Add &amp; Norm" — the residual skip (Lecture 5) adds the block's input back to its output, then layer norm (this hour) rescales; ④ the feed-forward network, a small dense MLP applied to each position — exactly the Lecture-1 neuron stack. Name the residual skip explicitly (the curved arrow) so it isn't mistaken for decoration: it is why deep transformers train at all. One honesty note if a sharp eye catches it: the real dvgodoy diagram on the previous slide places its Norm BEFORE each sub-layer (the modern pre-norm arrangement), whereas this teaching block collapses to a single "Add &amp; Norm" drawn after attention — same parts, the norms merged for a clean picture. The takeaway is assembly, not new material: every block here is something the room already owns. If anyone is unsure why attention comes before the feed-forward: attention mixes information across tokens, then the feed-forward refines each token on its own.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wire the two-stack diagram hides, and it carries the two Quiz 8 context items (Q1, Q2). Taught on the classic job an encoder-decoder was built for — TRANSLATION — and on the same sentence as the Illustrated-Transformer animation two slides on: French in, English out, 'je suis étudiant' → 'I am a student'. It works in two phases. First the ENCODER reads the whole French sentence once (self-attention over all three words) and keeps one key/value per word — the model's MEMORY of the sentence. Then the DECODER writes the English one word at a time, and at every step does two attentions: ① masked self-attention over the words it has already written (so it cannot peek ahead), and ② CROSS-attention, where the query comes from the decoder's current position but the keys and values come from the ENCODER's memory. Read the weights on the figure: writing 'student', the decoder puts 0.85 on 'étudiant', 0.10 on 'suis', 0.05 on 'je' — they sum to 1 — so the word it writes is grounded in the word it is translating. That second attention is how the output stays tied to the input; without it the decoder would just produce fluent English about nothing in particular. Quiz 8 answers: Q1 — of query/key/value, the VALUE carries the content that lands in the output (context = a blend of values; keys and query only set the weights). Q2 — the encoder's K,V is computed ONCE and held fixed for the whole decode (the memory of the source sentence); swap in a different sentence's K,V halfway through and the rest of the English is translated from the wrong sentence → a wrong / incoherent translation, because the K,V IS the context the output is grounded in. Harvest one answer for each, then the room works Q1–Q2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8 Q1 and Q2, both problems on the slide. Q1 worked answer: (a) The value. The query and keys only decide how much of each token to take; the values are the content that is actually blended into the output, so the “context” a token ends up with is a weighted sum of values. (b) Peak 2 — its weight 0.7 is larger than all the others combined, so it dominates the blend. Weights are just the mixing proportions.  Q2 worked answer: (a) Computed once and held fixed for the whole decode — it is the model's context / memory of the source sentence. Every word the decoder writes queries the same encoder K,V, which is how each output word can look back at the whole French sentence. (b) The rest of the English is now translated from the wrong sentence: it follows 'il fait froid' instead of 'je suis étudiant', so the output becomes a wrong / incoherent translation (e.g. 'I am … cold') — because the encoder's K,V is the context the output is grounded in. Change the context and you change what the decoder is 'reading.'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dominant wirings, both built from the same block. Encoder-only models (BERT is the famous one) keep just the left stack: they read the entire input at once, every token attending both left and right, and produce either one label for the whole sequence (classification) or a rich per-token embedding — the natural fit for "is this spectrum resistant or susceptible?" or "embed this peptide for search." Decoder-only models (the GPT family) keep the right stack with masked attention: they generate one token at a time, each new token attending only to what came before — the natural fit for GENERATION, like writing a peptide sequence residue by residue. Foreshadow the training idea for Lecture 13: a decoder-only model is TRAINED exactly the way it generates — by predicting the next token over an enormous text corpus, a self-supervised objective that needs no human labels (the same "the data labels itself" trick Lecture 11 will make explicit). That next-token pretraining is what an LLM is. The old encoder→decoder pairing (translation: read all of language A, write language B) is exactly Casanovo's shape: read a spectrum, write a peptide. Tie it to the room's task list: classification jobs → encoder-only; generation/de-novo jobs → decoder-only or encoder–decoder. Lab 3 next hour fine-tunes a pretrained GENERATOR instead of a classifier — a diffusion UNet that draws images — so the transfer move is identical while the output is a picture; the primer at the end of the hour explains what that model 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 out: the same block wires into three families, and choosing the right one is a real design decision this room will make. Encoder-only (BERT, DistilBERT, ESM-2): read the whole input both directions, emit one label or embedding — classification/search. Encoder–decoder (the original Transformer, T5, Flan-T5, and Casanovo): an encoder reads the input, a decoder writes a DIFFERENT sequence, joined by the cross-attention we just drew — translation, summarization, de novo sequencing. Decoder-only (GPT, LLaMA): a single causal stack that continues text one token at a time — chat and free-text generation, "everything as next-token prediction." Decide beat (60 sec, then reveal): (a) resistant/susceptible call → ENCODER-ONLY (one label from the whole input); (b) spectrum → peptide sequence → ENCODER–DECODER (read spectrum, write a new sequence — Casanovo); (c) draft a free-text QC report → DECODER-ONLY (generate prose — GPT/LLaMA). This task→family mapping is a strong candidate for a new Quiz 8 item; for now it runs as a live decide beat.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Pivot to the question this room actually cares about. Everything so far assumed the input is already a sequence of token vectors — trivial for a peptide (one token per residue, Lecture 7). But a raw spectrum is 6,000 intensities, an imaging-MS slide is a picture, a peak list is a ragged set of (m/z, intensity) pairs. None of those is "a sentence." So the design choice that matters for applying transformers to MS is TOKENIZATION: how to turn your signal into the sequence of vectors the transformer expects. Three strategies, all in real published use, coming up — then a decision chart the room uses on the quiz.</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tokenization strategies side by side on the identical spectrum, so the contrast is about the METHOD, not the data. (a) Patch + linear projection: chop the signal into fixed-width chunks and multiply each chunk by a learned matrix to get one token vector — this is exactly how a Vision Transformer (ViT) turns an image into tokens, and it works on a binned spectrum or a 2D imaging-MS tile. (b) CNN front-end: run a small 1D convolutional stack (their Lab-2 machinery) over the signal and treat its output positions as token embeddings — the conv does the local peak-shape detection, the transformer does the long-range mixing. (c) Peak-as-token: throw away the empty baseline and keep only the peaks; each peak becomes a token whose vector encodes its m/z and intensity — this is how Casanovo reads a spectrum, and it is efficient because a spectrum is mostly zeros. No single winner — which one fits depends on the data, which is the very next slide.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decision chart makes the choice explicit and testable (rule 3: Q3 must be derivable from this chart). Match the strategy to the SHAPE of the data. If the signal is genuinely 2D — an imaging-MS image or an LC×MS heatmap — cut it into patches and project, the ViT recipe. If it is a dense, evenly-sampled 1D signal — a binned full-scan spectrum or a chromatogram — a small CNN front-end is the natural condenser: it exploits local structure before the transformer mixes globally. If it is already a sparse list of peaks with variable count — the (m/z, intensity) pairs a spectral library uses — treat each peak as a token, the most efficient path and the one Casanovo takes. These three rules are exactly the three matches on Quiz 8 Q3. Next slide the room does the matching.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8 Q3, straight after the decision chart. Worked answer: (a) Patches + linear projection (ViT-style) — a 2D image is cut into equal patches, each projected to a token vector. (b) CNN front-end — a dense, evenly-sampled 1D signal is best condensed by a small 1D CNN that emits token embeddings (local peak-shape detection first, then the transformer mixes globally). (c) Peak-as-token — a sparse peak list is already a natural set of tokens; each peak becomes one token carrying its m/z and intensity, exactly how Casanovo reads a spectrum.</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Casanovo (Yilmaz et al., 2022) makes the whole hour concrete: it treats de novo peptide sequencing as machine translation — spectrum language in, peptide language out. The encoder tokenizes each fragment peak as a token (strategy c) and reads them all with self-attention; the decoder generates the amino-acid sequence one residue at a time, cross-attending back to the peaks, stopping at the end of the peptide — the encoder→decoder wiring from two slides ago. The point for this room: the transformer they just assembled is already doing real mass-spec work, and the tokenization choice (peak-as- token) is the same decision they just made on the quiz. If someone asks how to get started on this family: the encoder–decoder checkpoints are on the same Hugging Face Hub that Lab 3 downloads from next hour. Keep this fast, ~90 seconds; it is a payoff, not new mechanics. Beat answer: an encoder-only model can only emit ONE fixed output (a label or embedding); de novo sequencing must PRODUCE a variable-length peptide one residue at a time, which is exactly what an autoregressive decoder does — so you need the decoder to generate, the encoder to read the spectrum.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single most useful idea for a small lab. A transformer has millions of weights; training them from scratch needs a mountain of labeled data most labs will never have. Transfer learning sidesteps that: take a model someone already pretrained on a huge unlabeled or loosely-labeled corpus — its BODY has learned general-purpose features (peak shapes, sequence motifs, context) — and reuse it. Two moves: FREEZE the body so its learned weights stay put, and attach a small NEW head (a fresh output layer) sized to YOUR task, say a two-class susceptible/resistant readout. You then train only the head on your few hundred labels — cheap, fast, hard to overfit because there are few new weights. "Fine-tuning" is the umbrella term for adapting the pretrained model: head-only training is the most conservative; you can also unfreeze a little of the top of the body and train it gently (a much smaller learning rate — why? you're nudging good weights, not discovering them, the Lab-3 blank). Next slide, why this rescues a 500–800-spectrum project; then the room makes the call.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8 Q4, straight after the borrow-a-body I-do. Worked answer: (a) Fine-tune — freeze the pretrained body, bolt on a small new classification head, and train mostly that head on the 800 labels (optionally unfreeze a little of the top with a much smaller learning rate). (b) 800 labels are far too few to train a transformer's millions of weights from scratch — it would overfit or collapse toward the majority class — whereas the pretrained body already learned general spectral features from the 2 million spectra, so you only need to fit a small head, which 800 labels can do well. (Either reason earns full credit.)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primer is here: Lab 3 hands them a real pretrained DIFFUSION generator to fine-tune, and nothing in a lab should be a black box. Keep it to the two arrows and resist the probability. FORWARD: take a real image and mix in a little Gaussian noise, over and over — x_t = √ᾱ·x₀ + √(1−ᾱ)·ε, where ᾱ shrinks as t grows, so the picture fades out and the noise takes over; by t = 999 it is indistinguishable from static. There is nothing to learn in that direction: it is a fixed recipe (the 'scheduler' in the lab, and the numbers on this slide are that exact linear schedule, betas 1e-4 → 0.02 over 1000 steps). REVERSE: train a network to take a little noise back off, then run it repeatedly — start from pure static and after a few dozen steps a NEW image appears that was never in the training set. That is generation. Two asides worth 15 seconds each: (1) the denoiser here is a small UNet (~4M weights in Lab 3's checkpoint); swap that UNet for a transformer and you get a DiT — the backbone of Stable Diffusion 3 and Sora — so this is still the machine we assembled this hour; (2) for this room the interesting uses are generative molecule/spectrum design and topping up a rare class with synthetic examples, and Lecture 11 comes back to generative models properly with autoencoders and VAEs. Next slide: how the reverse network is trained, in one line.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mechanic, worked (rule 6). Step 1, make the input: take a clean patch x₀ = (1, 0, −1, 0.5), draw noise ε = (0.5, −0.5, 1, 0), and mix them at one noise level — √ᾱ = 0.8, √(1−ᾱ) = 0.6 — element by element: 0.8(1)+0.6(0.5) = 1.1; 0.8(0)+0.6(−0.5) = −0.3; 0.8(−1)+0.6(1) = −0.2; 0.8(0.5)+0.6(0) = 0.4. So x_t = (1.1, −0.3, −0.2, 0.4). Step 2, the training signal: hand x_t to the model, which returns its guess of the noise, ε̂ = (0.3, −0.4, 0.8, 0.1). The errors are ε̂ − ε = (−0.2, 0.1, −0.2, 0.1), the squares are 0.04, 0.01, 0.04, 0.01, and the mean is 0.10/4 = 0.025 — mean-squared error, exactly the loss from Lecture 2. Say the punchline plainly: we never need a human label, because we ADDED the noise, so we already know the answer — the data labels itself, the same self-supervised trick Lecture 11 will name. One honest detail if asked: the model is also told t, so it knows how noisy its input is. And that is the whole training loop — pick an image, pick a random t, add noise, predict it, take a gradient step — which is why the code line on the slide, loss = F.mse_loss(noise_pred, noise), is the only thing they have to write in Lab 3's Step 3. Next slide they do one themselves.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 the final minutes to finishing Quiz 8 and selling Lab 3. Lab 3 is the transfer-learning slide made visual: it downloads a real pretrained diffusion generator from the Hugging Face Hub (balakrish181/ddpm-class-mnist-28, ~4M parameters, public, no login), shows it drawing handwritten digits, and then fine-tunes it — about 100 steps, well under a minute — on ~32 jittered copies of a symbol the student draws in an ASCII grid. Same model, same denoising loop, and the after-grid is their symbol: transfer learning you can watch happen. Their three blanks: the symbol itself, the diffusion loss (which they just computed in the diffusion do-it-together and which is one line, F.mse_loss(noise_pred, noise)), and the fine-tune learning rate ~1e-4 — the rule, not the number, because you are nudging already-good weights. Note for anyone expecting the old lab: there is no DistilBERT/ESM-2 race any more; the lesson is the same transfer move, made generative and visual, and the discussion afterwards (D3) asks where in THEIR work a big pretrained model could be nudged with their few labels. Then Colab is up and we mark Quiz 8 together as Lab 3 begins.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DO-IT-TOGETHER (restored 2026-09-28 at the instructor's request; it is no longer a quiz item — Quiz 8 Q5 was retired). The same two steps as the I-do, new numbers; fill it in with the room cell by cell. GIVEN: clean patch x₀ = (1, −1, 0.5, 0), the noise actually added ε = (0, 0.5, −0.5, 1), the model's guess ε̂ = (0.2, 0.4, −0.3, 0.7), at the same noise level as the I-do (√ᾱ = 0.8, √(1−ᾱ) = 0.6). STEP 1, make the noisy patch, element by element 0.8·x₀ + 0.6·ε: 0.8(1)+0.6(0) = 0.8; 0.8(−1)+0.6(0.5) = −0.8+0.3 = −0.5; 0.8(0.5)+0.6(−0.5) = 0.4−0.3 = 0.1; 0.8(0)+0.6(1) = 0.6. So x_t = (0.8, −0.5, 0.1, 0.6). STEP 2, score the guess: errors ε̂ − ε = (0.2, −0.1, 0.2, −0.3); squares 0.04, 0.01, 0.04, 0.09; sum 0.18; MSE = 0.18/4 = 0.045 — the Lecture 2 loss, unchanged. In code that whole line is loss = F.mse_loss(noise_pred, noise), Lab 3's Blank 2. Land the point: only REMOVING noise is learned — adding it is a fixed recipe with no weights — and because we added the noise ourselves we already know the right answer, so no human labels are needed. The next slide shows what the trained model does with that one skill: it generates.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How the trained model makes a NEW image — the payoff of the primer, and exactly what Lab 3's sample() does. Start from pure random static (t = 1000). At each step the network looks at the current image and predicts its noise ε̂ — the one skill training taught it — and the sampler subtracts a small, scaled slice of that prediction (and adds back a pinch of fresh noise, so every run stays different). Repeat 1,000 times and structure appears gradually: nothing visible at t = 700 or 500, a ghost by t = 300, a clear digit by t = 50. These are REAL intermediate images from the very model they download in Lab 3 (balakrish181/ddpm-class-mnist-28, MIT licence), generated by tools/make_diffusion_sampling_fig.py: three runs from three different starting noises → three different digits (a 5, a 6, a 0), none copied from the training set. One honest detail if asked: Lab 3's sample() uses the faster DDIM sampler — 50 bigger steps instead of 1,000 small ones — same idea. 💬 Ask the room: if the model only ever learned to REMOVE noise, where does the new digit come from? (From the starting noise: different static, different digit — the model keeps cleaning it toward something digit-like.)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3 · LECTURE 8</a:t>
            </a:r>
          </a:p>
        </p:txBody>
      </p:sp>
      <p:sp>
        <p:nvSpPr>
          <p:cNvPr id="4" name="TextBox 3"/>
          <p:cNvSpPr txBox="1"/>
          <p:nvPr/>
        </p:nvSpPr>
        <p:spPr>
          <a:xfrm>
            <a:off x="548640" y="2374533"/>
            <a:ext cx="11064240" cy="1989328"/>
          </a:xfrm>
          <a:prstGeom prst="rect">
            <a:avLst/>
          </a:prstGeom>
          <a:noFill/>
        </p:spPr>
        <p:txBody>
          <a:bodyPr wrap="square" anchor="ctr">
            <a:spAutoFit/>
          </a:bodyPr>
          <a:lstStyle/>
          <a:p>
            <a:r>
              <a:rPr sz="4400" b="1" i="0" dirty="0">
                <a:solidFill>
                  <a:srgbClr val="1B2025"/>
                </a:solidFill>
                <a:latin typeface="Avenir Next"/>
              </a:rPr>
              <a:t>The transformer, assembled</a:t>
            </a:r>
          </a:p>
          <a:p>
            <a:pPr>
              <a:spcBef>
                <a:spcPts val="1600"/>
              </a:spcBef>
            </a:pPr>
            <a:r>
              <a:rPr sz="2200" b="0" i="0" dirty="0">
                <a:solidFill>
                  <a:srgbClr val="0E7C7B"/>
                </a:solidFill>
                <a:latin typeface="Avenir Next"/>
              </a:rPr>
              <a:t>Positions (sinusoidal + </a:t>
            </a:r>
            <a:r>
              <a:rPr sz="2200" b="0" i="0" dirty="0" err="1">
                <a:solidFill>
                  <a:srgbClr val="0E7C7B"/>
                </a:solidFill>
                <a:latin typeface="Avenir Next"/>
              </a:rPr>
              <a:t>RoPE</a:t>
            </a:r>
            <a:r>
              <a:rPr sz="2200" b="0" i="0" dirty="0">
                <a:solidFill>
                  <a:srgbClr val="0E7C7B"/>
                </a:solidFill>
                <a:latin typeface="Avenir Next"/>
              </a:rPr>
              <a:t>) · layer norm · the full block · encoder / encoder–decoder / decoder-only + cross-attention · a spectrum → tokens · transfer learning</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8 · WHERE THIS HOUR GOES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Six stops, one finished machine</a:t>
            </a:r>
          </a:p>
        </p:txBody>
      </p:sp>
      <p:sp>
        <p:nvSpPr>
          <p:cNvPr id="5" name="TextBox 4"/>
          <p:cNvSpPr txBox="1"/>
          <p:nvPr/>
        </p:nvSpPr>
        <p:spPr>
          <a:xfrm>
            <a:off x="548640" y="1810512"/>
            <a:ext cx="10789920" cy="5001768"/>
          </a:xfrm>
          <a:prstGeom prst="rect">
            <a:avLst/>
          </a:prstGeom>
          <a:noFill/>
        </p:spPr>
        <p:txBody>
          <a:bodyPr wrap="square" anchor="t">
            <a:spAutoFit/>
          </a:bodyPr>
          <a:lstStyle/>
          <a:p>
            <a:pPr>
              <a:spcAft>
                <a:spcPts val="1800"/>
              </a:spcAft>
            </a:pPr>
            <a:r>
              <a:rPr sz="2100" b="1" i="0" dirty="0">
                <a:solidFill>
                  <a:srgbClr val="0E7C7B"/>
                </a:solidFill>
                <a:latin typeface="Avenir Next"/>
              </a:rPr>
              <a:t>•  </a:t>
            </a:r>
            <a:r>
              <a:rPr lang="en-US" sz="2100" b="1" i="0" dirty="0">
                <a:solidFill>
                  <a:srgbClr val="0E7C7B"/>
                </a:solidFill>
                <a:latin typeface="Avenir Next"/>
              </a:rPr>
              <a:t>Order Info: </a:t>
            </a:r>
            <a:r>
              <a:rPr sz="2100" b="0" i="0" dirty="0">
                <a:solidFill>
                  <a:srgbClr val="1B2025"/>
                </a:solidFill>
                <a:latin typeface="Avenir Next"/>
              </a:rPr>
              <a:t>Positional encoding — inject order: sinusoidal 'clocks' + relative (</a:t>
            </a:r>
            <a:r>
              <a:rPr sz="2100" b="0" i="0" dirty="0" err="1">
                <a:solidFill>
                  <a:srgbClr val="1B2025"/>
                </a:solidFill>
                <a:latin typeface="Avenir Next"/>
              </a:rPr>
              <a:t>RoPE</a:t>
            </a:r>
            <a:r>
              <a:rPr sz="2100" b="0" i="0" dirty="0">
                <a:solidFill>
                  <a:srgbClr val="1B2025"/>
                </a:solidFill>
                <a:latin typeface="Avenir Next"/>
              </a:rPr>
              <a:t>)</a:t>
            </a:r>
            <a:r>
              <a:rPr sz="1800" b="0" i="0" dirty="0">
                <a:solidFill>
                  <a:srgbClr val="8A9099"/>
                </a:solidFill>
                <a:latin typeface="Menlo"/>
              </a:rPr>
              <a:t>   · 10 min</a:t>
            </a:r>
          </a:p>
          <a:p>
            <a:pPr>
              <a:spcAft>
                <a:spcPts val="1800"/>
              </a:spcAft>
            </a:pPr>
            <a:r>
              <a:rPr sz="2100" b="1" i="0" dirty="0">
                <a:solidFill>
                  <a:srgbClr val="0E7C7B"/>
                </a:solidFill>
                <a:latin typeface="Avenir Next"/>
              </a:rPr>
              <a:t>•  </a:t>
            </a:r>
            <a:r>
              <a:rPr lang="en-US" sz="2100" b="1" i="0" dirty="0">
                <a:solidFill>
                  <a:srgbClr val="0E7C7B"/>
                </a:solidFill>
                <a:latin typeface="Avenir Next"/>
              </a:rPr>
              <a:t>Standardize: </a:t>
            </a:r>
            <a:r>
              <a:rPr sz="2100" b="0" i="0" dirty="0">
                <a:solidFill>
                  <a:srgbClr val="1B2025"/>
                </a:solidFill>
                <a:latin typeface="Avenir Next"/>
              </a:rPr>
              <a:t>Normalization — batch vs. layer norm, and why transformers pick layer norm</a:t>
            </a:r>
            <a:r>
              <a:rPr sz="1800" b="0" i="0" dirty="0">
                <a:solidFill>
                  <a:srgbClr val="8A9099"/>
                </a:solidFill>
                <a:latin typeface="Menlo"/>
              </a:rPr>
              <a:t>   · 6 min</a:t>
            </a:r>
          </a:p>
          <a:p>
            <a:pPr>
              <a:spcAft>
                <a:spcPts val="1800"/>
              </a:spcAft>
            </a:pPr>
            <a:r>
              <a:rPr sz="2100" b="1" i="0" dirty="0">
                <a:solidFill>
                  <a:srgbClr val="0E7C7B"/>
                </a:solidFill>
                <a:latin typeface="Avenir Next"/>
              </a:rPr>
              <a:t>•  </a:t>
            </a:r>
            <a:r>
              <a:rPr lang="en-US" sz="2100" b="1" i="0" dirty="0">
                <a:solidFill>
                  <a:srgbClr val="0E7C7B"/>
                </a:solidFill>
                <a:latin typeface="Avenir Next"/>
              </a:rPr>
              <a:t>Put together: </a:t>
            </a:r>
            <a:r>
              <a:rPr sz="2100" b="0" i="0" dirty="0">
                <a:solidFill>
                  <a:srgbClr val="1B2025"/>
                </a:solidFill>
                <a:latin typeface="Avenir Next"/>
              </a:rPr>
              <a:t>Assemble the block; encoder / encoder–decoder / decoder-only + cross-attention</a:t>
            </a:r>
            <a:r>
              <a:rPr sz="1800" b="0" i="0" dirty="0">
                <a:solidFill>
                  <a:srgbClr val="8A9099"/>
                </a:solidFill>
                <a:latin typeface="Menlo"/>
              </a:rPr>
              <a:t>   · 14 min</a:t>
            </a:r>
          </a:p>
          <a:p>
            <a:pPr>
              <a:spcAft>
                <a:spcPts val="1800"/>
              </a:spcAft>
            </a:pPr>
            <a:r>
              <a:rPr sz="2100" b="1" i="0" dirty="0">
                <a:solidFill>
                  <a:srgbClr val="0E7C7B"/>
                </a:solidFill>
                <a:latin typeface="Avenir Next"/>
              </a:rPr>
              <a:t>•  </a:t>
            </a:r>
            <a:r>
              <a:rPr lang="en-US" sz="2100" b="1" i="0" dirty="0">
                <a:solidFill>
                  <a:srgbClr val="0E7C7B"/>
                </a:solidFill>
                <a:latin typeface="Avenir Next"/>
              </a:rPr>
              <a:t>Adaptation: </a:t>
            </a:r>
            <a:r>
              <a:rPr sz="2100" b="0" i="0" dirty="0">
                <a:solidFill>
                  <a:srgbClr val="1B2025"/>
                </a:solidFill>
                <a:latin typeface="Avenir Next"/>
              </a:rPr>
              <a:t>A spectrum → tokens — three strategies, and which to pick</a:t>
            </a:r>
            <a:r>
              <a:rPr sz="1800" b="0" i="0" dirty="0">
                <a:solidFill>
                  <a:srgbClr val="8A9099"/>
                </a:solidFill>
                <a:latin typeface="Menlo"/>
              </a:rPr>
              <a:t>   · 10 min</a:t>
            </a:r>
          </a:p>
          <a:p>
            <a:pPr>
              <a:spcAft>
                <a:spcPts val="1800"/>
              </a:spcAft>
            </a:pPr>
            <a:r>
              <a:rPr sz="2100" b="1" i="0" dirty="0">
                <a:solidFill>
                  <a:srgbClr val="0E7C7B"/>
                </a:solidFill>
                <a:latin typeface="Avenir Next"/>
              </a:rPr>
              <a:t>•  </a:t>
            </a:r>
            <a:r>
              <a:rPr lang="en-US" sz="2100" b="1" i="0" dirty="0">
                <a:solidFill>
                  <a:srgbClr val="0E7C7B"/>
                </a:solidFill>
                <a:latin typeface="Avenir Next"/>
              </a:rPr>
              <a:t>A Different </a:t>
            </a:r>
            <a:r>
              <a:rPr lang="en-US" sz="2100" b="1" dirty="0">
                <a:solidFill>
                  <a:srgbClr val="0E7C7B"/>
                </a:solidFill>
                <a:latin typeface="Avenir Next"/>
              </a:rPr>
              <a:t>Way to Use</a:t>
            </a:r>
            <a:r>
              <a:rPr lang="en-US" sz="2100" b="1" i="0" dirty="0">
                <a:solidFill>
                  <a:srgbClr val="0E7C7B"/>
                </a:solidFill>
                <a:latin typeface="Avenir Next"/>
              </a:rPr>
              <a:t>: </a:t>
            </a:r>
            <a:r>
              <a:rPr sz="2100" b="0" i="0" dirty="0">
                <a:solidFill>
                  <a:srgbClr val="1B2025"/>
                </a:solidFill>
                <a:latin typeface="Avenir Next"/>
              </a:rPr>
              <a:t>Transfer learning — borrow a body, retrain a head; why 500–800 labels can be enough</a:t>
            </a:r>
            <a:r>
              <a:rPr sz="1800" b="0" i="0" dirty="0">
                <a:solidFill>
                  <a:srgbClr val="8A9099"/>
                </a:solidFill>
                <a:latin typeface="Menlo"/>
              </a:rPr>
              <a:t>   · 11 min</a:t>
            </a:r>
          </a:p>
          <a:p>
            <a:pPr>
              <a:spcAft>
                <a:spcPts val="1800"/>
              </a:spcAft>
            </a:pPr>
            <a:r>
              <a:rPr sz="2100" b="1" i="0" dirty="0">
                <a:solidFill>
                  <a:srgbClr val="0E7C7B"/>
                </a:solidFill>
                <a:latin typeface="Avenir Next"/>
              </a:rPr>
              <a:t>•  </a:t>
            </a:r>
            <a:r>
              <a:rPr lang="en-US" sz="2100" b="1" i="0" dirty="0">
                <a:solidFill>
                  <a:srgbClr val="0E7C7B"/>
                </a:solidFill>
                <a:latin typeface="Avenir Next"/>
              </a:rPr>
              <a:t>Generate: Diffusion in one picture — what Lab 3 fine-tunes</a:t>
            </a:r>
            <a:r>
              <a:rPr sz="1800" b="0" i="0" dirty="0">
                <a:solidFill>
                  <a:srgbClr val="8A9099"/>
                </a:solidFill>
                <a:latin typeface="Menlo"/>
              </a:rPr>
              <a:t>   · 5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POSITIONAL ENCODING · ORDER-BLIND → INJECT POSITION · DO-IT-TOGETHER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Attention ignores order — so we add the order back in</a:t>
            </a:r>
          </a:p>
        </p:txBody>
      </p:sp>
      <p:pic>
        <p:nvPicPr>
          <p:cNvPr id="5" name="Picture 4" descr="fig_posenc.png"/>
          <p:cNvPicPr>
            <a:picLocks noChangeAspect="1"/>
          </p:cNvPicPr>
          <p:nvPr/>
        </p:nvPicPr>
        <p:blipFill>
          <a:blip r:embed="rId3"/>
          <a:stretch>
            <a:fillRect/>
          </a:stretch>
        </p:blipFill>
        <p:spPr>
          <a:xfrm>
            <a:off x="1685941" y="1828800"/>
            <a:ext cx="8789637"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Left: the gap we left on purpose last hour — 'output = Σ weight × value' has no notion of position, so D–E–K and K–E–D give the SAME output; attention is order-blind. Right (fill it in together): give each position its own fixed signal and ADD it to the token's embedding — 0.2+0.1=0.3, 0.9+0.0=0.9, 0.5+0.5=1.0, 0.1+1.0=1.1. Now the same token at a new position is a different vector.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POSITIONAL ENCODING · WHERE THE SIGNAL COMES FROM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The position signals are clocks at different speeds</a:t>
            </a:r>
          </a:p>
        </p:txBody>
      </p:sp>
      <p:pic>
        <p:nvPicPr>
          <p:cNvPr id="5" name="Picture 4" descr="fig_posenc_heatmap.png"/>
          <p:cNvPicPr>
            <a:picLocks noChangeAspect="1"/>
          </p:cNvPicPr>
          <p:nvPr/>
        </p:nvPicPr>
        <p:blipFill>
          <a:blip r:embed="rId3"/>
          <a:stretch>
            <a:fillRect/>
          </a:stretch>
        </p:blipFill>
        <p:spPr>
          <a:xfrm>
            <a:off x="2424107" y="1828800"/>
            <a:ext cx="7313306"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PAIR · </a:t>
            </a:r>
            <a:r>
              <a:rPr sz="1700" b="0" i="0" dirty="0">
                <a:solidFill>
                  <a:srgbClr val="3D444C"/>
                </a:solidFill>
                <a:latin typeface="Avenir Next"/>
              </a:rPr>
              <a:t>Where do those per-position signals come from? Sine/cosine waves at different speeds. LEFT: dim 0 ticks fast, dim 8 barely moves. RIGHT: stack every dimension and each POSITION gets a unique row — its fingerprint — and </a:t>
            </a:r>
            <a:r>
              <a:rPr sz="1700" b="0" i="0" dirty="0" err="1">
                <a:solidFill>
                  <a:srgbClr val="3D444C"/>
                </a:solidFill>
                <a:latin typeface="Avenir Next"/>
              </a:rPr>
              <a:t>neighbours</a:t>
            </a:r>
            <a:r>
              <a:rPr sz="1700" b="0" i="0" dirty="0">
                <a:solidFill>
                  <a:srgbClr val="3D444C"/>
                </a:solidFill>
                <a:latin typeface="Avenir Next"/>
              </a:rPr>
              <a:t> (boxed rows 2–3) look almost identical, so 'near' and 'far' become visible. 💬 </a:t>
            </a:r>
            <a:r>
              <a:rPr sz="1700" b="1" i="1" dirty="0">
                <a:solidFill>
                  <a:schemeClr val="tx1"/>
                </a:solidFill>
                <a:latin typeface="Avenir Next"/>
              </a:rPr>
              <a:t>Pair (60 sec): why do we need BOTH fast and slow clocks — what breaks with only slow 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POSITIONAL ENCODING · ABSOLUTE VS. RELATIVE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RoPE: encode the GAP between tokens, not the seat</a:t>
            </a:r>
          </a:p>
        </p:txBody>
      </p:sp>
      <p:pic>
        <p:nvPicPr>
          <p:cNvPr id="5" name="Picture 4" descr="fig_rope.png"/>
          <p:cNvPicPr>
            <a:picLocks noChangeAspect="1"/>
          </p:cNvPicPr>
          <p:nvPr/>
        </p:nvPicPr>
        <p:blipFill>
          <a:blip r:embed="rId3"/>
          <a:stretch>
            <a:fillRect/>
          </a:stretch>
        </p:blipFill>
        <p:spPr>
          <a:xfrm>
            <a:off x="1718556" y="1828800"/>
            <a:ext cx="8724407"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PAIR · </a:t>
            </a:r>
            <a:r>
              <a:rPr sz="1700" b="0" i="0" dirty="0">
                <a:solidFill>
                  <a:srgbClr val="3D444C"/>
                </a:solidFill>
                <a:latin typeface="Avenir Next"/>
              </a:rPr>
              <a:t>Absolute encoding tags each seat ('you are at position 7'). </a:t>
            </a:r>
            <a:r>
              <a:rPr sz="1700" b="0" i="0" dirty="0" err="1">
                <a:solidFill>
                  <a:srgbClr val="3D444C"/>
                </a:solidFill>
                <a:latin typeface="Avenir Next"/>
              </a:rPr>
              <a:t>RoPE</a:t>
            </a:r>
            <a:r>
              <a:rPr sz="1700" b="0" i="0" dirty="0">
                <a:solidFill>
                  <a:srgbClr val="3D444C"/>
                </a:solidFill>
                <a:latin typeface="Avenir Next"/>
              </a:rPr>
              <a:t> (used by </a:t>
            </a:r>
            <a:r>
              <a:rPr sz="1700" b="0" i="0" dirty="0" err="1">
                <a:solidFill>
                  <a:srgbClr val="3D444C"/>
                </a:solidFill>
                <a:latin typeface="Avenir Next"/>
              </a:rPr>
              <a:t>LLaMA</a:t>
            </a:r>
            <a:r>
              <a:rPr sz="1700" b="0" i="0" dirty="0">
                <a:solidFill>
                  <a:srgbClr val="3D444C"/>
                </a:solidFill>
                <a:latin typeface="Avenir Next"/>
              </a:rPr>
              <a:t>) instead ROTATES each token's query and key by an angle set by its position, so the attention score depends only on the GAP (m−n) between two tokens — the 3θ between the two clock hands. 💬 Pair (60 sec): why does encoding the gap, not the seat, let a model handle a sequence LONGER than any it trained 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NORMALIZATION · WHICH AXIS GETS AVERAGED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Batch norm vs. layer norm: what gets averaged?</a:t>
            </a:r>
          </a:p>
        </p:txBody>
      </p:sp>
      <p:pic>
        <p:nvPicPr>
          <p:cNvPr id="5" name="Picture 4" descr="fig_norm_axes.png"/>
          <p:cNvPicPr>
            <a:picLocks noChangeAspect="1"/>
          </p:cNvPicPr>
          <p:nvPr/>
        </p:nvPicPr>
        <p:blipFill>
          <a:blip r:embed="rId3"/>
          <a:stretch>
            <a:fillRect/>
          </a:stretch>
        </p:blipFill>
        <p:spPr>
          <a:xfrm>
            <a:off x="1619227" y="1828800"/>
            <a:ext cx="8923066"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Rows = samples in the batch, columns = features. BATCH norm averages DOWN a feature across the batch: mean(2,4,0)=2. LAYER norm averages ACROSS one token's features: mean(2,2,6,6)=4, then subtract and divide by the spread → [2,2,6,6] − 4 = [−2,−2,2,2], ÷ std 2 = [−1,−1,1,1]. Transformers use LAYER norm: it needs no batch, so it works at batch size 1 and with variable-length sequences.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ASSEMBLE · ONE BLOCK, FOUR PARTS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One block: four parts, each with a name</a:t>
            </a:r>
          </a:p>
        </p:txBody>
      </p:sp>
      <p:pic>
        <p:nvPicPr>
          <p:cNvPr id="5" name="Picture 4" descr="fig_transformer_block.png"/>
          <p:cNvPicPr>
            <a:picLocks noChangeAspect="1"/>
          </p:cNvPicPr>
          <p:nvPr/>
        </p:nvPicPr>
        <p:blipFill>
          <a:blip r:embed="rId3"/>
          <a:stretch>
            <a:fillRect/>
          </a:stretch>
        </p:blipFill>
        <p:spPr>
          <a:xfrm>
            <a:off x="3934734" y="1828800"/>
            <a:ext cx="4292052" cy="3099816"/>
          </a:xfrm>
          <a:prstGeom prst="rect">
            <a:avLst/>
          </a:prstGeom>
        </p:spPr>
      </p:pic>
      <p:sp>
        <p:nvSpPr>
          <p:cNvPr id="6" name="Rectangle 5"/>
          <p:cNvSpPr/>
          <p:nvPr/>
        </p:nvSpPr>
        <p:spPr>
          <a:xfrm>
            <a:off x="548640" y="5020056"/>
            <a:ext cx="10515600" cy="170078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Simplify to one encoder block, bottom-up: ① Positional encoding (added to the input embeddings — inject order) → ② Multi-head self-attention (the Lecture-7 lookup) → ③ Add &amp; Norm (residual skip + layer norm) → ④ Feed-forward network (the MLP). The residual skip carries the input around a block and adds it back — the Lecture-5 highway. Note: the real diagram (prev. slide) norms before each sub-layer; here we collapse to one Add &amp; Norm per block for a clean picture.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D28DE-1A0F-4F6C-3A70-CE9CA8A77C92}"/>
              </a:ext>
            </a:extLst>
          </p:cNvPr>
          <p:cNvSpPr>
            <a:spLocks noGrp="1"/>
          </p:cNvSpPr>
          <p:nvPr>
            <p:ph type="title"/>
          </p:nvPr>
        </p:nvSpPr>
        <p:spPr/>
        <p:txBody>
          <a:bodyPr/>
          <a:lstStyle/>
          <a:p>
            <a:r>
              <a:rPr lang="en-US" dirty="0"/>
              <a:t>Encoder Decoder Zoomed in</a:t>
            </a:r>
          </a:p>
        </p:txBody>
      </p:sp>
      <p:pic>
        <p:nvPicPr>
          <p:cNvPr id="5" name="Content Placeholder 4">
            <a:extLst>
              <a:ext uri="{FF2B5EF4-FFF2-40B4-BE49-F238E27FC236}">
                <a16:creationId xmlns:a16="http://schemas.microsoft.com/office/drawing/2014/main" id="{0AF07C24-64B5-46B4-FC0A-9A456450DA20}"/>
              </a:ext>
            </a:extLst>
          </p:cNvPr>
          <p:cNvPicPr>
            <a:picLocks noGrp="1" noChangeAspect="1"/>
          </p:cNvPicPr>
          <p:nvPr>
            <p:ph idx="1"/>
          </p:nvPr>
        </p:nvPicPr>
        <p:blipFill>
          <a:blip r:embed="rId2"/>
          <a:stretch>
            <a:fillRect/>
          </a:stretch>
        </p:blipFill>
        <p:spPr>
          <a:xfrm>
            <a:off x="2299101" y="1920875"/>
            <a:ext cx="7590623" cy="4433888"/>
          </a:xfrm>
          <a:prstGeom prst="rect">
            <a:avLst/>
          </a:prstGeom>
        </p:spPr>
      </p:pic>
      <p:sp>
        <p:nvSpPr>
          <p:cNvPr id="4" name="Text Placeholder 3">
            <a:extLst>
              <a:ext uri="{FF2B5EF4-FFF2-40B4-BE49-F238E27FC236}">
                <a16:creationId xmlns:a16="http://schemas.microsoft.com/office/drawing/2014/main" id="{2C672744-14A5-23FA-3921-F01CC762AC1C}"/>
              </a:ext>
            </a:extLst>
          </p:cNvPr>
          <p:cNvSpPr>
            <a:spLocks noGrp="1"/>
          </p:cNvSpPr>
          <p:nvPr>
            <p:ph type="body" sz="quarter" idx="13"/>
          </p:nvPr>
        </p:nvSpPr>
        <p:spPr/>
        <p:txBody>
          <a:bodyPr/>
          <a:lstStyle/>
          <a:p>
            <a:r>
              <a:rPr sz="1300" b="1" i="0">
                <a:solidFill>
                  <a:srgbClr val="8A9099"/>
                </a:solidFill>
                <a:latin typeface="Menlo"/>
              </a:rPr>
              <a:t>ENCODER + DECODER · ZOOMED IN</a:t>
            </a:r>
            <a:endParaRPr lang="en-US" dirty="0"/>
          </a:p>
        </p:txBody>
      </p:sp>
      <p:sp>
        <p:nvSpPr>
          <p:cNvPr id="3" name="Rounded Rectangle 2">
            <a:extLst>
              <a:ext uri="{FF2B5EF4-FFF2-40B4-BE49-F238E27FC236}">
                <a16:creationId xmlns:a16="http://schemas.microsoft.com/office/drawing/2014/main" id="{785912BE-25EA-0FDA-00BB-3306A67B7133}"/>
              </a:ext>
            </a:extLst>
          </p:cNvPr>
          <p:cNvSpPr/>
          <p:nvPr/>
        </p:nvSpPr>
        <p:spPr>
          <a:xfrm>
            <a:off x="6400800" y="4260028"/>
            <a:ext cx="3291840" cy="408791"/>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351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ENCODER + DECODER · CONTEXT = K,V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Cross-attention: the decoder reads the encoder</a:t>
            </a:r>
          </a:p>
        </p:txBody>
      </p:sp>
      <p:pic>
        <p:nvPicPr>
          <p:cNvPr id="7" name="Picture 6" descr="fig_cross_attention.png"/>
          <p:cNvPicPr>
            <a:picLocks noChangeAspect="1"/>
          </p:cNvPicPr>
          <p:nvPr/>
        </p:nvPicPr>
        <p:blipFill>
          <a:blip r:embed="rId4"/>
          <a:stretch>
            <a:fillRect/>
          </a:stretch>
        </p:blipFill>
        <p:spPr>
          <a:xfrm>
            <a:off x="2280423" y="1828800"/>
            <a:ext cx="7631153" cy="3504880"/>
          </a:xfrm>
          <a:prstGeom prst="rect">
            <a:avLst/>
          </a:prstGeom>
        </p:spPr>
      </p:pic>
      <p:sp>
        <p:nvSpPr>
          <p:cNvPr id="6" name="Rectangle 5"/>
          <p:cNvSpPr/>
          <p:nvPr/>
        </p:nvSpPr>
        <p:spPr>
          <a:xfrm>
            <a:off x="548640" y="5379400"/>
            <a:ext cx="10515600" cy="12500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Context = the keys and values: a token's output is a weighted blend of the VALUES. Cross-attention makes it literal — the encoder computes K,V once (the French sentence's memory), and every English word the decoder writes queries it. Your turn is next → Quiz 8, Q1–Q2.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ENCODER + DECODER · YOUR TURN (YOU-DO = Q1–Q2)</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what carries the context?</a:t>
            </a:r>
          </a:p>
        </p:txBody>
      </p:sp>
      <p:sp>
        <p:nvSpPr>
          <p:cNvPr id="6" name="Rectangle 5"/>
          <p:cNvSpPr/>
          <p:nvPr/>
        </p:nvSpPr>
        <p:spPr>
          <a:xfrm>
            <a:off x="548640" y="5120640"/>
            <a:ext cx="10515600" cy="1444752"/>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8, Q1–Q2. Q1: which of Q/K/V carries the content, and which peak dominates the blend? Q2: is the encoder’s K,V fixed or recomputed each step — and what if you swap in another sentence’s K,V? Worked answers in the notes.</a:t>
            </a:r>
          </a:p>
        </p:txBody>
      </p:sp>
      <p:sp>
        <p:nvSpPr>
          <p:cNvPr id="7" name="Rounded Rectangle 6"/>
          <p:cNvSpPr/>
          <p:nvPr/>
        </p:nvSpPr>
        <p:spPr>
          <a:xfrm>
            <a:off x="548640" y="1868800"/>
            <a:ext cx="5143500" cy="3114680"/>
          </a:xfrm>
          <a:prstGeom prst="roundRect">
            <a:avLst>
              <a:gd name="adj" fmla="val 8000"/>
            </a:avLst>
          </a:prstGeom>
          <a:solidFill>
            <a:srgbClr val="FFFFFF"/>
          </a:solidFill>
          <a:ln w="12700">
            <a:solidFill>
              <a:srgbClr val="D9D9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5920740" y="1868800"/>
            <a:ext cx="5143500" cy="3114680"/>
          </a:xfrm>
          <a:prstGeom prst="roundRect">
            <a:avLst>
              <a:gd name="adj" fmla="val 8000"/>
            </a:avLst>
          </a:prstGeom>
          <a:solidFill>
            <a:srgbClr val="FFFFFF"/>
          </a:solidFill>
          <a:ln w="12700">
            <a:solidFill>
              <a:srgbClr val="D9D9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0080" y="1918800"/>
            <a:ext cx="4960620" cy="3014680"/>
          </a:xfrm>
          <a:prstGeom prst="rect">
            <a:avLst/>
          </a:prstGeom>
          <a:noFill/>
        </p:spPr>
        <p:txBody>
          <a:bodyPr wrap="square" lIns="45720" tIns="27432" rIns="45720" bIns="27432" anchor="t">
            <a:spAutoFit/>
          </a:bodyPr>
          <a:lstStyle/>
          <a:p>
            <a:pPr algn="l">
              <a:spcAft>
                <a:spcPts val="800"/>
              </a:spcAft>
            </a:pPr>
            <a:r>
              <a:rPr sz="1600" b="1">
                <a:solidFill>
                  <a:srgbClr val="0E7C7B"/>
                </a:solidFill>
                <a:latin typeface="Avenir Next"/>
              </a:rPr>
              <a:t>Q1 · Context is a blend of values</a:t>
            </a:r>
          </a:p>
          <a:p>
            <a:pPr algn="l">
              <a:spcAft>
                <a:spcPts val="800"/>
              </a:spcAft>
            </a:pPr>
            <a:r>
              <a:rPr sz="1500" b="1">
                <a:solidFill>
                  <a:srgbClr val="0E7C7B"/>
                </a:solidFill>
                <a:latin typeface="Avenir Next"/>
              </a:rPr>
              <a:t>(a)  </a:t>
            </a:r>
            <a:r>
              <a:rPr sz="1500" b="0">
                <a:solidFill>
                  <a:srgbClr val="1B2025"/>
                </a:solidFill>
                <a:latin typeface="Avenir Next"/>
              </a:rPr>
              <a:t>Which of query, key or value carries the content that ends up in a token’s output — its context?</a:t>
            </a:r>
            <a:r>
              <a:rPr sz="1500" b="1">
                <a:solidFill>
                  <a:srgbClr val="0E7C7B"/>
                </a:solidFill>
                <a:latin typeface="Avenir Next"/>
              </a:rPr>
              <a:t>  ________</a:t>
            </a:r>
          </a:p>
          <a:p>
            <a:pPr algn="l">
              <a:spcAft>
                <a:spcPts val="800"/>
              </a:spcAft>
            </a:pPr>
            <a:r>
              <a:rPr sz="1500" b="1">
                <a:solidFill>
                  <a:srgbClr val="0E7C7B"/>
                </a:solidFill>
                <a:latin typeface="Avenir Next"/>
              </a:rPr>
              <a:t>(b)  </a:t>
            </a:r>
            <a:r>
              <a:rPr sz="1500" b="0">
                <a:solidFill>
                  <a:srgbClr val="1B2025"/>
                </a:solidFill>
                <a:latin typeface="Avenir Next"/>
              </a:rPr>
              <a:t>A peak attends over four peaks with weights 0.1, 0.7, 0.15, 0.05. Its new context vector is built mostly from which peak’s value?</a:t>
            </a:r>
            <a:r>
              <a:rPr sz="1500" b="1">
                <a:solidFill>
                  <a:srgbClr val="0E7C7B"/>
                </a:solidFill>
                <a:latin typeface="Avenir Next"/>
              </a:rPr>
              <a:t>  ________</a:t>
            </a:r>
          </a:p>
        </p:txBody>
      </p:sp>
      <p:sp>
        <p:nvSpPr>
          <p:cNvPr id="10" name="TextBox 9"/>
          <p:cNvSpPr txBox="1"/>
          <p:nvPr/>
        </p:nvSpPr>
        <p:spPr>
          <a:xfrm>
            <a:off x="6012180" y="1918800"/>
            <a:ext cx="4960620" cy="3014680"/>
          </a:xfrm>
          <a:prstGeom prst="rect">
            <a:avLst/>
          </a:prstGeom>
          <a:noFill/>
        </p:spPr>
        <p:txBody>
          <a:bodyPr wrap="square" lIns="45720" tIns="27432" rIns="45720" bIns="27432" anchor="t">
            <a:spAutoFit/>
          </a:bodyPr>
          <a:lstStyle/>
          <a:p>
            <a:pPr algn="l">
              <a:spcAft>
                <a:spcPts val="800"/>
              </a:spcAft>
            </a:pPr>
            <a:r>
              <a:rPr sz="1500" b="1">
                <a:solidFill>
                  <a:srgbClr val="0E7C7B"/>
                </a:solidFill>
                <a:latin typeface="Avenir Next"/>
              </a:rPr>
              <a:t>Q2 · The encoder’s K,V is the context</a:t>
            </a:r>
          </a:p>
          <a:p>
            <a:pPr algn="l">
              <a:spcAft>
                <a:spcPts val="800"/>
              </a:spcAft>
            </a:pPr>
            <a:r>
              <a:rPr sz="1400" b="0">
                <a:solidFill>
                  <a:srgbClr val="1B2025"/>
                </a:solidFill>
                <a:latin typeface="Avenir Next"/>
              </a:rPr>
              <a:t>Translator, French → English (“je suis étudiant” → “I am a student”): the decoder writes one word at a time, querying the encoder’s K,V.</a:t>
            </a:r>
          </a:p>
          <a:p>
            <a:pPr algn="l">
              <a:spcAft>
                <a:spcPts val="800"/>
              </a:spcAft>
            </a:pPr>
            <a:r>
              <a:rPr sz="1400" b="1">
                <a:solidFill>
                  <a:srgbClr val="0E7C7B"/>
                </a:solidFill>
                <a:latin typeface="Avenir Next"/>
              </a:rPr>
              <a:t>(a)  </a:t>
            </a:r>
            <a:r>
              <a:rPr sz="1400" b="0">
                <a:solidFill>
                  <a:srgbClr val="1B2025"/>
                </a:solidFill>
                <a:latin typeface="Avenir Next"/>
              </a:rPr>
              <a:t>As it writes word 1, then 2, then 3 …, is the encoder’s K,V recomputed every step, or computed once and held fixed? What does it represent?</a:t>
            </a:r>
          </a:p>
          <a:p>
            <a:pPr algn="l">
              <a:spcAft>
                <a:spcPts val="800"/>
              </a:spcAft>
            </a:pPr>
            <a:r>
              <a:rPr sz="1400" b="1">
                <a:solidFill>
                  <a:srgbClr val="0E7C7B"/>
                </a:solidFill>
                <a:latin typeface="Avenir Next"/>
              </a:rPr>
              <a:t>(b)  </a:t>
            </a:r>
            <a:r>
              <a:rPr sz="1400" b="0">
                <a:solidFill>
                  <a:srgbClr val="1B2025"/>
                </a:solidFill>
                <a:latin typeface="Avenir Next"/>
              </a:rPr>
              <a:t>After “I am”, you swap in the K,V of “il fait froid” (“it is cold”). What happens to the rest of the translation, and why?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ASSEMBLE · TWO WAYS TO WIRE IT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Encoder-only reads; decoder-only writes</a:t>
            </a:r>
          </a:p>
        </p:txBody>
      </p:sp>
      <p:pic>
        <p:nvPicPr>
          <p:cNvPr id="5" name="Picture 4" descr="fig_bert_vs_gpt.png"/>
          <p:cNvPicPr>
            <a:picLocks noChangeAspect="1"/>
          </p:cNvPicPr>
          <p:nvPr/>
        </p:nvPicPr>
        <p:blipFill>
          <a:blip r:embed="rId3"/>
          <a:stretch>
            <a:fillRect/>
          </a:stretch>
        </p:blipFill>
        <p:spPr>
          <a:xfrm>
            <a:off x="2471839" y="1828800"/>
            <a:ext cx="7217841" cy="2840736"/>
          </a:xfrm>
          <a:prstGeom prst="rect">
            <a:avLst/>
          </a:prstGeom>
        </p:spPr>
      </p:pic>
      <p:sp>
        <p:nvSpPr>
          <p:cNvPr id="6" name="Rectangle 5"/>
          <p:cNvSpPr/>
          <p:nvPr/>
        </p:nvSpPr>
        <p:spPr>
          <a:xfrm>
            <a:off x="548640" y="4760976"/>
            <a:ext cx="10515600" cy="195986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Encoder-only (BERT): read the WHOLE sequence both directions → one label/embedding (call a spectrum resistant/susceptible, or embed a peptide). Decoder-only (GPT): generate the next token left to right → write a peptide residue by residue — and it's TRAINED this way too, by predicting the next token on massive text (that's LLM pretraining; Lecture 13). 💬 Your turn (30 sec): a model that writes a peptide one residue at a time — encoder-only or decoder-only, and why? Worked answer in the notes.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FBB72-394C-8E6F-F69A-C964B6CC11F9}"/>
              </a:ext>
            </a:extLst>
          </p:cNvPr>
          <p:cNvSpPr>
            <a:spLocks noGrp="1"/>
          </p:cNvSpPr>
          <p:nvPr>
            <p:ph type="title"/>
          </p:nvPr>
        </p:nvSpPr>
        <p:spPr/>
        <p:txBody>
          <a:bodyPr/>
          <a:lstStyle/>
          <a:p>
            <a:r>
              <a:rPr lang="en-US" dirty="0"/>
              <a:t>Encoder/Decoder Interaction</a:t>
            </a:r>
          </a:p>
        </p:txBody>
      </p:sp>
      <p:pic>
        <p:nvPicPr>
          <p:cNvPr id="5" name="Content Placeholder 4">
            <a:extLst>
              <a:ext uri="{FF2B5EF4-FFF2-40B4-BE49-F238E27FC236}">
                <a16:creationId xmlns:a16="http://schemas.microsoft.com/office/drawing/2014/main" id="{BEBD7B7C-D665-2478-4F6A-0BE79D2BCB8C}"/>
              </a:ext>
            </a:extLst>
          </p:cNvPr>
          <p:cNvPicPr>
            <a:picLocks noGrp="1" noChangeAspect="1"/>
          </p:cNvPicPr>
          <p:nvPr>
            <p:ph idx="1"/>
          </p:nvPr>
        </p:nvPicPr>
        <p:blipFill>
          <a:blip r:embed="rId2"/>
          <a:stretch>
            <a:fillRect/>
          </a:stretch>
        </p:blipFill>
        <p:spPr>
          <a:xfrm>
            <a:off x="2059013" y="1920875"/>
            <a:ext cx="8070798" cy="4433888"/>
          </a:xfrm>
          <a:prstGeom prst="rect">
            <a:avLst/>
          </a:prstGeom>
        </p:spPr>
      </p:pic>
      <p:sp>
        <p:nvSpPr>
          <p:cNvPr id="4" name="Text Placeholder 3">
            <a:extLst>
              <a:ext uri="{FF2B5EF4-FFF2-40B4-BE49-F238E27FC236}">
                <a16:creationId xmlns:a16="http://schemas.microsoft.com/office/drawing/2014/main" id="{9A3EF80E-1E59-BCC4-B56F-74D38FF5DD66}"/>
              </a:ext>
            </a:extLst>
          </p:cNvPr>
          <p:cNvSpPr>
            <a:spLocks noGrp="1"/>
          </p:cNvSpPr>
          <p:nvPr>
            <p:ph type="body" sz="quarter" idx="13"/>
          </p:nvPr>
        </p:nvSpPr>
        <p:spPr/>
        <p:txBody>
          <a:bodyPr/>
          <a:lstStyle/>
          <a:p>
            <a:r>
              <a:rPr sz="1300" b="1" i="0">
                <a:solidFill>
                  <a:srgbClr val="8A9099"/>
                </a:solidFill>
                <a:latin typeface="Menlo"/>
              </a:rPr>
              <a:t>ENCODER + DECODER · STEP BY STEP · 1 OF 2</a:t>
            </a:r>
          </a:p>
        </p:txBody>
      </p:sp>
      <p:sp>
        <p:nvSpPr>
          <p:cNvPr id="6" name="TextBox 5"/>
          <p:cNvSpPr txBox="1"/>
          <p:nvPr/>
        </p:nvSpPr>
        <p:spPr>
          <a:xfrm>
            <a:off x="548640" y="6391656"/>
            <a:ext cx="11064240" cy="411480"/>
          </a:xfrm>
          <a:prstGeom prst="rect">
            <a:avLst/>
          </a:prstGeom>
          <a:noFill/>
        </p:spPr>
        <p:txBody>
          <a:bodyPr wrap="square">
            <a:spAutoFit/>
          </a:bodyPr>
          <a:lstStyle/>
          <a:p>
            <a:pPr algn="ctr"/>
            <a:r>
              <a:rPr sz="1200" i="1">
                <a:solidFill>
                  <a:srgbClr val="8A9099"/>
                </a:solidFill>
                <a:latin typeface="Avenir Next"/>
              </a:rPr>
              <a:t>source: Jay Alammar, “The Illustrated Transformer” — decoding animation, step 1 (jalammar.github.io/illustrated-transformer/) · © the author; all rights reserved, not for redistribution</a:t>
            </a:r>
          </a:p>
        </p:txBody>
      </p:sp>
    </p:spTree>
    <p:extLst>
      <p:ext uri="{BB962C8B-B14F-4D97-AF65-F5344CB8AC3E}">
        <p14:creationId xmlns:p14="http://schemas.microsoft.com/office/powerpoint/2010/main" val="3676425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1C72-0505-FEAA-0080-2BD20D645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096AB-95AE-5EDD-8942-EEE66CEB39F0}"/>
              </a:ext>
            </a:extLst>
          </p:cNvPr>
          <p:cNvSpPr>
            <a:spLocks noGrp="1"/>
          </p:cNvSpPr>
          <p:nvPr>
            <p:ph type="title"/>
          </p:nvPr>
        </p:nvSpPr>
        <p:spPr/>
        <p:txBody>
          <a:bodyPr/>
          <a:lstStyle/>
          <a:p>
            <a:r>
              <a:rPr lang="en-US" dirty="0"/>
              <a:t>Encoder/Decoder Interaction</a:t>
            </a:r>
          </a:p>
        </p:txBody>
      </p:sp>
      <p:sp>
        <p:nvSpPr>
          <p:cNvPr id="4" name="Text Placeholder 3">
            <a:extLst>
              <a:ext uri="{FF2B5EF4-FFF2-40B4-BE49-F238E27FC236}">
                <a16:creationId xmlns:a16="http://schemas.microsoft.com/office/drawing/2014/main" id="{395BFB7F-3CE4-42DF-4C25-83FFF4DDC7D0}"/>
              </a:ext>
            </a:extLst>
          </p:cNvPr>
          <p:cNvSpPr>
            <a:spLocks noGrp="1"/>
          </p:cNvSpPr>
          <p:nvPr>
            <p:ph type="body" sz="quarter" idx="13"/>
          </p:nvPr>
        </p:nvSpPr>
        <p:spPr/>
        <p:txBody>
          <a:bodyPr/>
          <a:lstStyle/>
          <a:p>
            <a:r>
              <a:rPr sz="1300" b="1" i="0">
                <a:solidFill>
                  <a:srgbClr val="8A9099"/>
                </a:solidFill>
                <a:latin typeface="Menlo"/>
              </a:rPr>
              <a:t>ENCODER + DECODER · STEP BY STEP · 2 OF 2</a:t>
            </a:r>
          </a:p>
        </p:txBody>
      </p:sp>
      <p:pic>
        <p:nvPicPr>
          <p:cNvPr id="7" name="Content Placeholder 6">
            <a:extLst>
              <a:ext uri="{FF2B5EF4-FFF2-40B4-BE49-F238E27FC236}">
                <a16:creationId xmlns:a16="http://schemas.microsoft.com/office/drawing/2014/main" id="{F00712B2-71B4-765E-0E08-3D436B11736C}"/>
              </a:ext>
            </a:extLst>
          </p:cNvPr>
          <p:cNvPicPr>
            <a:picLocks noGrp="1" noChangeAspect="1"/>
          </p:cNvPicPr>
          <p:nvPr>
            <p:ph idx="1"/>
          </p:nvPr>
        </p:nvPicPr>
        <p:blipFill>
          <a:blip r:embed="rId2"/>
          <a:stretch>
            <a:fillRect/>
          </a:stretch>
        </p:blipFill>
        <p:spPr>
          <a:xfrm>
            <a:off x="1612445" y="1692591"/>
            <a:ext cx="8454007" cy="4644413"/>
          </a:xfrm>
          <a:prstGeom prst="rect">
            <a:avLst/>
          </a:prstGeom>
        </p:spPr>
      </p:pic>
      <p:sp>
        <p:nvSpPr>
          <p:cNvPr id="8" name="TextBox 7"/>
          <p:cNvSpPr txBox="1"/>
          <p:nvPr/>
        </p:nvSpPr>
        <p:spPr>
          <a:xfrm>
            <a:off x="548640" y="6391656"/>
            <a:ext cx="11064240" cy="411480"/>
          </a:xfrm>
          <a:prstGeom prst="rect">
            <a:avLst/>
          </a:prstGeom>
          <a:noFill/>
        </p:spPr>
        <p:txBody>
          <a:bodyPr wrap="square">
            <a:spAutoFit/>
          </a:bodyPr>
          <a:lstStyle/>
          <a:p>
            <a:pPr algn="ctr"/>
            <a:r>
              <a:rPr sz="1200" i="1">
                <a:solidFill>
                  <a:srgbClr val="8A9099"/>
                </a:solidFill>
                <a:latin typeface="Avenir Next"/>
              </a:rPr>
              <a:t>source: Jay Alammar, “The Illustrated Transformer” — decoding animation, step 2: the encoder’s K/V feed every decoder step (jalammar.github.io/illustrated-transformer/) · © the author; all rights reserved, not for redistribution</a:t>
            </a:r>
          </a:p>
        </p:txBody>
      </p:sp>
    </p:spTree>
    <p:extLst>
      <p:ext uri="{BB962C8B-B14F-4D97-AF65-F5344CB8AC3E}">
        <p14:creationId xmlns:p14="http://schemas.microsoft.com/office/powerpoint/2010/main" val="1265340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ENCODER + DECODER · THREE FAMILIES · I-DO → DECIDE</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Three families, one block: which one for the job?</a:t>
            </a:r>
          </a:p>
        </p:txBody>
      </p:sp>
      <p:pic>
        <p:nvPicPr>
          <p:cNvPr id="5" name="Picture 4" descr="fig_arch_families.png"/>
          <p:cNvPicPr>
            <a:picLocks noChangeAspect="1"/>
          </p:cNvPicPr>
          <p:nvPr/>
        </p:nvPicPr>
        <p:blipFill>
          <a:blip r:embed="rId3"/>
          <a:stretch>
            <a:fillRect/>
          </a:stretch>
        </p:blipFill>
        <p:spPr>
          <a:xfrm>
            <a:off x="1750434" y="1417320"/>
            <a:ext cx="7997846" cy="3861816"/>
          </a:xfrm>
          <a:prstGeom prst="rect">
            <a:avLst/>
          </a:prstGeom>
        </p:spPr>
      </p:pic>
      <p:sp>
        <p:nvSpPr>
          <p:cNvPr id="6" name="Rectangle 5"/>
          <p:cNvSpPr/>
          <p:nvPr/>
        </p:nvSpPr>
        <p:spPr>
          <a:xfrm>
            <a:off x="548640" y="5279136"/>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Same block, three wirings. Encoder-only READS (BERT); encoder–decoder reads then WRITES a new sequence via cross-attention (T5/Flan-T5, Casanovo); decoder-only continues text (GPT, LLaMA). Your turn (60 sec) — pick the family: (a) call a spectrum resistant/susceptible · (b) turn a spectrum into a peptide sequence · (c) draft a free-text QC report. Answers in the notes.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8 · PART FOUR</a:t>
            </a:r>
          </a:p>
        </p:txBody>
      </p:sp>
      <p:sp>
        <p:nvSpPr>
          <p:cNvPr id="4" name="TextBox 3"/>
          <p:cNvSpPr txBox="1"/>
          <p:nvPr/>
        </p:nvSpPr>
        <p:spPr>
          <a:xfrm>
            <a:off x="548640" y="2543810"/>
            <a:ext cx="11064240" cy="1654048"/>
          </a:xfrm>
          <a:prstGeom prst="rect">
            <a:avLst/>
          </a:prstGeom>
          <a:noFill/>
        </p:spPr>
        <p:txBody>
          <a:bodyPr wrap="square" anchor="ctr">
            <a:spAutoFit/>
          </a:bodyPr>
          <a:lstStyle/>
          <a:p>
            <a:r>
              <a:rPr lang="en-US" sz="4400" b="1" i="0" dirty="0">
                <a:solidFill>
                  <a:srgbClr val="1B2025"/>
                </a:solidFill>
                <a:latin typeface="Avenir Next"/>
              </a:rPr>
              <a:t>Can Transformer work on </a:t>
            </a:r>
            <a:r>
              <a:rPr sz="4400" b="1" i="0" dirty="0">
                <a:solidFill>
                  <a:srgbClr val="1B2025"/>
                </a:solidFill>
                <a:latin typeface="Avenir Next"/>
              </a:rPr>
              <a:t>spectrum</a:t>
            </a:r>
            <a:r>
              <a:rPr lang="en-US" sz="4400" b="1" i="0" dirty="0">
                <a:solidFill>
                  <a:srgbClr val="1B2025"/>
                </a:solidFill>
                <a:latin typeface="Avenir Next"/>
              </a:rPr>
              <a:t>?</a:t>
            </a:r>
            <a:endParaRPr sz="4400" b="1" i="0" dirty="0">
              <a:solidFill>
                <a:srgbClr val="1B2025"/>
              </a:solidFill>
              <a:latin typeface="Avenir Next"/>
            </a:endParaRPr>
          </a:p>
          <a:p>
            <a:pPr>
              <a:spcBef>
                <a:spcPts val="1600"/>
              </a:spcBef>
            </a:pPr>
            <a:r>
              <a:rPr sz="2200" b="0" i="0" dirty="0">
                <a:solidFill>
                  <a:srgbClr val="0E7C7B"/>
                </a:solidFill>
                <a:latin typeface="Avenir Next"/>
              </a:rPr>
              <a:t>a transformer eats a sequence of vectors — so what are the vectors for MS data?</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 SPECTRUM → TOKENS · THREE STRATEGIES · I-DO</a:t>
            </a: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i="0" dirty="0">
                <a:solidFill>
                  <a:srgbClr val="1B2025"/>
                </a:solidFill>
                <a:latin typeface="Avenir Next"/>
              </a:rPr>
              <a:t>Tokenization in Spectrum</a:t>
            </a:r>
            <a:endParaRPr sz="3400" b="1" i="0" dirty="0">
              <a:solidFill>
                <a:srgbClr val="1B2025"/>
              </a:solidFill>
              <a:latin typeface="Avenir Next"/>
            </a:endParaRPr>
          </a:p>
        </p:txBody>
      </p:sp>
      <p:pic>
        <p:nvPicPr>
          <p:cNvPr id="5" name="Picture 4" descr="fig_tokenization_strategies.png"/>
          <p:cNvPicPr>
            <a:picLocks noChangeAspect="1"/>
          </p:cNvPicPr>
          <p:nvPr/>
        </p:nvPicPr>
        <p:blipFill>
          <a:blip r:embed="rId3"/>
          <a:stretch>
            <a:fillRect/>
          </a:stretch>
        </p:blipFill>
        <p:spPr>
          <a:xfrm>
            <a:off x="3258353" y="1828800"/>
            <a:ext cx="5644813"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(a) Patch + linear projection — cut the signal into equal chunks, project each to a vector (the ViT idea). (b) CNN front-end — slide a small 1D CNN (Lecture 5) that emits a sequence of token embeddings. (c) Peak-as-token — keep only the peaks; each becomes one token carrying its (m/z, intensity). Same spectrum, three sequences of vectors.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 SPECTRUM → TOKENS · WHICH ONE?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Which strategy for which data?</a:t>
            </a:r>
          </a:p>
        </p:txBody>
      </p:sp>
      <p:pic>
        <p:nvPicPr>
          <p:cNvPr id="5" name="Picture 4" descr="fig_tokenization_decision.png"/>
          <p:cNvPicPr>
            <a:picLocks noChangeAspect="1"/>
          </p:cNvPicPr>
          <p:nvPr/>
        </p:nvPicPr>
        <p:blipFill>
          <a:blip r:embed="rId3"/>
          <a:stretch>
            <a:fillRect/>
          </a:stretch>
        </p:blipFill>
        <p:spPr>
          <a:xfrm>
            <a:off x="1711457" y="1828800"/>
            <a:ext cx="8738605"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700" b="0" i="0" dirty="0">
                <a:solidFill>
                  <a:srgbClr val="3D444C"/>
                </a:solidFill>
                <a:latin typeface="Avenir Next"/>
              </a:rPr>
              <a:t>Q3: </a:t>
            </a:r>
            <a:r>
              <a:rPr sz="1700" b="0" i="0" dirty="0">
                <a:solidFill>
                  <a:srgbClr val="3D444C"/>
                </a:solidFill>
                <a:latin typeface="Avenir Next"/>
              </a:rPr>
              <a:t>Read it as three rules. A 2D image (imaging-MS, an LC×MS heatmap) → patches + linear projection (</a:t>
            </a:r>
            <a:r>
              <a:rPr sz="1700" b="0" i="0" dirty="0" err="1">
                <a:solidFill>
                  <a:srgbClr val="3D444C"/>
                </a:solidFill>
                <a:latin typeface="Avenir Next"/>
              </a:rPr>
              <a:t>ViT</a:t>
            </a:r>
            <a:r>
              <a:rPr sz="1700" b="0" i="0" dirty="0">
                <a:solidFill>
                  <a:srgbClr val="3D444C"/>
                </a:solidFill>
                <a:latin typeface="Avenir Next"/>
              </a:rPr>
              <a:t>). A dense 1D signal (a binned spectrum, a chromatogram) → a CNN front-end that emits tokens. A sparse peak list (a handful of m/z + intensity peaks) → peak-as-token (</a:t>
            </a:r>
            <a:r>
              <a:rPr sz="1700" b="0" i="0" dirty="0" err="1">
                <a:solidFill>
                  <a:srgbClr val="3D444C"/>
                </a:solidFill>
                <a:latin typeface="Avenir Next"/>
              </a:rPr>
              <a:t>Casanovo</a:t>
            </a:r>
            <a:r>
              <a:rPr sz="1700" b="0" i="0" dirty="0">
                <a:solidFill>
                  <a:srgbClr val="3D444C"/>
                </a:solidFill>
                <a:latin typeface="Avenir Next"/>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 SPECTRUM → TOKENS · YOUR TURN (YOU-DO = Q3)</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match each data type to a tokenizer</a:t>
            </a:r>
          </a:p>
        </p:txBody>
      </p:sp>
      <p:sp>
        <p:nvSpPr>
          <p:cNvPr id="6" name="Rectangle 5"/>
          <p:cNvSpPr/>
          <p:nvPr/>
        </p:nvSpPr>
        <p:spPr>
          <a:xfrm>
            <a:off x="548640" y="5120640"/>
            <a:ext cx="10515600" cy="1444752"/>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8, Q3. A transformer eats a sequence of vectors, so MS data must become tokens. Match each data type to the ONE strategy that fits it best (each used once), using the decision chart. Worked answer in the notes.</a:t>
            </a:r>
          </a:p>
        </p:txBody>
      </p:sp>
      <p:sp>
        <p:nvSpPr>
          <p:cNvPr id="7" name="Rounded Rectangle 6"/>
          <p:cNvSpPr/>
          <p:nvPr/>
        </p:nvSpPr>
        <p:spPr>
          <a:xfrm>
            <a:off x="548640" y="1888800"/>
            <a:ext cx="10515600" cy="640000"/>
          </a:xfrm>
          <a:prstGeom prst="roundRect">
            <a:avLst>
              <a:gd name="adj" fmla="val 8000"/>
            </a:avLst>
          </a:prstGeom>
          <a:solidFill>
            <a:srgbClr val="FFFFFF"/>
          </a:solidFill>
          <a:ln w="12700">
            <a:solidFill>
              <a:srgbClr val="D9D9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0080" y="1888800"/>
            <a:ext cx="10332720" cy="640000"/>
          </a:xfrm>
          <a:prstGeom prst="rect">
            <a:avLst/>
          </a:prstGeom>
          <a:noFill/>
        </p:spPr>
        <p:txBody>
          <a:bodyPr wrap="square" lIns="45720" tIns="27432" rIns="45720" bIns="27432" anchor="ctr">
            <a:spAutoFit/>
          </a:bodyPr>
          <a:lstStyle/>
          <a:p>
            <a:pPr algn="l">
              <a:spcAft>
                <a:spcPts val="400"/>
              </a:spcAft>
            </a:pPr>
            <a:r>
              <a:rPr sz="1700" b="1">
                <a:solidFill>
                  <a:srgbClr val="0E7C7B"/>
                </a:solidFill>
                <a:latin typeface="Avenir Next"/>
              </a:rPr>
              <a:t>(a)  </a:t>
            </a:r>
            <a:r>
              <a:rPr sz="1700" b="1">
                <a:solidFill>
                  <a:srgbClr val="1B2025"/>
                </a:solidFill>
                <a:latin typeface="Avenir Next"/>
              </a:rPr>
              <a:t>An imaging-MS image</a:t>
            </a:r>
            <a:r>
              <a:rPr sz="1700" b="0">
                <a:solidFill>
                  <a:srgbClr val="3D444C"/>
                </a:solidFill>
                <a:latin typeface="Avenir Next"/>
              </a:rPr>
              <a:t>  (a 2D picture, one spectrum per pixel)</a:t>
            </a:r>
            <a:r>
              <a:rPr sz="1700" b="1">
                <a:solidFill>
                  <a:srgbClr val="0E7C7B"/>
                </a:solidFill>
                <a:latin typeface="Avenir Next"/>
              </a:rPr>
              <a:t>     →  ________________</a:t>
            </a:r>
          </a:p>
        </p:txBody>
      </p:sp>
      <p:sp>
        <p:nvSpPr>
          <p:cNvPr id="9" name="Rounded Rectangle 8"/>
          <p:cNvSpPr/>
          <p:nvPr/>
        </p:nvSpPr>
        <p:spPr>
          <a:xfrm>
            <a:off x="548640" y="2638800"/>
            <a:ext cx="10515600" cy="640000"/>
          </a:xfrm>
          <a:prstGeom prst="roundRect">
            <a:avLst>
              <a:gd name="adj" fmla="val 8000"/>
            </a:avLst>
          </a:prstGeom>
          <a:solidFill>
            <a:srgbClr val="FFFFFF"/>
          </a:solidFill>
          <a:ln w="12700">
            <a:solidFill>
              <a:srgbClr val="D9D9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0080" y="2638800"/>
            <a:ext cx="10332720" cy="640000"/>
          </a:xfrm>
          <a:prstGeom prst="rect">
            <a:avLst/>
          </a:prstGeom>
          <a:noFill/>
        </p:spPr>
        <p:txBody>
          <a:bodyPr wrap="square" lIns="45720" tIns="27432" rIns="45720" bIns="27432" anchor="ctr">
            <a:spAutoFit/>
          </a:bodyPr>
          <a:lstStyle/>
          <a:p>
            <a:pPr algn="l">
              <a:spcAft>
                <a:spcPts val="400"/>
              </a:spcAft>
            </a:pPr>
            <a:r>
              <a:rPr sz="1700" b="1">
                <a:solidFill>
                  <a:srgbClr val="0E7C7B"/>
                </a:solidFill>
                <a:latin typeface="Avenir Next"/>
              </a:rPr>
              <a:t>(b)  </a:t>
            </a:r>
            <a:r>
              <a:rPr sz="1700" b="1">
                <a:solidFill>
                  <a:srgbClr val="1B2025"/>
                </a:solidFill>
                <a:latin typeface="Avenir Next"/>
              </a:rPr>
              <a:t>A raw binned spectrum</a:t>
            </a:r>
            <a:r>
              <a:rPr sz="1700" b="0">
                <a:solidFill>
                  <a:srgbClr val="3D444C"/>
                </a:solidFill>
                <a:latin typeface="Avenir Next"/>
              </a:rPr>
              <a:t>  (a dense 1D vector of ~6,000 intensities)</a:t>
            </a:r>
            <a:r>
              <a:rPr sz="1700" b="1">
                <a:solidFill>
                  <a:srgbClr val="0E7C7B"/>
                </a:solidFill>
                <a:latin typeface="Avenir Next"/>
              </a:rPr>
              <a:t>     →  ________________</a:t>
            </a:r>
          </a:p>
        </p:txBody>
      </p:sp>
      <p:sp>
        <p:nvSpPr>
          <p:cNvPr id="11" name="Rounded Rectangle 10"/>
          <p:cNvSpPr/>
          <p:nvPr/>
        </p:nvSpPr>
        <p:spPr>
          <a:xfrm>
            <a:off x="548640" y="3388800"/>
            <a:ext cx="10515600" cy="640000"/>
          </a:xfrm>
          <a:prstGeom prst="roundRect">
            <a:avLst>
              <a:gd name="adj" fmla="val 8000"/>
            </a:avLst>
          </a:prstGeom>
          <a:solidFill>
            <a:srgbClr val="FFFFFF"/>
          </a:solidFill>
          <a:ln w="12700">
            <a:solidFill>
              <a:srgbClr val="D9D9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 y="3388800"/>
            <a:ext cx="10332720" cy="640000"/>
          </a:xfrm>
          <a:prstGeom prst="rect">
            <a:avLst/>
          </a:prstGeom>
          <a:noFill/>
        </p:spPr>
        <p:txBody>
          <a:bodyPr wrap="square" lIns="45720" tIns="27432" rIns="45720" bIns="27432" anchor="ctr">
            <a:spAutoFit/>
          </a:bodyPr>
          <a:lstStyle/>
          <a:p>
            <a:pPr algn="l">
              <a:spcAft>
                <a:spcPts val="400"/>
              </a:spcAft>
            </a:pPr>
            <a:r>
              <a:rPr sz="1700" b="1">
                <a:solidFill>
                  <a:srgbClr val="0E7C7B"/>
                </a:solidFill>
                <a:latin typeface="Avenir Next"/>
              </a:rPr>
              <a:t>(c)  </a:t>
            </a:r>
            <a:r>
              <a:rPr sz="1700" b="1">
                <a:solidFill>
                  <a:srgbClr val="1B2025"/>
                </a:solidFill>
                <a:latin typeface="Avenir Next"/>
              </a:rPr>
              <a:t>A peak list</a:t>
            </a:r>
            <a:r>
              <a:rPr sz="1700" b="0">
                <a:solidFill>
                  <a:srgbClr val="3D444C"/>
                </a:solidFill>
                <a:latin typeface="Avenir Next"/>
              </a:rPr>
              <a:t>  (a sparse set of m/z + intensity peaks)</a:t>
            </a:r>
            <a:r>
              <a:rPr sz="1700" b="1">
                <a:solidFill>
                  <a:srgbClr val="0E7C7B"/>
                </a:solidFill>
                <a:latin typeface="Avenir Next"/>
              </a:rPr>
              <a:t>     →  ________________</a:t>
            </a:r>
          </a:p>
        </p:txBody>
      </p:sp>
      <p:sp>
        <p:nvSpPr>
          <p:cNvPr id="13" name="TextBox 12"/>
          <p:cNvSpPr txBox="1"/>
          <p:nvPr/>
        </p:nvSpPr>
        <p:spPr>
          <a:xfrm>
            <a:off x="548640" y="4198800"/>
            <a:ext cx="1379440" cy="330000"/>
          </a:xfrm>
          <a:prstGeom prst="rect">
            <a:avLst/>
          </a:prstGeom>
          <a:noFill/>
        </p:spPr>
        <p:txBody>
          <a:bodyPr wrap="square" lIns="45720" tIns="27432" rIns="45720" bIns="27432" anchor="ctr">
            <a:spAutoFit/>
          </a:bodyPr>
          <a:lstStyle/>
          <a:p>
            <a:pPr algn="l">
              <a:spcAft>
                <a:spcPts val="400"/>
              </a:spcAft>
            </a:pPr>
            <a:r>
              <a:rPr sz="1400" b="1">
                <a:solidFill>
                  <a:srgbClr val="3D444C"/>
                </a:solidFill>
                <a:latin typeface="Avenir Next"/>
              </a:rPr>
              <a:t>Word bank:</a:t>
            </a:r>
          </a:p>
        </p:txBody>
      </p:sp>
      <p:sp>
        <p:nvSpPr>
          <p:cNvPr id="14" name="Rounded Rectangle 13"/>
          <p:cNvSpPr/>
          <p:nvPr/>
        </p:nvSpPr>
        <p:spPr>
          <a:xfrm>
            <a:off x="2065240" y="4198800"/>
            <a:ext cx="4647849" cy="33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400" b="0">
                <a:solidFill>
                  <a:srgbClr val="1B2025"/>
                </a:solidFill>
                <a:latin typeface="Avenir Next"/>
              </a:rPr>
              <a:t>chunk into patches + linear projection (ViT)</a:t>
            </a:r>
          </a:p>
        </p:txBody>
      </p:sp>
      <p:sp>
        <p:nvSpPr>
          <p:cNvPr id="15" name="Rounded Rectangle 14"/>
          <p:cNvSpPr/>
          <p:nvPr/>
        </p:nvSpPr>
        <p:spPr>
          <a:xfrm>
            <a:off x="6850249" y="4198800"/>
            <a:ext cx="1475596" cy="33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400" b="0">
                <a:solidFill>
                  <a:srgbClr val="1B2025"/>
                </a:solidFill>
                <a:latin typeface="Avenir Next"/>
              </a:rPr>
              <a:t>CNN front-end</a:t>
            </a:r>
          </a:p>
        </p:txBody>
      </p:sp>
      <p:sp>
        <p:nvSpPr>
          <p:cNvPr id="16" name="Rounded Rectangle 15"/>
          <p:cNvSpPr/>
          <p:nvPr/>
        </p:nvSpPr>
        <p:spPr>
          <a:xfrm>
            <a:off x="8463005" y="4198800"/>
            <a:ext cx="2601234" cy="33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a:r>
              <a:rPr sz="1400" b="0">
                <a:solidFill>
                  <a:srgbClr val="1B2025"/>
                </a:solidFill>
                <a:latin typeface="Avenir Next"/>
              </a:rPr>
              <a:t>peak-as-token (Casanovo)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 SPECTRUM → TOKENS · A REAL SYSTEM</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dirty="0" err="1">
                <a:solidFill>
                  <a:srgbClr val="1B2025"/>
                </a:solidFill>
                <a:latin typeface="Avenir Next"/>
              </a:rPr>
              <a:t>Casanovo</a:t>
            </a:r>
            <a:r>
              <a:rPr sz="3400" b="1" i="0" dirty="0">
                <a:solidFill>
                  <a:srgbClr val="1B2025"/>
                </a:solidFill>
                <a:latin typeface="Avenir Next"/>
              </a:rPr>
              <a:t>: a spectrum in, a peptide out</a:t>
            </a:r>
          </a:p>
        </p:txBody>
      </p:sp>
      <p:sp>
        <p:nvSpPr>
          <p:cNvPr id="5" name="Rounded Rectangle 4"/>
          <p:cNvSpPr/>
          <p:nvPr/>
        </p:nvSpPr>
        <p:spPr>
          <a:xfrm>
            <a:off x="548640" y="2743200"/>
            <a:ext cx="2594610" cy="1371600"/>
          </a:xfrm>
          <a:prstGeom prst="roundRect">
            <a:avLst/>
          </a:prstGeom>
          <a:solidFill>
            <a:srgbClr val="FFFFFF"/>
          </a:solidFill>
          <a:ln w="1905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1B2025"/>
                </a:solidFill>
                <a:latin typeface="Avenir Next"/>
              </a:rPr>
              <a:t>peak list</a:t>
            </a:r>
          </a:p>
          <a:p>
            <a:pPr algn="ctr"/>
            <a:r>
              <a:rPr sz="1200" b="0" i="0">
                <a:solidFill>
                  <a:srgbClr val="8A9099"/>
                </a:solidFill>
                <a:latin typeface="Avenir Next"/>
              </a:rPr>
              <a:t>each peak → a token</a:t>
            </a:r>
          </a:p>
        </p:txBody>
      </p:sp>
      <p:cxnSp>
        <p:nvCxnSpPr>
          <p:cNvPr id="6" name="Connector 5"/>
          <p:cNvCxnSpPr/>
          <p:nvPr/>
        </p:nvCxnSpPr>
        <p:spPr>
          <a:xfrm>
            <a:off x="314325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71850" y="2743200"/>
            <a:ext cx="2594610" cy="1371600"/>
          </a:xfrm>
          <a:prstGeom prst="roundRect">
            <a:avLst/>
          </a:prstGeom>
          <a:solidFill>
            <a:srgbClr val="FFFFFF"/>
          </a:solidFill>
          <a:ln w="3175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0E7C7B"/>
                </a:solidFill>
                <a:latin typeface="Avenir Next"/>
              </a:rPr>
              <a:t>encoder</a:t>
            </a:r>
          </a:p>
          <a:p>
            <a:pPr algn="ctr"/>
            <a:r>
              <a:rPr sz="1200" b="0" i="0">
                <a:solidFill>
                  <a:srgbClr val="8A9099"/>
                </a:solidFill>
                <a:latin typeface="Avenir Next"/>
              </a:rPr>
              <a:t>reads all peaks</a:t>
            </a:r>
          </a:p>
        </p:txBody>
      </p:sp>
      <p:cxnSp>
        <p:nvCxnSpPr>
          <p:cNvPr id="8" name="Connector 7"/>
          <p:cNvCxnSpPr/>
          <p:nvPr/>
        </p:nvCxnSpPr>
        <p:spPr>
          <a:xfrm>
            <a:off x="596646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195060" y="2743200"/>
            <a:ext cx="2594610" cy="1371600"/>
          </a:xfrm>
          <a:prstGeom prst="roundRect">
            <a:avLst/>
          </a:prstGeom>
          <a:solidFill>
            <a:srgbClr val="FFFFFF"/>
          </a:solidFill>
          <a:ln w="3175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E09E2F"/>
                </a:solidFill>
                <a:latin typeface="Avenir Next"/>
              </a:rPr>
              <a:t>decoder</a:t>
            </a:r>
          </a:p>
          <a:p>
            <a:pPr algn="ctr"/>
            <a:r>
              <a:rPr sz="1200" b="0" i="0">
                <a:solidFill>
                  <a:srgbClr val="8A9099"/>
                </a:solidFill>
                <a:latin typeface="Avenir Next"/>
              </a:rPr>
              <a:t>writes residues one at a time</a:t>
            </a:r>
          </a:p>
        </p:txBody>
      </p:sp>
      <p:cxnSp>
        <p:nvCxnSpPr>
          <p:cNvPr id="10" name="Connector 9"/>
          <p:cNvCxnSpPr/>
          <p:nvPr/>
        </p:nvCxnSpPr>
        <p:spPr>
          <a:xfrm>
            <a:off x="8789670" y="3429000"/>
            <a:ext cx="228600" cy="0"/>
          </a:xfrm>
          <a:prstGeom prst="line">
            <a:avLst/>
          </a:prstGeom>
          <a:ln w="19050">
            <a:solidFill>
              <a:srgbClr val="8A909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18270" y="2743200"/>
            <a:ext cx="2594610" cy="1371600"/>
          </a:xfrm>
          <a:prstGeom prst="roundRect">
            <a:avLst/>
          </a:prstGeom>
          <a:solidFill>
            <a:srgbClr val="FFFFFF"/>
          </a:solidFill>
          <a:ln w="31750">
            <a:solidFill>
              <a:srgbClr val="C4534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C4534F"/>
                </a:solidFill>
                <a:latin typeface="Avenir Next"/>
              </a:rPr>
              <a:t>peptide</a:t>
            </a:r>
          </a:p>
          <a:p>
            <a:pPr algn="ctr"/>
            <a:r>
              <a:rPr sz="1200" b="0" i="0">
                <a:solidFill>
                  <a:srgbClr val="8A9099"/>
                </a:solidFill>
                <a:latin typeface="Avenir Next"/>
              </a:rPr>
              <a:t>A-C-D-E-K …</a:t>
            </a:r>
          </a:p>
        </p:txBody>
      </p:sp>
      <p:sp>
        <p:nvSpPr>
          <p:cNvPr id="12" name="Rectangle 11"/>
          <p:cNvSpPr/>
          <p:nvPr/>
        </p:nvSpPr>
        <p:spPr>
          <a:xfrm>
            <a:off x="548640" y="4937760"/>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E09E2F"/>
                </a:solidFill>
                <a:latin typeface="Menlo"/>
              </a:rPr>
              <a:t>PAIR · </a:t>
            </a:r>
            <a:r>
              <a:rPr sz="1700" b="0" i="0" dirty="0">
                <a:solidFill>
                  <a:srgbClr val="3D444C"/>
                </a:solidFill>
                <a:latin typeface="Avenir Next"/>
              </a:rPr>
              <a:t>De novo sequencing as TRANSLATION: the encoder reads the spectrum's peaks (peak-as-token), the decoder writes the peptide residue by residue — the </a:t>
            </a:r>
            <a:r>
              <a:rPr sz="1700" b="0" i="0" dirty="0" err="1">
                <a:solidFill>
                  <a:srgbClr val="3D444C"/>
                </a:solidFill>
                <a:latin typeface="Avenir Next"/>
              </a:rPr>
              <a:t>encoder→decoder</a:t>
            </a:r>
            <a:r>
              <a:rPr sz="1700" b="0" i="0" dirty="0">
                <a:solidFill>
                  <a:srgbClr val="3D444C"/>
                </a:solidFill>
                <a:latin typeface="Avenir Next"/>
              </a:rPr>
              <a:t> shape on your MS/MS data. 💬 Quick (90 sec): why does this need a DECODER, not just an encoder-only classifier? Worked answer in the notes.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TRANSFER LEARNING · BORROW A BODY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Don't train from zero — borrow a pretrained body</a:t>
            </a:r>
          </a:p>
        </p:txBody>
      </p:sp>
      <p:pic>
        <p:nvPicPr>
          <p:cNvPr id="5" name="Picture 4" descr="fig_transfer_learning.png"/>
          <p:cNvPicPr>
            <a:picLocks noChangeAspect="1"/>
          </p:cNvPicPr>
          <p:nvPr/>
        </p:nvPicPr>
        <p:blipFill>
          <a:blip r:embed="rId3"/>
          <a:stretch>
            <a:fillRect/>
          </a:stretch>
        </p:blipFill>
        <p:spPr>
          <a:xfrm>
            <a:off x="1962297" y="1828800"/>
            <a:ext cx="8236925"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Someone pretrained a transformer on MILLIONS of spectra/sequences; its body already learned general features. FREEZE that body (weights kept as-is), bolt on a small NEW head for your task, and train only the head on your few hundred labels. That's transfer learning; training the head (± a little of the body) is fine-tuning.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TRANSFER LEARNING · YOUR TURN (YOU-DO = Q4)</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fine-tune, or train from scratch?</a:t>
            </a:r>
          </a:p>
        </p:txBody>
      </p:sp>
      <p:sp>
        <p:nvSpPr>
          <p:cNvPr id="6" name="Rectangle 5"/>
          <p:cNvSpPr/>
          <p:nvPr/>
        </p:nvSpPr>
        <p:spPr>
          <a:xfrm>
            <a:off x="548640" y="5120640"/>
            <a:ext cx="10515600" cy="1444752"/>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8, Q4. 800 labeled spectra, and a transformer someone pretrained on 2 million spectra. Train from scratch, or fine-tune — and in one sentence, why? Worked answer in the notes.</a:t>
            </a:r>
          </a:p>
        </p:txBody>
      </p:sp>
      <p:sp>
        <p:nvSpPr>
          <p:cNvPr id="7" name="Rounded Rectangle 6"/>
          <p:cNvSpPr/>
          <p:nvPr/>
        </p:nvSpPr>
        <p:spPr>
          <a:xfrm>
            <a:off x="548640" y="1888800"/>
            <a:ext cx="5143500" cy="115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0080" y="1888800"/>
            <a:ext cx="4960620" cy="1150000"/>
          </a:xfrm>
          <a:prstGeom prst="rect">
            <a:avLst/>
          </a:prstGeom>
          <a:noFill/>
        </p:spPr>
        <p:txBody>
          <a:bodyPr wrap="square" lIns="45720" tIns="27432" rIns="45720" bIns="27432" anchor="ctr">
            <a:spAutoFit/>
          </a:bodyPr>
          <a:lstStyle/>
          <a:p>
            <a:pPr algn="ctr">
              <a:spcAft>
                <a:spcPts val="400"/>
              </a:spcAft>
            </a:pPr>
            <a:r>
              <a:rPr sz="1500" b="1">
                <a:solidFill>
                  <a:srgbClr val="3D444C"/>
                </a:solidFill>
                <a:latin typeface="Avenir Next"/>
              </a:rPr>
              <a:t>You have</a:t>
            </a:r>
          </a:p>
          <a:p>
            <a:pPr algn="ctr">
              <a:spcAft>
                <a:spcPts val="400"/>
              </a:spcAft>
            </a:pPr>
            <a:r>
              <a:rPr sz="2000" b="1">
                <a:solidFill>
                  <a:srgbClr val="1B2025"/>
                </a:solidFill>
                <a:latin typeface="Avenir Next"/>
              </a:rPr>
              <a:t>800 labeled spectra for a new MS assay</a:t>
            </a:r>
          </a:p>
        </p:txBody>
      </p:sp>
      <p:sp>
        <p:nvSpPr>
          <p:cNvPr id="9" name="Rounded Rectangle 8"/>
          <p:cNvSpPr/>
          <p:nvPr/>
        </p:nvSpPr>
        <p:spPr>
          <a:xfrm>
            <a:off x="5920740" y="1888800"/>
            <a:ext cx="5143500" cy="115000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012180" y="1888800"/>
            <a:ext cx="4960620" cy="1150000"/>
          </a:xfrm>
          <a:prstGeom prst="rect">
            <a:avLst/>
          </a:prstGeom>
          <a:noFill/>
        </p:spPr>
        <p:txBody>
          <a:bodyPr wrap="square" lIns="45720" tIns="27432" rIns="45720" bIns="27432" anchor="ctr">
            <a:spAutoFit/>
          </a:bodyPr>
          <a:lstStyle/>
          <a:p>
            <a:pPr algn="ctr">
              <a:spcAft>
                <a:spcPts val="400"/>
              </a:spcAft>
            </a:pPr>
            <a:r>
              <a:rPr sz="1500" b="1">
                <a:solidFill>
                  <a:srgbClr val="3D444C"/>
                </a:solidFill>
                <a:latin typeface="Avenir Next"/>
              </a:rPr>
              <a:t>You can borrow</a:t>
            </a:r>
          </a:p>
          <a:p>
            <a:pPr algn="ctr">
              <a:spcAft>
                <a:spcPts val="400"/>
              </a:spcAft>
            </a:pPr>
            <a:r>
              <a:rPr sz="2000" b="1">
                <a:solidFill>
                  <a:srgbClr val="1B2025"/>
                </a:solidFill>
                <a:latin typeface="Avenir Next"/>
              </a:rPr>
              <a:t>a transformer pretrained on 2 million spectra</a:t>
            </a:r>
          </a:p>
        </p:txBody>
      </p:sp>
      <p:sp>
        <p:nvSpPr>
          <p:cNvPr id="11" name="TextBox 10"/>
          <p:cNvSpPr txBox="1"/>
          <p:nvPr/>
        </p:nvSpPr>
        <p:spPr>
          <a:xfrm>
            <a:off x="548640" y="3288800"/>
            <a:ext cx="10515600" cy="1600000"/>
          </a:xfrm>
          <a:prstGeom prst="rect">
            <a:avLst/>
          </a:prstGeom>
          <a:noFill/>
        </p:spPr>
        <p:txBody>
          <a:bodyPr wrap="square" lIns="45720" tIns="27432" rIns="45720" bIns="27432" anchor="t">
            <a:spAutoFit/>
          </a:bodyPr>
          <a:lstStyle/>
          <a:p>
            <a:pPr algn="l">
              <a:spcAft>
                <a:spcPts val="800"/>
              </a:spcAft>
            </a:pPr>
            <a:r>
              <a:rPr sz="1700" b="0">
                <a:solidFill>
                  <a:srgbClr val="1B2025"/>
                </a:solidFill>
                <a:latin typeface="Avenir Next"/>
              </a:rPr>
              <a:t>You need a classifier for the new assay.</a:t>
            </a:r>
          </a:p>
          <a:p>
            <a:pPr algn="l">
              <a:spcAft>
                <a:spcPts val="800"/>
              </a:spcAft>
            </a:pPr>
            <a:r>
              <a:rPr sz="1700" b="1">
                <a:solidFill>
                  <a:srgbClr val="0E7C7B"/>
                </a:solidFill>
                <a:latin typeface="Avenir Next"/>
              </a:rPr>
              <a:t>(a)  </a:t>
            </a:r>
            <a:r>
              <a:rPr sz="1700" b="0">
                <a:solidFill>
                  <a:srgbClr val="1B2025"/>
                </a:solidFill>
                <a:latin typeface="Avenir Next"/>
              </a:rPr>
              <a:t>Would you train a new model from scratch on your 800 spectra, or fine-tune the pretrained one?</a:t>
            </a:r>
            <a:r>
              <a:rPr sz="1700" b="1">
                <a:solidFill>
                  <a:srgbClr val="0E7C7B"/>
                </a:solidFill>
                <a:latin typeface="Avenir Next"/>
              </a:rPr>
              <a:t>  ________</a:t>
            </a:r>
          </a:p>
          <a:p>
            <a:pPr algn="l">
              <a:spcAft>
                <a:spcPts val="800"/>
              </a:spcAft>
            </a:pPr>
            <a:r>
              <a:rPr sz="1700" b="1">
                <a:solidFill>
                  <a:srgbClr val="0E7C7B"/>
                </a:solidFill>
                <a:latin typeface="Avenir Next"/>
              </a:rPr>
              <a:t>(b)  </a:t>
            </a:r>
            <a:r>
              <a:rPr sz="1700" b="0">
                <a:solidFill>
                  <a:srgbClr val="1B2025"/>
                </a:solidFill>
                <a:latin typeface="Avenir Next"/>
              </a:rPr>
              <a:t>In one sentence, why?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DIFFUSION PRIMER · 1 OF 4 · THE IDEA</a:t>
            </a:r>
          </a:p>
        </p:txBody>
      </p:sp>
      <p:sp>
        <p:nvSpPr>
          <p:cNvPr id="4" name="TextBox 3"/>
          <p:cNvSpPr txBox="1"/>
          <p:nvPr/>
        </p:nvSpPr>
        <p:spPr>
          <a:xfrm>
            <a:off x="548640" y="731520"/>
            <a:ext cx="11064240" cy="1138773"/>
          </a:xfrm>
          <a:prstGeom prst="rect">
            <a:avLst/>
          </a:prstGeom>
          <a:noFill/>
        </p:spPr>
        <p:txBody>
          <a:bodyPr wrap="square" anchor="t">
            <a:spAutoFit/>
          </a:bodyPr>
          <a:lstStyle/>
          <a:p>
            <a:r>
              <a:rPr lang="en-US" sz="3400" b="1" i="0" dirty="0">
                <a:solidFill>
                  <a:srgbClr val="1B2025"/>
                </a:solidFill>
                <a:latin typeface="Avenir Next"/>
              </a:rPr>
              <a:t>Lab 3 Primer: </a:t>
            </a:r>
            <a:r>
              <a:rPr sz="3400" b="1" i="0" dirty="0">
                <a:solidFill>
                  <a:srgbClr val="1B2025"/>
                </a:solidFill>
                <a:latin typeface="Avenir Next"/>
              </a:rPr>
              <a:t>Destroy an image with noise, then learn to undo it</a:t>
            </a:r>
          </a:p>
        </p:txBody>
      </p:sp>
      <p:pic>
        <p:nvPicPr>
          <p:cNvPr id="7" name="Picture 4" descr="fig_diffusion_idea.png"/>
          <p:cNvPicPr>
            <a:picLocks noChangeAspect="1"/>
          </p:cNvPicPr>
          <p:nvPr/>
        </p:nvPicPr>
        <p:blipFill>
          <a:blip r:embed="rId3"/>
          <a:stretch>
            <a:fillRect/>
          </a:stretch>
        </p:blipFill>
        <p:spPr>
          <a:xfrm>
            <a:off x="1983738" y="1925157"/>
            <a:ext cx="8224491" cy="3154680"/>
          </a:xfrm>
          <a:prstGeom prst="rect">
            <a:avLst/>
          </a:prstGeom>
        </p:spPr>
      </p:pic>
      <p:sp>
        <p:nvSpPr>
          <p:cNvPr id="6" name="Rectangle 5"/>
          <p:cNvSpPr/>
          <p:nvPr/>
        </p:nvSpPr>
        <p:spPr>
          <a:xfrm>
            <a:off x="548640" y="5120640"/>
            <a:ext cx="10515600" cy="1444752"/>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Forward (top): add a little random noise, again and again, until the image is pure static — a FIXED recipe, nothing to learn. Reverse (bottom): a network takes a little noise back OFF at each step, so static becomes a NEW image. Only that reverse network is learned — and it IS the pretrained model you fine-tune in Lab 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DIFFUSION PRIMER · 2 OF 4 · HOW IT TRAINS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Training, in one line: predict the noise you added</a:t>
            </a:r>
          </a:p>
        </p:txBody>
      </p:sp>
      <p:pic>
        <p:nvPicPr>
          <p:cNvPr id="7" name="Picture 4" descr="fig_diffusion_train.png"/>
          <p:cNvPicPr>
            <a:picLocks noChangeAspect="1"/>
          </p:cNvPicPr>
          <p:nvPr/>
        </p:nvPicPr>
        <p:blipFill>
          <a:blip r:embed="rId3"/>
          <a:stretch>
            <a:fillRect/>
          </a:stretch>
        </p:blipFill>
        <p:spPr>
          <a:xfrm>
            <a:off x="1841117" y="1828800"/>
            <a:ext cx="8509734" cy="3154680"/>
          </a:xfrm>
          <a:prstGeom prst="rect">
            <a:avLst/>
          </a:prstGeom>
        </p:spPr>
      </p:pic>
      <p:sp>
        <p:nvSpPr>
          <p:cNvPr id="6" name="Rectangle 5"/>
          <p:cNvSpPr/>
          <p:nvPr/>
        </p:nvSpPr>
        <p:spPr>
          <a:xfrm>
            <a:off x="548640" y="5120640"/>
            <a:ext cx="10515600" cy="1444752"/>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You know the noise you added, so use it as the label: ask the model to predict that noise and score the guess with mean-squared error — the Lecture 2 loss, unchanged. Here (0.04 + 0.01 + 0.04 + 0.01)/4 = 0.025. No new mathematics: one line, and it is the entire training objective.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8 · OVER TO YOUR LAB</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Next hour — Lab 3</a:t>
            </a:r>
          </a:p>
        </p:txBody>
      </p:sp>
      <p:sp>
        <p:nvSpPr>
          <p:cNvPr id="5" name="TextBox 4"/>
          <p:cNvSpPr txBox="1"/>
          <p:nvPr/>
        </p:nvSpPr>
        <p:spPr>
          <a:xfrm>
            <a:off x="548640" y="1920240"/>
            <a:ext cx="10789920" cy="3809999"/>
          </a:xfrm>
          <a:prstGeom prst="rect">
            <a:avLst/>
          </a:prstGeom>
          <a:noFill/>
        </p:spPr>
        <p:txBody>
          <a:bodyPr wrap="square" anchor="t">
            <a:spAutoFit/>
          </a:bodyPr>
          <a:lstStyle/>
          <a:p>
            <a:pPr>
              <a:spcAft>
                <a:spcPts val="1800"/>
              </a:spcAft>
            </a:pPr>
            <a:r>
              <a:rPr sz="2300" b="1" i="0">
                <a:solidFill>
                  <a:srgbClr val="0E7C7B"/>
                </a:solidFill>
                <a:latin typeface="Avenir Next"/>
              </a:rPr>
              <a:t>•  </a:t>
            </a:r>
            <a:r>
              <a:rPr sz="2300" b="0" i="0">
                <a:solidFill>
                  <a:srgbClr val="1B2025"/>
                </a:solidFill>
                <a:latin typeface="Avenir Next"/>
              </a:rPr>
              <a:t>Download a REAL pretrained generator from the Hugging Face Hub — it draws handwritten digits (~15 MB, no login)</a:t>
            </a:r>
          </a:p>
          <a:p>
            <a:pPr>
              <a:spcAft>
                <a:spcPts val="1800"/>
              </a:spcAft>
            </a:pPr>
            <a:r>
              <a:rPr sz="2300" b="1" i="0">
                <a:solidFill>
                  <a:srgbClr val="0E7C7B"/>
                </a:solidFill>
                <a:latin typeface="Avenir Next"/>
              </a:rPr>
              <a:t>•  </a:t>
            </a:r>
            <a:r>
              <a:rPr sz="2300" b="0" i="0">
                <a:solidFill>
                  <a:srgbClr val="1B2025"/>
                </a:solidFill>
                <a:latin typeface="Avenir Next"/>
              </a:rPr>
              <a:t>Invent your own symbol in an ASCII grid — a heart, a star, your initial — and it becomes ~32 training images</a:t>
            </a:r>
          </a:p>
          <a:p>
            <a:pPr>
              <a:spcAft>
                <a:spcPts val="1800"/>
              </a:spcAft>
            </a:pPr>
            <a:r>
              <a:rPr sz="2300" b="1" i="0">
                <a:solidFill>
                  <a:srgbClr val="0E7C7B"/>
                </a:solidFill>
                <a:latin typeface="Avenir Next"/>
              </a:rPr>
              <a:t>•  </a:t>
            </a:r>
            <a:r>
              <a:rPr sz="2300" b="0" i="0">
                <a:solidFill>
                  <a:srgbClr val="1B2025"/>
                </a:solidFill>
                <a:latin typeface="Avenir Next"/>
              </a:rPr>
              <a:t>Write the two lines that matter: the diffusion loss (from the primer) and a small fine-tune learning rate</a:t>
            </a:r>
          </a:p>
          <a:p>
            <a:pPr>
              <a:spcAft>
                <a:spcPts val="1800"/>
              </a:spcAft>
            </a:pPr>
            <a:r>
              <a:rPr sz="2300" b="1" i="0">
                <a:solidFill>
                  <a:srgbClr val="0E7C7B"/>
                </a:solidFill>
                <a:latin typeface="Avenir Next"/>
              </a:rPr>
              <a:t>•  </a:t>
            </a:r>
            <a:r>
              <a:rPr sz="2300" b="0" i="0">
                <a:solidFill>
                  <a:srgbClr val="1B2025"/>
                </a:solidFill>
                <a:latin typeface="Avenir Next"/>
              </a:rPr>
              <a:t>~100 steps, under a minute: the same model now draws YOUR symbol — transfer learning you can see</a:t>
            </a:r>
          </a:p>
        </p:txBody>
      </p:sp>
      <p:sp>
        <p:nvSpPr>
          <p:cNvPr id="6" name="Rectangle 5"/>
          <p:cNvSpPr/>
          <p:nvPr/>
        </p:nvSpPr>
        <p:spPr>
          <a:xfrm>
            <a:off x="548640" y="5843016"/>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2 minutes to finish Quiz 8 solo while Colab boots → we mark it together as Lab 3 opens. The loss line from today's diffusion do-it-together is Blank 2 of the lab, word for word.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DIFFUSION PRIMER · 3 OF 4 · DO-IT-TOGETHER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Together — one training step, new numbers</a:t>
            </a:r>
          </a:p>
        </p:txBody>
      </p:sp>
      <p:sp>
        <p:nvSpPr>
          <p:cNvPr id="6" name="Rectangle 5"/>
          <p:cNvSpPr/>
          <p:nvPr/>
        </p:nvSpPr>
        <p:spPr>
          <a:xfrm>
            <a:off x="548640" y="5120640"/>
            <a:ext cx="10515600" cy="1444752"/>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t>Together — same two steps, new numbers. Clean patch x₀ = (1, −1, 0.5, 0); the noise added ε = (0, 0.5, −0.5, 1); the model's guess ε̂ = (0.2, 0.4, −0.3, 0.7); same noise level, √ᾱ = 0.8 and √(1−ᾱ) = 0.6. (a) Fill in x_t = 0.8·x₀ + 0.6·ε. (b) Score the guess with MSE. Work it with a neighbour — answers in the notes.</a:t>
            </a:r>
          </a:p>
        </p:txBody>
      </p:sp>
      <p:pic>
        <p:nvPicPr>
          <p:cNvPr id="7" name="Picture 6" descr="fig_diffusion_youdo.png"/>
          <p:cNvPicPr>
            <a:picLocks noChangeAspect="1"/>
          </p:cNvPicPr>
          <p:nvPr/>
        </p:nvPicPr>
        <p:blipFill>
          <a:blip r:embed="rId2"/>
          <a:stretch>
            <a:fillRect/>
          </a:stretch>
        </p:blipFill>
        <p:spPr>
          <a:xfrm>
            <a:off x="2300187" y="1828800"/>
            <a:ext cx="7588577" cy="31546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DIFFUSION PRIMER · 4 OF 4 · GENERATING A NEW IMAGE</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Sampling: from pure noise to a new image</a:t>
            </a:r>
          </a:p>
        </p:txBody>
      </p:sp>
      <p:sp>
        <p:nvSpPr>
          <p:cNvPr id="6" name="Rectangle 5"/>
          <p:cNvSpPr/>
          <p:nvPr/>
        </p:nvSpPr>
        <p:spPr>
          <a:xfrm>
            <a:off x="548640" y="5120640"/>
            <a:ext cx="10515600" cy="1444752"/>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Start from pure static. At every step the network predicts the noise in the current image and a small slice of it is removed. After 1,000 small steps a brand-new digit appears — and different starting noise gives a different digit. This is exactly what Lab 3's sample() runs.</a:t>
            </a:r>
          </a:p>
        </p:txBody>
      </p:sp>
      <p:pic>
        <p:nvPicPr>
          <p:cNvPr id="7" name="Picture 6" descr="fig_diffusion_sampling.png"/>
          <p:cNvPicPr>
            <a:picLocks noChangeAspect="1"/>
          </p:cNvPicPr>
          <p:nvPr/>
        </p:nvPicPr>
        <p:blipFill>
          <a:blip r:embed="rId2"/>
          <a:stretch>
            <a:fillRect/>
          </a:stretch>
        </p:blipFill>
        <p:spPr>
          <a:xfrm>
            <a:off x="2674166" y="1828800"/>
            <a:ext cx="6843667" cy="3154680"/>
          </a:xfrm>
          <a:prstGeom prst="rect">
            <a:avLst/>
          </a:prstGeom>
        </p:spPr>
      </p:pic>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7037</Words>
  <Application>Microsoft Macintosh PowerPoint</Application>
  <PresentationFormat>Widescreen</PresentationFormat>
  <Paragraphs>130</Paragraphs>
  <Slides>24</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Avenir Next</vt:lpstr>
      <vt:lpstr>Menlo</vt:lpstr>
      <vt:lpstr>MSACL DS301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Encoder Decoder Zoomed in</vt:lpstr>
      <vt:lpstr>PowerPoint Presentation</vt:lpstr>
      <vt:lpstr>PowerPoint Presentation</vt:lpstr>
      <vt:lpstr>PowerPoint Presentation</vt:lpstr>
      <vt:lpstr>Encoder/Decoder Interaction</vt:lpstr>
      <vt:lpstr>Encoder/Decoder Interaction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8 · The Transformer, Assembled (+ transfer learning)</dc:title>
  <dc:subject/>
  <dc:creator/>
  <cp:keywords/>
  <dc:description>generated using python-pptx</dc:description>
  <cp:lastModifiedBy>Song, Lixing</cp:lastModifiedBy>
  <cp:revision>14</cp:revision>
  <dcterms:created xsi:type="dcterms:W3CDTF">2013-01-27T09:14:16Z</dcterms:created>
  <dcterms:modified xsi:type="dcterms:W3CDTF">2026-09-28T21:23:24Z</dcterms:modified>
  <cp:category/>
</cp:coreProperties>
</file>
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91" r:id="rId4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penalty-shape curve next, the STEP 4 worked example,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previous slide already wrote the full formula out and did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4 Q4, straight after the whisper-down-the-lane I-do. Worked answer: (a) 1.0×0.5^5=0.5^5=0.03125≈0.03. (b) Vanishing — every factor is below 1, so the product shrinks fast. (c) The gradient reaching the earliest layers is almost zero, so those layers barely update / learn while layers near the output learn fine — which is why very deep plain networks are hard to train (the fix, ResNet skip connections, is Lecture 5). If each slope were instead about 2, the product 2^5=32 would explode and the loss would go to NaN.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 the formula from the last slide, drawn.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sz="1300" b="1" i="0">
                <a:solidFill>
                  <a:srgbClr val="8A9099"/>
                </a:solidFill>
                <a:latin typeface="Menlo"/>
              </a:rPr>
              <a:t>PART 1 · LOSS · WHICH LOSS FOR WHICH TASK</a:t>
            </a:r>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1 · LOSS · THE RESULT</a:t>
            </a:r>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 · 1 OF 2</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 · 2 OF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 · 1 OF 3</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 · 2 OF 3</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 · 3 OF 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gradient reaches layer 1?</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Q4. Multiply the slopes down the chain: 1.0 leaves the loss and is multiplied by 0.5 at each of 5 layers. (a) What reaches layer 1? (b) Vanishing or exploding? (c) What does that mean for the earliest layers? Worked answer in the notes.</a:t>
            </a:r>
          </a:p>
        </p:txBody>
      </p:sp>
      <p:sp>
        <p:nvSpPr>
          <p:cNvPr id="7" name="Rounded Rectangle 6"/>
          <p:cNvSpPr/>
          <p:nvPr/>
        </p:nvSpPr>
        <p:spPr>
          <a:xfrm>
            <a:off x="5486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loss</a:t>
            </a:r>
          </a:p>
        </p:txBody>
      </p:sp>
      <p:sp>
        <p:nvSpPr>
          <p:cNvPr id="8" name="TextBox 7"/>
          <p:cNvSpPr txBox="1"/>
          <p:nvPr/>
        </p:nvSpPr>
        <p:spPr>
          <a:xfrm>
            <a:off x="970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3D444C"/>
                </a:solidFill>
                <a:latin typeface="Avenir Next"/>
              </a:rPr>
              <a:t>gradient 1.0</a:t>
            </a:r>
          </a:p>
        </p:txBody>
      </p:sp>
      <p:sp>
        <p:nvSpPr>
          <p:cNvPr id="9" name="TextBox 8"/>
          <p:cNvSpPr txBox="1"/>
          <p:nvPr/>
        </p:nvSpPr>
        <p:spPr>
          <a:xfrm>
            <a:off x="154864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0" name="Rounded Rectangle 9"/>
          <p:cNvSpPr/>
          <p:nvPr/>
        </p:nvSpPr>
        <p:spPr>
          <a:xfrm>
            <a:off x="245176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5</a:t>
            </a:r>
          </a:p>
        </p:txBody>
      </p:sp>
      <p:sp>
        <p:nvSpPr>
          <p:cNvPr id="11" name="TextBox 10"/>
          <p:cNvSpPr txBox="1"/>
          <p:nvPr/>
        </p:nvSpPr>
        <p:spPr>
          <a:xfrm>
            <a:off x="345176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2" name="Rounded Rectangle 11"/>
          <p:cNvSpPr/>
          <p:nvPr/>
        </p:nvSpPr>
        <p:spPr>
          <a:xfrm>
            <a:off x="435488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4</a:t>
            </a:r>
          </a:p>
        </p:txBody>
      </p:sp>
      <p:sp>
        <p:nvSpPr>
          <p:cNvPr id="13" name="TextBox 12"/>
          <p:cNvSpPr txBox="1"/>
          <p:nvPr/>
        </p:nvSpPr>
        <p:spPr>
          <a:xfrm>
            <a:off x="535488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4" name="Rounded Rectangle 13"/>
          <p:cNvSpPr/>
          <p:nvPr/>
        </p:nvSpPr>
        <p:spPr>
          <a:xfrm>
            <a:off x="625800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3</a:t>
            </a:r>
          </a:p>
        </p:txBody>
      </p:sp>
      <p:sp>
        <p:nvSpPr>
          <p:cNvPr id="15" name="TextBox 14"/>
          <p:cNvSpPr txBox="1"/>
          <p:nvPr/>
        </p:nvSpPr>
        <p:spPr>
          <a:xfrm>
            <a:off x="725800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6" name="Rounded Rectangle 15"/>
          <p:cNvSpPr/>
          <p:nvPr/>
        </p:nvSpPr>
        <p:spPr>
          <a:xfrm>
            <a:off x="816112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2</a:t>
            </a:r>
          </a:p>
        </p:txBody>
      </p:sp>
      <p:sp>
        <p:nvSpPr>
          <p:cNvPr id="17" name="TextBox 16"/>
          <p:cNvSpPr txBox="1"/>
          <p:nvPr/>
        </p:nvSpPr>
        <p:spPr>
          <a:xfrm>
            <a:off x="916112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8" name="Rounded Rectangle 17"/>
          <p:cNvSpPr/>
          <p:nvPr/>
        </p:nvSpPr>
        <p:spPr>
          <a:xfrm>
            <a:off x="100642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1</a:t>
            </a:r>
          </a:p>
        </p:txBody>
      </p:sp>
      <p:sp>
        <p:nvSpPr>
          <p:cNvPr id="19" name="TextBox 18"/>
          <p:cNvSpPr txBox="1"/>
          <p:nvPr/>
        </p:nvSpPr>
        <p:spPr>
          <a:xfrm>
            <a:off x="96126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E09E2F"/>
                </a:solidFill>
                <a:latin typeface="Avenir Next"/>
              </a:rPr>
              <a:t>gradient ?</a:t>
            </a:r>
          </a:p>
        </p:txBody>
      </p:sp>
      <p:sp>
        <p:nvSpPr>
          <p:cNvPr id="20" name="TextBox 19"/>
          <p:cNvSpPr txBox="1"/>
          <p:nvPr/>
        </p:nvSpPr>
        <p:spPr>
          <a:xfrm>
            <a:off x="548640" y="2888800"/>
            <a:ext cx="10515600" cy="1900000"/>
          </a:xfrm>
          <a:prstGeom prst="rect">
            <a:avLst/>
          </a:prstGeom>
          <a:noFill/>
        </p:spPr>
        <p:txBody>
          <a:bodyPr wrap="square" lIns="45720" rIns="45720" tIns="27432" bIns="27432" anchor="t">
            <a:spAutoFit/>
          </a:bodyPr>
          <a:lstStyle/>
          <a:p>
            <a:pPr algn="l">
              <a:spcAft>
                <a:spcPts val="600"/>
              </a:spcAft>
            </a:pPr>
            <a:r>
              <a:rPr sz="1600" b="0">
                <a:solidFill>
                  <a:srgbClr val="1B2025"/>
                </a:solidFill>
                <a:latin typeface="Avenir Next"/>
              </a:rPr>
              <a:t>A gradient is the PRODUCT of the local slopes along the path back to a weight (Lecture 2). Here it passes back through 5 layers, each multiplying it by a slope of 0.5.</a:t>
            </a:r>
          </a:p>
          <a:p>
            <a:pPr algn="l">
              <a:spcAft>
                <a:spcPts val="600"/>
              </a:spcAft>
            </a:pPr>
            <a:r>
              <a:rPr sz="1600" b="1">
                <a:solidFill>
                  <a:srgbClr val="0E7C7B"/>
                </a:solidFill>
                <a:latin typeface="Avenir Next"/>
              </a:rPr>
              <a:t>(a)  </a:t>
            </a:r>
            <a:r>
              <a:rPr sz="1600" b="0">
                <a:solidFill>
                  <a:srgbClr val="1B2025"/>
                </a:solidFill>
                <a:latin typeface="Avenir Next"/>
              </a:rPr>
              <a:t>What gradient reaches the first layer?   1.0 × 0.5⁵ =</a:t>
            </a:r>
            <a:r>
              <a:rPr sz="1600" b="1">
                <a:solidFill>
                  <a:srgbClr val="0E7C7B"/>
                </a:solidFill>
                <a:latin typeface="Avenir Next"/>
              </a:rPr>
              <a:t>  ________</a:t>
            </a:r>
          </a:p>
          <a:p>
            <a:pPr algn="l">
              <a:spcAft>
                <a:spcPts val="600"/>
              </a:spcAft>
            </a:pPr>
            <a:r>
              <a:rPr sz="1600" b="1">
                <a:solidFill>
                  <a:srgbClr val="0E7C7B"/>
                </a:solidFill>
                <a:latin typeface="Avenir Next"/>
              </a:rPr>
              <a:t>(b)  </a:t>
            </a:r>
            <a:r>
              <a:rPr sz="1600" b="0">
                <a:solidFill>
                  <a:srgbClr val="1B2025"/>
                </a:solidFill>
                <a:latin typeface="Avenir Next"/>
              </a:rPr>
              <a:t>Is this vanishing or exploding?</a:t>
            </a:r>
            <a:r>
              <a:rPr sz="1600" b="1">
                <a:solidFill>
                  <a:srgbClr val="0E7C7B"/>
                </a:solidFill>
                <a:latin typeface="Avenir Next"/>
              </a:rPr>
              <a:t>  ________</a:t>
            </a:r>
          </a:p>
          <a:p>
            <a:pPr algn="l">
              <a:spcAft>
                <a:spcPts val="600"/>
              </a:spcAft>
            </a:pPr>
            <a:r>
              <a:rPr sz="1600" b="1">
                <a:solidFill>
                  <a:srgbClr val="0E7C7B"/>
                </a:solidFill>
                <a:latin typeface="Avenir Next"/>
              </a:rPr>
              <a:t>(c)  </a:t>
            </a:r>
            <a:r>
              <a:rPr sz="1600" b="0">
                <a:solidFill>
                  <a:srgbClr val="1B2025"/>
                </a:solidFill>
                <a:latin typeface="Avenir Next"/>
              </a:rPr>
              <a:t>In one line: what does that mean for how the earliest layers learn?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(use the word banks below). Watch out: (d) is NOT an overfitting problem. 2–3 minutes — worked answer in the notes.</a:t>
            </a:r>
          </a:p>
        </p:txBody>
      </p:sp>
      <p:sp>
        <p:nvSpPr>
          <p:cNvPr id="7" name="TextBox 6"/>
          <p:cNvSpPr txBox="1"/>
          <p:nvPr/>
        </p:nvSpPr>
        <p:spPr>
          <a:xfrm>
            <a:off x="548640" y="5678424"/>
            <a:ext cx="10515600" cy="820000"/>
          </a:xfrm>
          <a:prstGeom prst="rect">
            <a:avLst/>
          </a:prstGeom>
          <a:noFill/>
        </p:spPr>
        <p:txBody>
          <a:bodyPr wrap="square" lIns="45720" rIns="45720" tIns="27432" bIns="27432" anchor="t">
            <a:spAutoFit/>
          </a:bodyPr>
          <a:lstStyle/>
          <a:p>
            <a:pPr algn="l">
              <a:spcAft>
                <a:spcPts val="200"/>
              </a:spcAft>
            </a:pPr>
            <a:r>
              <a:rPr sz="1200" b="1">
                <a:solidFill>
                  <a:srgbClr val="0E7C7B"/>
                </a:solidFill>
                <a:latin typeface="Avenir Next"/>
              </a:rPr>
              <a:t>Diagnosis bank:</a:t>
            </a:r>
            <a:r>
              <a:rPr sz="1200" b="0">
                <a:solidFill>
                  <a:srgbClr val="3D444C"/>
                </a:solidFill>
                <a:latin typeface="Avenir Next"/>
              </a:rPr>
              <a:t>  underfitting  ·  just right  ·  overfitting  ·  learning rate far too high (diverging)</a:t>
            </a:r>
          </a:p>
          <a:p>
            <a:pPr algn="l">
              <a:spcAft>
                <a:spcPts val="200"/>
              </a:spcAft>
            </a:pPr>
            <a:r>
              <a:rPr sz="1200" b="1">
                <a:solidFill>
                  <a:srgbClr val="0E7C7B"/>
                </a:solidFill>
                <a:latin typeface="Avenir Next"/>
              </a:rPr>
              <a:t>Fix bank:</a:t>
            </a:r>
            <a:r>
              <a:rPr sz="1200" b="0">
                <a:solidFill>
                  <a:srgbClr val="3D444C"/>
                </a:solidFill>
                <a:latin typeface="Avenir Next"/>
              </a:rPr>
              <a:t>  make the model bigger / train longer  ·  keep it (ship it)  ·  regularize (dropout / weight decay / early stopping / more data)  ·  lower the learning rate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
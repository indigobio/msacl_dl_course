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lang="en-US" dirty="0"/>
              <a:t>Autoencoder - Applications</a:t>
            </a:r>
          </a:p>
        </p:txBody>
      </p:sp>
      <p:pic>
        <p:nvPicPr>
          <p:cNvPr id="5" name="Picture 4" descr="fig_denoising_ae.png"/>
          <p:cNvPicPr>
            <a:picLocks noChangeAspect="1"/>
          </p:cNvPicPr>
          <p:nvPr/>
        </p:nvPicPr>
        <p:blipFill>
          <a:blip r:embed="rId3"/>
          <a:stretch>
            <a:fillRect/>
          </a:stretch>
        </p:blipFill>
        <p:spPr>
          <a:xfrm>
            <a:off x="1066647" y="1828800"/>
            <a:ext cx="10058400" cy="3958698"/>
          </a:xfrm>
          <a:prstGeom prst="rect">
            <a:avLst/>
          </a:prstGeom>
        </p:spPr>
      </p:pic>
      <p:sp>
        <p:nvSpPr>
          <p:cNvPr id="6" name="TextBox 5"/>
          <p:cNvSpPr txBox="1"/>
          <p:nvPr/>
        </p:nvSpPr>
        <p:spPr>
          <a:xfrm>
            <a:off x="548640" y="6144768"/>
            <a:ext cx="11091672" cy="310896"/>
          </a:xfrm>
          <a:prstGeom prst="rect">
            <a:avLst/>
          </a:prstGeom>
          <a:noFill/>
        </p:spPr>
        <p:txBody>
          <a:bodyPr wrap="square">
            <a:spAutoFit/>
          </a:bodyPr>
          <a:lstStyle/>
          <a:p>
            <a:pPr algn="ctr"/>
            <a:r>
              <a:rPr sz="1100">
                <a:solidFill>
                  <a:srgbClr val="8A9099"/>
                </a:solidFill>
                <a:latin typeface="Menlo"/>
              </a:rPr>
              <a:t>Course-drawn figure for MSACL DS301 · denoising-autoencoder construction after Vincent et al., ICML 2008</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Noisy Spectra</a:t>
            </a:r>
          </a:p>
        </p:txBody>
      </p:sp>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lang="en-US" dirty="0" err="1"/>
              <a:t>Autoencoder</a:t>
            </a:r>
            <a:endParaRPr lang="en-US" dirty="0"/>
          </a:p>
        </p:txBody>
      </p:sp>
      <p:pic>
        <p:nvPicPr>
          <p:cNvPr id="5" name="Picture 4" descr="fig_denoising_results.png"/>
          <p:cNvPicPr>
            <a:picLocks noChangeAspect="1"/>
          </p:cNvPicPr>
          <p:nvPr/>
        </p:nvPicPr>
        <p:blipFill>
          <a:blip r:embed="rId3"/>
          <a:stretch>
            <a:fillRect/>
          </a:stretch>
        </p:blipFill>
        <p:spPr>
          <a:xfrm>
            <a:off x="1321480" y="1828800"/>
            <a:ext cx="9548734" cy="4160520"/>
          </a:xfrm>
          <a:prstGeom prst="rect">
            <a:avLst/>
          </a:prstGeom>
        </p:spPr>
      </p:pic>
      <p:sp>
        <p:nvSpPr>
          <p:cNvPr id="6" name="TextBox 5"/>
          <p:cNvSpPr txBox="1"/>
          <p:nvPr/>
        </p:nvSpPr>
        <p:spPr>
          <a:xfrm>
            <a:off x="548640" y="6144768"/>
            <a:ext cx="11091672" cy="310896"/>
          </a:xfrm>
          <a:prstGeom prst="rect">
            <a:avLst/>
          </a:prstGeom>
          <a:noFill/>
        </p:spPr>
        <p:txBody>
          <a:bodyPr wrap="square">
            <a:spAutoFit/>
          </a:bodyPr>
          <a:lstStyle/>
          <a:p>
            <a:pPr algn="ctr"/>
            <a:r>
              <a:rPr sz="1100">
                <a:solidFill>
                  <a:srgbClr val="8A9099"/>
                </a:solidFill>
                <a:latin typeface="Menlo"/>
              </a:rPr>
              <a:t>Course-drawn schematic for MSACL DS301 · synthetic spectra, not measured model output</a:t>
            </a:r>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lang="en-US" dirty="0"/>
              <a:t>Autoencoder - Applications</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667251"/>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407152"/>
            <a:ext cx="10515600" cy="140512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
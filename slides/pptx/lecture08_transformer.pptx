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four items and we hit all four live — context is the values (Q1), the encoder's K,V is the cross-attention context (Q2), match data to a tokenization strategy (Q3), and the fine-tune-vs-scratch call (Q4). Keep the Quiz 7 sheet handy — attention is the beating heart of what we assemble today.</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five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small labeled set, which is exactly what Lab 3 does next hour. Every quiz item gets worked live; there is no end-of-class quiz block.</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neighbouring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neighbours while slow clocks keep far-apart positions distinct — together every position in a long sequence gets a unique fingerprint. Modern models often LEARN the position vectors instead, but the job is identical. This is the one figure worth lingering on; don't derive the formula.</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live compute (do-it-together; not a quiz item this hour). Answers: (a) LAYER norm averages across a token's FEATURES (one row) — mean of tok1 = (2+4+6)/3 = 4. (b) BATCH norm averages down the BATCH (one feature's column across all samples) — mean of f1 = (2+4)/2 = 3. (c) Layer norm needs no batch statistics, so it is stable at batch size 1 and with variable-length sequences, and treats each token independently — which is why transformers use it. Take one axis answer from the floor, work both means live, then move on.</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the intimidating "Attention Is All You Need" diagram is entirely blocks this room has already built. Walk the left (encoder) stack bottom to top once: embeddings with positional encoding added (this hour), a Norm (this hour), multi-head self-attention (Lecture 7, the weighted-average lookup), the circled "+" which is the residual skip connection straight from ResNet (Lecture 5's gradient highway), then a feed-forward network — literally the dense MLP from Lab 1 — and another skip. Stack that block N times. The right (decoder) stack is the same parts plus two wrinkles: its self-attention is "masked" (it may only look at tokens already generated, because it writes left to right) and it has a cross-attention block whose queries come from the decoder but whose keys/values come from the ENCODER — that is how the output reads the input. Don't belabour masking; the message is that nothing here is new, it is assembly. This is a real licensed figure (dvgodoy, CC BY 4.0, same series as Lecture 7's multi-head diagram); credit it. Next slide we strip it to the four blocks it is built from.</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fine-tunes an encoder-only model (DistilBERT) for classification.</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exactly Lab 3's DistilBERT); (b) spectrum → peptide sequence → ENCODER–DECODER (read spectrum, write a new sequence — Casanovo); (c) draft a free-text QC report → DECODER-ONLY (generate prose — GPT/LLaMA). This task→family mapping is a strong candidate for a new Quiz 8 item; for now it runs as a live decide beat.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chart makes the choice explicit and testable (rule 3: Q2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8 Q3 (the same three rules, now applied; it assesses the "name/pick a tokenization strategy" outcome). Answers, straight off the decision chart: imaging-MS image (2D) → patches + linear projection (ViT); raw binned spectrum (dense 1D) → CNN front-end → token embeddings; peak list (sparse (m/z, intensity)) → peak-as-token (Casanovo). Each strategy used once. Identical to the Quiz 8 Q3 key. Take one match from the floor, then have them fill Q2. If someone matches the binned spectrum to patches, accept the reasoning but point to the chart's primary rule — a dense, ordered 1D signal is where a CNN front-end shines.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Lab 3's bonus cell fine-tunes a protein language model (ESM-2) on peptides — same alphabet family.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why the freeze-and-fine-tune move is not just convenient but decisive for this audience. Training from scratch on a few hundred spectra is a textbook overfitting/underfitting trap (Lecture 4): millions of free weights, almost no signal to pin them down, so the model memorizes noise or collapses to predicting the majority class — near chance on anything imbalanced. Fine- tuning inverts the arithmetic: the pretrained body supplies the general features for free, so the only weights you fit are the small head, and a few hundred labels are plenty to fit a small head well. Use a smaller learning rate than from-scratch training, because you're making tiny corrections to already-good weights. This is not hand-waving: Lab 3 runs the exact three-way comparison — full fine-tune vs. frozen-body-head-only vs. from-scratch — and from-scratch lands near the majority floor while the fine-tuned model reaches far higher, on the same small dataset in the same session. Next slide the room makes the call themselves (Quiz 8 Q4).</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8 Q4 (the fine-tune-vs-scratch scenario; it assesses the transfer-learning outcome). Expected answer: FINE-TUNE — freeze the pretrained body and train a small new head on the 800 labels (optionally unfreeze a little of the top with a small learning rate). Reason (any one is full credit): 800 labels are far too few to train millions of weights from scratch without overfitting/landing at the majority-class floor; the pretrained body already learned general spectral features from the 2 million spectra, so you only need to fit a small head, which 800 labels can do well. This is a 💬 pair beat — 90 seconds, harvest one or two answers with their reason — then everyone fills Q4. That's all four Quiz 8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8 outcomes, each already a you-do this hour tied to a Quiz 8 item: Q1 context = a blend of values, Q2 the encoder's K,V as the cross-attention context (both on the cross-attention slide), Q3 the tokenization matches, Q4 the fine-tune-vs-scratch call. Positional encoding (sinusoidal + RoPE), layer norm, and the three architecture families are taught with live do-it-together / pair / decide beats but are not separate quiz items this hour. There is no end-of-class quiz block; they've done all four across the hour. Have them keep the sheet as the on-ramp to Lab 3, then the closing bridge.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final minutes to finishing Quiz 8 and selling Lab 3. Lab 3 is the transfer-learning slide made real: load a pretrained transformer, replace its head, freeze the body, fine-tune on a small dataset, and race it against training from scratch — the from-scratch model lands near the majority floor while the fine-tuned one reaches far higher, the game-changer lesson made visible. The bonus cell reruns the identical recipe on ESM-2 over peptides — "DistilBERT read billions of English words; ESM-2 read hundreds of millions of protein sequences; same move, different alphabet." Then Colab is up and we mark Quiz 8 together as Lab 3 begins.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1778001"/>
            <a:ext cx="11064240" cy="2844799"/>
          </a:xfrm>
          <a:prstGeom prst="rect">
            <a:avLst/>
          </a:prstGeom>
          <a:noFill/>
        </p:spPr>
        <p:txBody>
          <a:bodyPr wrap="square" anchor="ctr">
            <a:spAutoFit/>
          </a:bodyPr>
          <a:lstStyle/>
          <a:p>
            <a:r>
              <a:rPr sz="4400" b="1" i="0">
                <a:solidFill>
                  <a:srgbClr val="1B2025"/>
                </a:solidFill>
                <a:latin typeface="Avenir Next"/>
              </a:rPr>
              <a:t>The transformer, assembled — and how to borrow one</a:t>
            </a:r>
          </a:p>
          <a:p>
            <a:pPr>
              <a:spcBef>
                <a:spcPts val="1600"/>
              </a:spcBef>
            </a:pPr>
            <a:r>
              <a:rPr sz="2200" b="0" i="0">
                <a:solidFill>
                  <a:srgbClr val="0E7C7B"/>
                </a:solidFill>
                <a:latin typeface="Avenir Next"/>
              </a:rPr>
              <a:t>Positions (sinusoidal + RoPE)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Five stops, one finished machine</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Positional encoding — inject order: sinusoidal 'clocks' + relative (RoPE)</a:t>
            </a:r>
            <a:r>
              <a:rPr sz="1800" b="0" i="0">
                <a:solidFill>
                  <a:srgbClr val="8A9099"/>
                </a:solidFill>
                <a:latin typeface="Menlo"/>
              </a:rPr>
              <a:t>   · 12 min</a:t>
            </a:r>
          </a:p>
          <a:p>
            <a:pPr>
              <a:spcAft>
                <a:spcPts val="1800"/>
              </a:spcAft>
            </a:pPr>
            <a:r>
              <a:rPr sz="2300" b="1" i="0">
                <a:solidFill>
                  <a:srgbClr val="0E7C7B"/>
                </a:solidFill>
                <a:latin typeface="Avenir Next"/>
              </a:rPr>
              <a:t>•  </a:t>
            </a:r>
            <a:r>
              <a:rPr sz="2300" b="0" i="0">
                <a:solidFill>
                  <a:srgbClr val="1B2025"/>
                </a:solidFill>
                <a:latin typeface="Avenir Next"/>
              </a:rPr>
              <a:t>Normalization — batch vs. layer norm, and why transformers pick layer norm</a:t>
            </a:r>
            <a:r>
              <a:rPr sz="1800" b="0" i="0">
                <a:solidFill>
                  <a:srgbClr val="8A9099"/>
                </a:solidFill>
                <a:latin typeface="Menlo"/>
              </a:rPr>
              <a:t>   · 6 min</a:t>
            </a:r>
          </a:p>
          <a:p>
            <a:pPr>
              <a:spcAft>
                <a:spcPts val="1800"/>
              </a:spcAft>
            </a:pPr>
            <a:r>
              <a:rPr sz="2300" b="1" i="0">
                <a:solidFill>
                  <a:srgbClr val="0E7C7B"/>
                </a:solidFill>
                <a:latin typeface="Avenir Next"/>
              </a:rPr>
              <a:t>•  </a:t>
            </a:r>
            <a:r>
              <a:rPr sz="2300" b="0" i="0">
                <a:solidFill>
                  <a:srgbClr val="1B2025"/>
                </a:solidFill>
                <a:latin typeface="Avenir Next"/>
              </a:rPr>
              <a:t>Assemble the block; encoder / encoder–decoder / decoder-only + cross-attention</a:t>
            </a:r>
            <a:r>
              <a:rPr sz="1800" b="0" i="0">
                <a:solidFill>
                  <a:srgbClr val="8A9099"/>
                </a:solidFill>
                <a:latin typeface="Menlo"/>
              </a:rPr>
              <a:t>   · 15 min</a:t>
            </a:r>
          </a:p>
          <a:p>
            <a:pPr>
              <a:spcAft>
                <a:spcPts val="1800"/>
              </a:spcAft>
            </a:pPr>
            <a:r>
              <a:rPr sz="2300" b="1" i="0">
                <a:solidFill>
                  <a:srgbClr val="0E7C7B"/>
                </a:solidFill>
                <a:latin typeface="Avenir Next"/>
              </a:rPr>
              <a:t>•  </a:t>
            </a:r>
            <a:r>
              <a:rPr sz="2300" b="0" i="0">
                <a:solidFill>
                  <a:srgbClr val="1B2025"/>
                </a:solidFill>
                <a:latin typeface="Avenir Next"/>
              </a:rPr>
              <a:t>A spectrum → tokens — three strategies, and which to pick</a:t>
            </a:r>
            <a:r>
              <a:rPr sz="1800" b="0" i="0">
                <a:solidFill>
                  <a:srgbClr val="8A9099"/>
                </a:solidFill>
                <a:latin typeface="Menlo"/>
              </a:rPr>
              <a:t>   · 10 min</a:t>
            </a:r>
          </a:p>
          <a:p>
            <a:pPr>
              <a:spcAft>
                <a:spcPts val="1800"/>
              </a:spcAft>
            </a:pPr>
            <a:r>
              <a:rPr sz="2300" b="1" i="0">
                <a:solidFill>
                  <a:srgbClr val="0E7C7B"/>
                </a:solidFill>
                <a:latin typeface="Avenir Next"/>
              </a:rPr>
              <a:t>•  </a:t>
            </a:r>
            <a:r>
              <a:rPr sz="2300" b="0" i="0">
                <a:solidFill>
                  <a:srgbClr val="1B2025"/>
                </a:solidFill>
                <a:latin typeface="Avenir Next"/>
              </a:rPr>
              <a:t>Transfer learning — borrow a body, retrain a head; why 500–800 labels can be enough</a:t>
            </a:r>
            <a:r>
              <a:rPr sz="1800" b="0" i="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2"/>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2"/>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neighbours (boxed rows 2–3) look almost identical, so 'near' and 'far' become visible. 💬 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2"/>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Absolute encoding tags each seat ('you are at position 7'). RoPE (used by LLaMA)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2"/>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YOUR TURN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which norm averages over what?</a:t>
            </a:r>
          </a:p>
        </p:txBody>
      </p:sp>
      <p:pic>
        <p:nvPicPr>
          <p:cNvPr id="5" name="Picture 4" descr="fig_norm_youdo.png"/>
          <p:cNvPicPr>
            <a:picLocks noChangeAspect="1"/>
          </p:cNvPicPr>
          <p:nvPr/>
        </p:nvPicPr>
        <p:blipFill>
          <a:blip r:embed="rId2"/>
          <a:stretch>
            <a:fillRect/>
          </a:stretch>
        </p:blipFill>
        <p:spPr>
          <a:xfrm>
            <a:off x="1676726" y="1828800"/>
            <a:ext cx="8808068"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Do-it-together (60 sec). Rows = tokens, columns = features. (a) LAYER norm averages across WHAT — and what is the mean of tok1? (b) BATCH norm averages down WHAT — and what is the mean of feature f1? (c) One reason transformers prefer layer norm. Answers below.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THE WHOLE TRANSFORMER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Every block is one you already own</a:t>
            </a:r>
          </a:p>
        </p:txBody>
      </p:sp>
      <p:pic>
        <p:nvPicPr>
          <p:cNvPr id="5" name="Picture 4" descr="transformer_architecture.png"/>
          <p:cNvPicPr>
            <a:picLocks noChangeAspect="1"/>
          </p:cNvPicPr>
          <p:nvPr/>
        </p:nvPicPr>
        <p:blipFill>
          <a:blip r:embed="rId2"/>
          <a:stretch>
            <a:fillRect/>
          </a:stretch>
        </p:blipFill>
        <p:spPr>
          <a:xfrm>
            <a:off x="4723122" y="1828800"/>
            <a:ext cx="2715276"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the full transformer · encoder (left, orange) + decoder (right, green) · diagram: dvgodoy, Wikimedia Commons, CC BY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Read bottom-up. Embeddings + positional encoding (just now) → Norm (just now) → Multi-head attention (Lecture 7) → a '+' residual skip (Lecture 5) → Feed-forward network (the Lab-1 MLP) → repeat ×N. The ENCODER (left) reads the whole input; the DECODER (right) writes an output, one token at a time, and cross-attends back to the encoder.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2"/>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2"/>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 → YOU-DO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2"/>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 Quiz 8, Q1–Q2: which of Q/K/V carries the content? · is the encoder's K,V fixed or recomputed each step — and what if you swap in a different spectrum's K,V halfway through?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2"/>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How does a spectrum become tokens?</a:t>
            </a:r>
          </a:p>
          <a:p>
            <a:pPr>
              <a:spcBef>
                <a:spcPts val="1600"/>
              </a:spcBef>
            </a:pPr>
            <a:r>
              <a:rPr sz="2200" b="0" i="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spectrum, three ways to tokenize it</a:t>
            </a:r>
          </a:p>
        </p:txBody>
      </p:sp>
      <p:pic>
        <p:nvPicPr>
          <p:cNvPr id="5" name="Picture 4" descr="fig_tokenization_strategies.png"/>
          <p:cNvPicPr>
            <a:picLocks noChangeAspect="1"/>
          </p:cNvPicPr>
          <p:nvPr/>
        </p:nvPicPr>
        <p:blipFill>
          <a:blip r:embed="rId2"/>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2"/>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Read it as three rules. A 2D image (imaging-MS, an LC×MS heatmap) → patches + linear projection (ViT). A dense 1D signal (a binned spectrum, a chromatogram) → a CNN front-end that emits tokens. A sparse peak list (a handful of m/z + intensity peaks) → peak-as-token (Casanovo).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Match each data type to its strategy</a:t>
            </a:r>
          </a:p>
        </p:txBody>
      </p:sp>
      <p:pic>
        <p:nvPicPr>
          <p:cNvPr id="5" name="Picture 4" descr="fig_tokenization_youdo.png"/>
          <p:cNvPicPr>
            <a:picLocks noChangeAspect="1"/>
          </p:cNvPicPr>
          <p:nvPr/>
        </p:nvPicPr>
        <p:blipFill>
          <a:blip r:embed="rId2"/>
          <a:stretch>
            <a:fillRect/>
          </a:stretch>
        </p:blipFill>
        <p:spPr>
          <a:xfrm>
            <a:off x="1774034" y="1828800"/>
            <a:ext cx="8613452"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8, Q3. Match each to one strategy (each used once): imaging-MS image · raw binned spectrum · peak list → {patches + linear projection (ViT), CNN front-end, peak-as-token (Casanovo)}. Worked answer in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(Lab 3's bonus cell touches this family).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2"/>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WHY IT CHANGES THE GAME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Why 500–800 labeled spectra can be enough</a:t>
            </a:r>
          </a:p>
        </p:txBody>
      </p:sp>
      <p:sp>
        <p:nvSpPr>
          <p:cNvPr id="5" name="TextBox 4"/>
          <p:cNvSpPr txBox="1"/>
          <p:nvPr/>
        </p:nvSpPr>
        <p:spPr>
          <a:xfrm>
            <a:off x="548640" y="1920240"/>
            <a:ext cx="10789920" cy="4815840"/>
          </a:xfrm>
          <a:prstGeom prst="rect">
            <a:avLst/>
          </a:prstGeom>
          <a:noFill/>
        </p:spPr>
        <p:txBody>
          <a:bodyPr wrap="square" anchor="t">
            <a:spAutoFit/>
          </a:bodyPr>
          <a:lstStyle/>
          <a:p>
            <a:pPr>
              <a:spcAft>
                <a:spcPts val="1800"/>
              </a:spcAft>
            </a:pPr>
            <a:r>
              <a:rPr sz="2500" b="1" i="0">
                <a:solidFill>
                  <a:srgbClr val="0E7C7B"/>
                </a:solidFill>
                <a:latin typeface="Avenir Next"/>
              </a:rPr>
              <a:t>•  </a:t>
            </a:r>
            <a:r>
              <a:rPr sz="2500" b="0" i="0">
                <a:solidFill>
                  <a:srgbClr val="1B2025"/>
                </a:solidFill>
                <a:latin typeface="Avenir Next"/>
              </a:rPr>
              <a:t>From scratch: millions of weights need a mountain of labels — hundreds of spectra land near the majority-class floor (Lecture 4's overfitting)</a:t>
            </a:r>
          </a:p>
          <a:p>
            <a:pPr>
              <a:spcAft>
                <a:spcPts val="1800"/>
              </a:spcAft>
            </a:pPr>
            <a:r>
              <a:rPr sz="2500" b="1" i="0">
                <a:solidFill>
                  <a:srgbClr val="0E7C7B"/>
                </a:solidFill>
                <a:latin typeface="Avenir Next"/>
              </a:rPr>
              <a:t>•  </a:t>
            </a:r>
            <a:r>
              <a:rPr sz="2500" b="0" i="0">
                <a:solidFill>
                  <a:srgbClr val="1B2025"/>
                </a:solidFill>
                <a:latin typeface="Avenir Next"/>
              </a:rPr>
              <a:t>Fine-tuning: the body already knows general spectral features — you only fit a SMALL head, so a few hundred labels suffice</a:t>
            </a:r>
          </a:p>
          <a:p>
            <a:pPr>
              <a:spcAft>
                <a:spcPts val="1800"/>
              </a:spcAft>
            </a:pPr>
            <a:r>
              <a:rPr sz="2500" b="1" i="0">
                <a:solidFill>
                  <a:srgbClr val="0E7C7B"/>
                </a:solidFill>
                <a:latin typeface="Avenir Next"/>
              </a:rPr>
              <a:t>•  </a:t>
            </a:r>
            <a:r>
              <a:rPr sz="2500" b="0" i="0">
                <a:solidFill>
                  <a:srgbClr val="1B2025"/>
                </a:solidFill>
                <a:latin typeface="Avenir Next"/>
              </a:rPr>
              <a:t>Smaller learning rate when fine-tuning — you're nudging good weights, not discovering them from noise</a:t>
            </a:r>
          </a:p>
          <a:p>
            <a:pPr>
              <a:spcAft>
                <a:spcPts val="1800"/>
              </a:spcAft>
            </a:pPr>
            <a:r>
              <a:rPr sz="2500" b="1" i="0">
                <a:solidFill>
                  <a:srgbClr val="0E7C7B"/>
                </a:solidFill>
                <a:latin typeface="Avenir Next"/>
              </a:rPr>
              <a:t>•  </a:t>
            </a:r>
            <a:r>
              <a:rPr sz="2500" b="0" i="0">
                <a:solidFill>
                  <a:srgbClr val="1B2025"/>
                </a:solidFill>
                <a:latin typeface="Avenir Next"/>
              </a:rPr>
              <a:t>Lab 3 makes it visible: from-scratch ≈ chance, fine-tuned ≈ far better — same data, same afternoon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YOUR TURN (YOU-DO = Q4)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call: from scratch, or fine-tune?</a:t>
            </a:r>
          </a:p>
        </p:txBody>
      </p:sp>
      <p:pic>
        <p:nvPicPr>
          <p:cNvPr id="5" name="Picture 4" descr="fig_transfer_learning.png"/>
          <p:cNvPicPr>
            <a:picLocks noChangeAspect="1"/>
          </p:cNvPicPr>
          <p:nvPr/>
        </p:nvPicPr>
        <p:blipFill>
          <a:blip r:embed="rId2"/>
          <a:stretch>
            <a:fillRect/>
          </a:stretch>
        </p:blipFill>
        <p:spPr>
          <a:xfrm>
            <a:off x="1709014" y="1828800"/>
            <a:ext cx="8743492"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8, Q4. 💬 You have 800 labeled spectra and access to a transformer pretrained on 2 million spectra. Train from scratch, or fine-tune? Give one reason. Worked answer in the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474720"/>
          </a:xfrm>
          <a:prstGeom prst="rect">
            <a:avLst/>
          </a:prstGeom>
          <a:noFill/>
        </p:spPr>
        <p:txBody>
          <a:bodyPr wrap="square" anchor="t">
            <a:spAutoFit/>
          </a:bodyPr>
          <a:lstStyle/>
          <a:p>
            <a:pPr>
              <a:spcAft>
                <a:spcPts val="1800"/>
              </a:spcAft>
            </a:pPr>
            <a:r>
              <a:rPr sz="1800" b="1" i="0">
                <a:solidFill>
                  <a:srgbClr val="0E7C7B"/>
                </a:solidFill>
                <a:latin typeface="Avenir Next"/>
              </a:rPr>
              <a:t>•  </a:t>
            </a:r>
            <a:r>
              <a:rPr sz="1800" b="0" i="0">
                <a:solidFill>
                  <a:srgbClr val="1B2025"/>
                </a:solidFill>
                <a:latin typeface="Avenir Next"/>
              </a:rPr>
              <a:t>Explain positional encoding — attention is order-blind, so add a per-position signal: sinusoidal 'clocks' (absolute) or RoPE (relative — encode the gap)</a:t>
            </a:r>
          </a:p>
          <a:p>
            <a:pPr>
              <a:spcAft>
                <a:spcPts val="1800"/>
              </a:spcAft>
            </a:pPr>
            <a:r>
              <a:rPr sz="1800" b="1" i="0">
                <a:solidFill>
                  <a:srgbClr val="0E7C7B"/>
                </a:solidFill>
                <a:latin typeface="Avenir Next"/>
              </a:rPr>
              <a:t>•  </a:t>
            </a:r>
            <a:r>
              <a:rPr sz="1800" b="0" i="0">
                <a:solidFill>
                  <a:srgbClr val="1B2025"/>
                </a:solidFill>
                <a:latin typeface="Avenir Next"/>
              </a:rPr>
              <a:t>Explain that a token's CONTEXT is a blend of the values, and that cross-attention lets a decoder read the encoder's K,V — its memory of the input (Quiz 8 Q1–Q2)</a:t>
            </a:r>
          </a:p>
          <a:p>
            <a:pPr>
              <a:spcAft>
                <a:spcPts val="1800"/>
              </a:spcAft>
            </a:pPr>
            <a:r>
              <a:rPr sz="1800" b="1" i="0">
                <a:solidFill>
                  <a:srgbClr val="0E7C7B"/>
                </a:solidFill>
                <a:latin typeface="Avenir Next"/>
              </a:rPr>
              <a:t>•  </a:t>
            </a:r>
            <a:r>
              <a:rPr sz="1800" b="0" i="0">
                <a:solidFill>
                  <a:srgbClr val="1B2025"/>
                </a:solidFill>
                <a:latin typeface="Avenir Next"/>
              </a:rPr>
              <a:t>Tell the three families apart — encoder-only reads (BERT), encoder–decoder reads→writes via cross-attention (T5/Flan-T5, Casanovo), decoder-only writes (GPT, LLaMA)</a:t>
            </a:r>
          </a:p>
          <a:p>
            <a:pPr>
              <a:spcAft>
                <a:spcPts val="1800"/>
              </a:spcAft>
            </a:pPr>
            <a:r>
              <a:rPr sz="1800" b="1" i="0">
                <a:solidFill>
                  <a:srgbClr val="0E7C7B"/>
                </a:solidFill>
                <a:latin typeface="Avenir Next"/>
              </a:rPr>
              <a:t>•  </a:t>
            </a:r>
            <a:r>
              <a:rPr sz="1800" b="0" i="0">
                <a:solidFill>
                  <a:srgbClr val="1B2025"/>
                </a:solidFill>
                <a:latin typeface="Avenir Next"/>
              </a:rPr>
              <a:t>Pick a tokenization for MS data — patches, a CNN front-end, or peak-as-token (Quiz 8 Q3) — and choose fine-tune vs. from-scratch (Quiz 8 Q4)</a:t>
            </a:r>
          </a:p>
        </p:txBody>
      </p:sp>
      <p:sp>
        <p:nvSpPr>
          <p:cNvPr id="6" name="Rectangle 5"/>
          <p:cNvSpPr/>
          <p:nvPr/>
        </p:nvSpPr>
        <p:spPr>
          <a:xfrm>
            <a:off x="548640" y="55321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8 live — context is the values (Q1), the encoder's K,V is the cross-attention context (Q2), match the tokenizations (Q3), and the fine-tune call (Q4). Keep the sheet — Lab 3 fine-tunes a real pretrained transformer next hour.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Fine-tune a pretrained transformer (DistilBERT) on a small labeled set — swap the head, freeze the body</a:t>
            </a:r>
          </a:p>
          <a:p>
            <a:pPr>
              <a:spcAft>
                <a:spcPts val="1800"/>
              </a:spcAft>
            </a:pPr>
            <a:r>
              <a:rPr sz="2300" b="1" i="0">
                <a:solidFill>
                  <a:srgbClr val="0E7C7B"/>
                </a:solidFill>
                <a:latin typeface="Avenir Next"/>
              </a:rPr>
              <a:t>•  </a:t>
            </a:r>
            <a:r>
              <a:rPr sz="2300" b="0" i="0">
                <a:solidFill>
                  <a:srgbClr val="1B2025"/>
                </a:solidFill>
                <a:latin typeface="Avenir Next"/>
              </a:rPr>
              <a:t>Run the three-way race: full fine-tune vs. frozen-body head-only vs. from scratch</a:t>
            </a:r>
          </a:p>
          <a:p>
            <a:pPr>
              <a:spcAft>
                <a:spcPts val="1800"/>
              </a:spcAft>
            </a:pPr>
            <a:r>
              <a:rPr sz="2300" b="1" i="0">
                <a:solidFill>
                  <a:srgbClr val="0E7C7B"/>
                </a:solidFill>
                <a:latin typeface="Avenir Next"/>
              </a:rPr>
              <a:t>•  </a:t>
            </a:r>
            <a:r>
              <a:rPr sz="2300" b="0" i="0">
                <a:solidFill>
                  <a:srgbClr val="1B2025"/>
                </a:solidFill>
                <a:latin typeface="Avenir Next"/>
              </a:rPr>
              <a:t>Watch from-scratch stall near chance while fine-tuning wins — on the same small data</a:t>
            </a:r>
          </a:p>
          <a:p>
            <a:pPr>
              <a:spcAft>
                <a:spcPts val="1800"/>
              </a:spcAft>
            </a:pPr>
            <a:r>
              <a:rPr sz="2300" b="1" i="0">
                <a:solidFill>
                  <a:srgbClr val="0E7C7B"/>
                </a:solidFill>
                <a:latin typeface="Avenir Next"/>
              </a:rPr>
              <a:t>•  </a:t>
            </a:r>
            <a:r>
              <a:rPr sz="2300" b="0" i="0">
                <a:solidFill>
                  <a:srgbClr val="1B2025"/>
                </a:solidFill>
                <a:latin typeface="Avenir Next"/>
              </a:rPr>
              <a:t>Bonus: the same recipe on ESM-2, a protein language model, classifying peptides</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first blank you'll fill is the classification HEAD you bolt onto a frozen pretrained body — exactly the move from the last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
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82" r:id="rId30"/>
    <p:sldId id="263" r:id="rId12"/>
    <p:sldId id="264" r:id="rId13"/>
    <p:sldId id="276" r:id="rId14"/>
    <p:sldId id="278" r:id="rId15"/>
    <p:sldId id="279" r:id="rId27"/>
    <p:sldId id="277" r:id="rId16"/>
    <p:sldId id="265" r:id="rId17"/>
    <p:sldId id="281" r:id="rId29"/>
    <p:sldId id="266" r:id="rId18"/>
    <p:sldId id="267" r:id="rId19"/>
    <p:sldId id="280" r:id="rId28"/>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5.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covered on its own slide just before this one — new VIEWS of the 41 you already have, which is the Lab 5 Track A blank, and unlike SMOTE every augmented spectrum is still something an instrument could produce. Refer back to it rather than re-explaining.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2026-09-16; retaught on a PICTURE 2026-09-17). Augmentation used to be three words on the class-weights slide. It sits HERE, straight after curation, because it is the other move that works on the DATA rather than on the training — and because the room needs the validity rule before SMOTE turns up two slides later and breaks it. WHY A MICROSCOPY IMAGE AND NOT A SPECTRUM: augmentation is a visual idea, and a ±0.1% m/z shift is invisible from the back of a room, so the concept is carried by a picture where every transform is unmistakable; the arithmetic underneath is still our real DRIAMS split, so the picture is the bridge and the spectra are the payload. It also happens to be the honest example for this audience: a cell has no canonical orientation, so rotating and flipping a smear genuinely preserves the label in a way that rotating, say, a chest film would not. DO-IT-TOGETHER, ~4 minutes. WALK THE SIX PANELS. Original, then flip, rotate 35°, zoom/crop, and dim + noise — ask the room after each one: is it still a band neutrophil? Yes, every time; the transform changed the pixels and not the truth. Then the sixth panel, and this is the one that teaches the rule: crop too aggressively and the neutrophil is simply outside the frame. Same operation, one step further, and the label is now a lie — you would be training the model to call a field of red cells a neutrophil. THE RULE, top right, and both halves matter: a transform is legitimate only if (1) your instrument could have produced it and (2) it does not change the label. THE TRANSFER, one line, say it explicitly so nobody thinks this is only about images: on spectra the same idea is m/z jitter of about ±0.1% because the mass axis drifts run to run, intensity scaling because ionisation efficiency varies, and added baseline and noise for a poorer acquisition — and never a left-right flip, because a mirrored spectrum is not something any instrument produces. THE ARITHMETIC, done together: 41 resistant spectra, 8 augmented views each, so you train on 41 × 8 = 328. Ask for the new batch imbalance before revealing it — 697 to 328, about 2.1 to 1, against the 697 to 41 ≈ 17 to 1 you started with. That is the biggest single change to effective imbalance in Part B and it costs no new data. THE TRAP, a callback to the slide you just did: augment AFTER the train/test split, never before, or eight views of one isolate scatter across both sides and the model recognises the isolate rather than resistance — the same leakage the embedding-dedup pass removed. THE HONEST FOOTER: still 41 isolates. Augmentation multiplies views, not biology, and your confidence interval is set by the 41. FORWARD POINTER: hold the validity rule, because SMOTE breaks it — a straight-line blend of two real 6000-dim spectra is NOT something an instrument could produce. ASSESSMENT (rule 3): this is the Lab 5 Track A blank — `augment`, an m/z-jitter function whose asserts check that it keeps the shape and changes the values. IMAGE CREDIT is on the figure: Bobjgalindo, 'Band neutrophil', Wikimedia Commons, CC BY-SA 4.0; the six views are produced by the course at build time from that one file.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Q3, after the last treatment (curriculum). Worked answer: (a) curation — clean the labels and drop the junk before anything fancier, then deduplicate: embed every spectrum (the CNN's last hidden layer) and treat cosine ≥ 0.99 as the same isolate, keeping one — repeats split across train and test are leakage. (b) class weights / SMOTE / oversample — make the rare class count. (c) focal loss — up-weight the hard, low-confidence cases. (d) curriculum — order easy, or class-balanced prevalence. (e) None of them. Every move re-uses the same 41 resistant spectra (reweighting shouts them louder, SMOTE interpolates between them, focal loss focuses on them, curriculum reorders them) — no new biological information enters. Only collecting more real resistant isolates adds signal.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Q4, straight after the SMOTE do-it-together. Worked answer: (a) synthetic = (2 + 0.25 2, 6 + 0.25 4) = (2 + 0.5, 6 + 1) = (2.5, 7) — a quarter of the way from A toward B. (b) A straight-line blend of two real 6,000-dimensional spectra can produce a non-physical spectrum (a peak pattern no instrument would ever record), so pair SMOTE with curation and domain augmentation (m/z jitter), or simply oversample real spectra.</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Q2, straight after 'why AUROC flatters'. The formulas it needs are restated on the slide. Worked answer: (a) FPR = 32/(32+448) = 32/480 = 0.067; TPR = 0.80 — the point (0.067, 0.80) hugs the top-left, so the ROC/AUROC looks excellent. (b) PR point =(recall 0.80, precision 0.33); PR baseline = prevalence = 20/500 = 0.04 (ROC's baseline is 0.5). (c) Trust the AUPRC / PR curve (reported with recall). At 4% prevalence the 480 true-negatives dominate, so a tiny FPR keeps AUROC flatteringly high even though precision is only 0.33 (2 of 3 flags false). AUROC is invariant to the class ratio; AUPRC collapses toward the prevalence, so it stays honest as recall grows (Saito \&amp; Rehmsmeier 2015).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dedup, augmentation, class weights, SMOTE, focal loss, curriculum</a:t>
            </a:r>
            <a:r>
              <a:rPr sz="1800" b="0" i="0">
                <a:solidFill>
                  <a:srgbClr val="8A9099"/>
                </a:solidFill>
                <a:latin typeface="Menlo"/>
              </a:rPr>
              <a:t>   · 29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A · THE METRICS IN PLAIN LANGUAGE</a:t>
            </a:r>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AUGMENTATION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Augment: more views of the data you already have</a:t>
            </a:r>
          </a:p>
        </p:txBody>
      </p:sp>
      <p:pic>
        <p:nvPicPr>
          <p:cNvPr id="7" name="Picture 4" descr="fig_augmentation.png"/>
          <p:cNvPicPr>
            <a:picLocks noChangeAspect="1"/>
          </p:cNvPicPr>
          <p:nvPr/>
        </p:nvPicPr>
        <p:blipFill>
          <a:blip r:embed="rId4"/>
          <a:stretch>
            <a:fillRect/>
          </a:stretch>
        </p:blipFill>
        <p:spPr>
          <a:xfrm>
            <a:off x="2196518" y="1828800"/>
            <a:ext cx="7798657"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One labelled image, five more of it — flip, rotate, zoom, dim, add noise; every view is still a band neutrophil. Crop too hard and the cell is gone: the label is destroyed. On spectra the same idea is m/z jitter ±0.1%, intensity ×0.9, baseline and noise. Do-it-together: 41 × 8 views = 328, so 697:41 ≈ 17:1 → 697:328 ≈ 2.1:1 — but augment AFTER the split.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3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undersampling</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undersampling throws away 656 real susceptible spectra — and none of it adds a 42nd isolate.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5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6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match treatment to symptom</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Q3. Four situations, four moves from the menu — each used once. Then the honest question: which of the four adds NEW resistant signal? Worked answer in the notes.</a:t>
            </a:r>
          </a:p>
        </p:txBody>
      </p:sp>
      <p:sp>
        <p:nvSpPr>
          <p:cNvPr id="7" name="TextBox 6"/>
          <p:cNvSpPr txBox="1"/>
          <p:nvPr/>
        </p:nvSpPr>
        <p:spPr>
          <a:xfrm>
            <a:off x="548640" y="1848800"/>
            <a:ext cx="2925040" cy="330000"/>
          </a:xfrm>
          <a:prstGeom prst="rect">
            <a:avLst/>
          </a:prstGeom>
          <a:noFill/>
        </p:spPr>
        <p:txBody>
          <a:bodyPr wrap="square" lIns="45720" rIns="45720" tIns="27432" bIns="27432" anchor="ctr">
            <a:spAutoFit/>
          </a:bodyPr>
          <a:lstStyle/>
          <a:p>
            <a:pPr algn="l">
              <a:spcAft>
                <a:spcPts val="400"/>
              </a:spcAft>
            </a:pPr>
            <a:r>
              <a:rPr sz="1400" b="1">
                <a:solidFill>
                  <a:srgbClr val="3D444C"/>
                </a:solidFill>
                <a:latin typeface="Avenir Next"/>
              </a:rPr>
              <a:t>Menu (each used once):</a:t>
            </a:r>
          </a:p>
        </p:txBody>
      </p:sp>
      <p:sp>
        <p:nvSpPr>
          <p:cNvPr id="8" name="Rounded Rectangle 7"/>
          <p:cNvSpPr/>
          <p:nvPr/>
        </p:nvSpPr>
        <p:spPr>
          <a:xfrm>
            <a:off x="3610840" y="1848800"/>
            <a:ext cx="980119"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curation</a:t>
            </a:r>
          </a:p>
        </p:txBody>
      </p:sp>
      <p:sp>
        <p:nvSpPr>
          <p:cNvPr id="9" name="Rounded Rectangle 8"/>
          <p:cNvSpPr/>
          <p:nvPr/>
        </p:nvSpPr>
        <p:spPr>
          <a:xfrm>
            <a:off x="4728119" y="1848800"/>
            <a:ext cx="3685368"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class weights / SMOTE / oversample</a:t>
            </a:r>
          </a:p>
        </p:txBody>
      </p:sp>
      <p:sp>
        <p:nvSpPr>
          <p:cNvPr id="10" name="Rounded Rectangle 9"/>
          <p:cNvSpPr/>
          <p:nvPr/>
        </p:nvSpPr>
        <p:spPr>
          <a:xfrm>
            <a:off x="8550647" y="1848800"/>
            <a:ext cx="1188215"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focal loss</a:t>
            </a:r>
          </a:p>
        </p:txBody>
      </p:sp>
      <p:sp>
        <p:nvSpPr>
          <p:cNvPr id="11" name="Rounded Rectangle 10"/>
          <p:cNvSpPr/>
          <p:nvPr/>
        </p:nvSpPr>
        <p:spPr>
          <a:xfrm>
            <a:off x="9876022" y="1848800"/>
            <a:ext cx="1188215"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curriculum</a:t>
            </a:r>
          </a:p>
        </p:txBody>
      </p:sp>
      <p:sp>
        <p:nvSpPr>
          <p:cNvPr id="12" name="TextBox 11"/>
          <p:cNvSpPr txBox="1"/>
          <p:nvPr/>
        </p:nvSpPr>
        <p:spPr>
          <a:xfrm>
            <a:off x="548640" y="2278800"/>
            <a:ext cx="10515600" cy="3100000"/>
          </a:xfrm>
          <a:prstGeom prst="rect">
            <a:avLst/>
          </a:prstGeom>
          <a:noFill/>
        </p:spPr>
        <p:txBody>
          <a:bodyPr wrap="square" lIns="45720" rIns="45720" tIns="27432" bIns="27432" anchor="t">
            <a:spAutoFit/>
          </a:bodyPr>
          <a:lstStyle/>
          <a:p>
            <a:pPr algn="l">
              <a:spcAft>
                <a:spcPts val="700"/>
              </a:spcAft>
            </a:pPr>
            <a:r>
              <a:rPr sz="1500" b="1">
                <a:solidFill>
                  <a:srgbClr val="0E7C7B"/>
                </a:solidFill>
                <a:latin typeface="Avenir Next"/>
              </a:rPr>
              <a:t>(a)  </a:t>
            </a:r>
            <a:r>
              <a:rPr sz="1500" b="0">
                <a:solidFill>
                  <a:srgbClr val="1B2025"/>
                </a:solidFill>
                <a:latin typeface="Avenir Next"/>
              </a:rPr>
              <a:t>Junk runs and mislabeled spectra contaminate the training set — and the same isolate appears three times.  →</a:t>
            </a:r>
            <a:r>
              <a:rPr sz="1500" b="1">
                <a:solidFill>
                  <a:srgbClr val="0E7C7B"/>
                </a:solidFill>
                <a:latin typeface="Avenir Next"/>
              </a:rPr>
              <a:t>  ________</a:t>
            </a:r>
          </a:p>
          <a:p>
            <a:pPr algn="l">
              <a:spcAft>
                <a:spcPts val="700"/>
              </a:spcAft>
            </a:pPr>
            <a:r>
              <a:rPr sz="1500" b="1">
                <a:solidFill>
                  <a:srgbClr val="0E7C7B"/>
                </a:solidFill>
                <a:latin typeface="Avenir Next"/>
              </a:rPr>
              <a:t>(b)  </a:t>
            </a:r>
            <a:r>
              <a:rPr sz="1500" b="0">
                <a:solidFill>
                  <a:srgbClr val="1B2025"/>
                </a:solidFill>
                <a:latin typeface="Avenir Next"/>
              </a:rPr>
              <a:t>Only 41 real resistant spectra; the model just predicts “susceptible”.  →</a:t>
            </a:r>
            <a:r>
              <a:rPr sz="1500" b="1">
                <a:solidFill>
                  <a:srgbClr val="0E7C7B"/>
                </a:solidFill>
                <a:latin typeface="Avenir Next"/>
              </a:rPr>
              <a:t>  ________</a:t>
            </a:r>
          </a:p>
          <a:p>
            <a:pPr algn="l">
              <a:spcAft>
                <a:spcPts val="700"/>
              </a:spcAft>
            </a:pPr>
            <a:r>
              <a:rPr sz="1500" b="1">
                <a:solidFill>
                  <a:srgbClr val="0E7C7B"/>
                </a:solidFill>
                <a:latin typeface="Avenir Next"/>
              </a:rPr>
              <a:t>(c)  </a:t>
            </a:r>
            <a:r>
              <a:rPr sz="1500" b="0">
                <a:solidFill>
                  <a:srgbClr val="1B2025"/>
                </a:solidFill>
                <a:latin typeface="Avenir Next"/>
              </a:rPr>
              <a:t>Easy cases are fine, but borderline isolates are missed.  →</a:t>
            </a:r>
            <a:r>
              <a:rPr sz="1500" b="1">
                <a:solidFill>
                  <a:srgbClr val="0E7C7B"/>
                </a:solidFill>
                <a:latin typeface="Avenir Next"/>
              </a:rPr>
              <a:t>  ________</a:t>
            </a:r>
          </a:p>
          <a:p>
            <a:pPr algn="l">
              <a:spcAft>
                <a:spcPts val="700"/>
              </a:spcAft>
            </a:pPr>
            <a:r>
              <a:rPr sz="1500" b="1">
                <a:solidFill>
                  <a:srgbClr val="0E7C7B"/>
                </a:solidFill>
                <a:latin typeface="Avenir Next"/>
              </a:rPr>
              <a:t>(d)  </a:t>
            </a:r>
            <a:r>
              <a:rPr sz="1500" b="0">
                <a:solidFill>
                  <a:srgbClr val="1B2025"/>
                </a:solidFill>
                <a:latin typeface="Avenir Next"/>
              </a:rPr>
              <a:t>Training is unstable when very easy and very hard batches alternate.  →</a:t>
            </a:r>
            <a:r>
              <a:rPr sz="1500" b="1">
                <a:solidFill>
                  <a:srgbClr val="0E7C7B"/>
                </a:solidFill>
                <a:latin typeface="Avenir Next"/>
              </a:rPr>
              <a:t>  ________</a:t>
            </a:r>
          </a:p>
          <a:p>
            <a:pPr algn="l">
              <a:spcAft>
                <a:spcPts val="700"/>
              </a:spcAft>
            </a:pPr>
            <a:r>
              <a:rPr sz="1500" b="1">
                <a:solidFill>
                  <a:srgbClr val="0E7C7B"/>
                </a:solidFill>
                <a:latin typeface="Avenir Next"/>
              </a:rPr>
              <a:t>(e)  </a:t>
            </a:r>
            <a:r>
              <a:rPr sz="1500" b="0">
                <a:solidFill>
                  <a:srgbClr val="1B2025"/>
                </a:solidFill>
                <a:latin typeface="Avenir Next"/>
              </a:rPr>
              <a:t>Which of these four adds NEW resistant signal to the dataset?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make one SMOTE point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Q4. Same formula, new numbers: A = (2, 6), B = (4, 10), λ = 0.25. (a) Compute the synthetic point. (b) Why is raw-spectrum SMOTE risky in 6,000 dimensions? Worked answer in the notes.</a:t>
            </a:r>
          </a:p>
        </p:txBody>
      </p:sp>
      <p:sp>
        <p:nvSpPr>
          <p:cNvPr id="7" name="Rounded Rectangle 6"/>
          <p:cNvSpPr/>
          <p:nvPr/>
        </p:nvSpPr>
        <p:spPr>
          <a:xfrm>
            <a:off x="2048640" y="1888800"/>
            <a:ext cx="7515600" cy="6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048640" y="1888800"/>
            <a:ext cx="7515600" cy="620000"/>
          </a:xfrm>
          <a:prstGeom prst="rect">
            <a:avLst/>
          </a:prstGeom>
          <a:noFill/>
        </p:spPr>
        <p:txBody>
          <a:bodyPr wrap="square" lIns="45720" rIns="45720" tIns="27432" bIns="27432" anchor="ctr">
            <a:spAutoFit/>
          </a:bodyPr>
          <a:lstStyle/>
          <a:p>
            <a:pPr algn="ctr">
              <a:spcAft>
                <a:spcPts val="400"/>
              </a:spcAft>
            </a:pPr>
            <a:r>
              <a:rPr sz="2000" b="1">
                <a:solidFill>
                  <a:srgbClr val="0E7C7B"/>
                </a:solidFill>
                <a:latin typeface="Menlo"/>
              </a:rPr>
              <a:t>synthetic  =  A  +  λ · (B − A)</a:t>
            </a:r>
          </a:p>
        </p:txBody>
      </p:sp>
      <p:sp>
        <p:nvSpPr>
          <p:cNvPr id="9" name="TextBox 8"/>
          <p:cNvSpPr txBox="1"/>
          <p:nvPr/>
        </p:nvSpPr>
        <p:spPr>
          <a:xfrm>
            <a:off x="548640" y="2648800"/>
            <a:ext cx="10515600" cy="520000"/>
          </a:xfrm>
          <a:prstGeom prst="rect">
            <a:avLst/>
          </a:prstGeom>
          <a:noFill/>
        </p:spPr>
        <p:txBody>
          <a:bodyPr wrap="square" lIns="45720" rIns="45720" tIns="27432" bIns="27432" anchor="t">
            <a:spAutoFit/>
          </a:bodyPr>
          <a:lstStyle/>
          <a:p>
            <a:pPr algn="ctr">
              <a:spcAft>
                <a:spcPts val="400"/>
              </a:spcAft>
            </a:pPr>
            <a:r>
              <a:rPr sz="1600" b="0">
                <a:solidFill>
                  <a:srgbClr val="1B2025"/>
                </a:solidFill>
                <a:latin typeface="Avenir Next"/>
              </a:rPr>
              <a:t>Two real minority points:   </a:t>
            </a:r>
            <a:r>
              <a:rPr sz="1600" b="1">
                <a:solidFill>
                  <a:srgbClr val="1B2025"/>
                </a:solidFill>
                <a:latin typeface="Menlo"/>
              </a:rPr>
              <a:t>A = (2, 6)   B = (4, 10)   λ = 0.25</a:t>
            </a:r>
          </a:p>
        </p:txBody>
      </p:sp>
      <p:sp>
        <p:nvSpPr>
          <p:cNvPr id="10" name="TextBox 9"/>
          <p:cNvSpPr txBox="1"/>
          <p:nvPr/>
        </p:nvSpPr>
        <p:spPr>
          <a:xfrm>
            <a:off x="548640" y="3288800"/>
            <a:ext cx="10515600" cy="19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synthetic = ( 2 + 0.25·(4 − 2),  6 + 0.25·(10 − 6) )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why is raw-spectrum SMOTE risky in 6,000 dimensions?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AUROC or AUPRC for this screen?</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Q2. Same screen, 4% prevalence. Place its one operating point on the ROC and on the PR curve, then decide which area to report across all thresholds — and why. Worked answer in the notes.</a:t>
            </a:r>
          </a:p>
        </p:txBody>
      </p:sp>
      <p:sp>
        <p:nvSpPr>
          <p:cNvPr id="7" name="Rounded Rectangle 6"/>
          <p:cNvSpPr/>
          <p:nvPr/>
        </p:nvSpPr>
        <p:spPr>
          <a:xfrm>
            <a:off x="548640" y="1868800"/>
            <a:ext cx="10515600" cy="106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10332720" cy="1040000"/>
          </a:xfrm>
          <a:prstGeom prst="rect">
            <a:avLst/>
          </a:prstGeom>
          <a:noFill/>
        </p:spPr>
        <p:txBody>
          <a:bodyPr wrap="square" lIns="45720" rIns="45720" tIns="27432" bIns="27432" anchor="t">
            <a:spAutoFit/>
          </a:bodyPr>
          <a:lstStyle/>
          <a:p>
            <a:pPr algn="l">
              <a:spcAft>
                <a:spcPts val="300"/>
              </a:spcAft>
            </a:pPr>
            <a:r>
              <a:rPr sz="1500" b="1">
                <a:solidFill>
                  <a:srgbClr val="1B2025"/>
                </a:solidFill>
                <a:latin typeface="Avenir Next"/>
              </a:rPr>
              <a:t>Same screen:  </a:t>
            </a:r>
            <a:r>
              <a:rPr sz="1500" b="0">
                <a:solidFill>
                  <a:srgbClr val="1B2025"/>
                </a:solidFill>
                <a:latin typeface="Menlo"/>
              </a:rPr>
              <a:t>TP = 16   FN = 4   FP = 32   TN = 448</a:t>
            </a:r>
            <a:r>
              <a:rPr sz="1500" b="0">
                <a:solidFill>
                  <a:srgbClr val="3D444C"/>
                </a:solidFill>
                <a:latin typeface="Avenir Next"/>
              </a:rPr>
              <a:t>   ·   rare positives: 20 of 500 = 4% prevalence</a:t>
            </a:r>
          </a:p>
          <a:p>
            <a:pPr algn="l">
              <a:spcAft>
                <a:spcPts val="300"/>
              </a:spcAft>
            </a:pPr>
            <a:r>
              <a:rPr sz="1400" b="0">
                <a:solidFill>
                  <a:srgbClr val="0E7C7B"/>
                </a:solidFill>
                <a:latin typeface="Menlo"/>
              </a:rPr>
              <a:t>FPR = FP / (FP + TN)     TPR = recall = TP / (TP + FN)     precision = TP / (TP + FP)</a:t>
            </a:r>
          </a:p>
          <a:p>
            <a:pPr algn="l">
              <a:spcAft>
                <a:spcPts val="300"/>
              </a:spcAft>
            </a:pPr>
            <a:r>
              <a:rPr sz="1400" b="0">
                <a:solidFill>
                  <a:srgbClr val="3D444C"/>
                </a:solidFill>
                <a:latin typeface="Avenir Next"/>
              </a:rPr>
              <a:t>the PR curve’s chance baseline sits at the prevalence (ROC’s sits at 0.5)</a:t>
            </a:r>
          </a:p>
        </p:txBody>
      </p:sp>
      <p:sp>
        <p:nvSpPr>
          <p:cNvPr id="9" name="TextBox 8"/>
          <p:cNvSpPr txBox="1"/>
          <p:nvPr/>
        </p:nvSpPr>
        <p:spPr>
          <a:xfrm>
            <a:off x="548640" y="3028800"/>
            <a:ext cx="10515600" cy="2300000"/>
          </a:xfrm>
          <a:prstGeom prst="rect">
            <a:avLst/>
          </a:prstGeom>
          <a:noFill/>
        </p:spPr>
        <p:txBody>
          <a:bodyPr wrap="square" lIns="45720" rIns="45720" tIns="27432" bIns="27432" anchor="t">
            <a:spAutoFit/>
          </a:bodyPr>
          <a:lstStyle/>
          <a:p>
            <a:pPr algn="l">
              <a:spcAft>
                <a:spcPts val="1000"/>
              </a:spcAft>
            </a:pPr>
            <a:r>
              <a:rPr sz="1600" b="1">
                <a:solidFill>
                  <a:srgbClr val="0E7C7B"/>
                </a:solidFill>
                <a:latin typeface="Avenir Next"/>
              </a:rPr>
              <a:t>(a)  </a:t>
            </a:r>
            <a:r>
              <a:rPr sz="1600" b="0">
                <a:solidFill>
                  <a:srgbClr val="1B2025"/>
                </a:solidFill>
                <a:latin typeface="Avenir Next"/>
              </a:rPr>
              <a:t>ROC point:  FPR = 32 / (32 + 448) =</a:t>
            </a:r>
            <a:r>
              <a:rPr sz="1600" b="1">
                <a:solidFill>
                  <a:srgbClr val="0E7C7B"/>
                </a:solidFill>
                <a:latin typeface="Avenir Next"/>
              </a:rPr>
              <a:t>  ________</a:t>
            </a:r>
            <a:r>
              <a:rPr sz="1600" b="0">
                <a:solidFill>
                  <a:srgbClr val="1B2025"/>
                </a:solidFill>
                <a:latin typeface="Avenir Next"/>
              </a:rPr>
              <a:t>     TPR (recall) =  ________  — does it hug the top-left corner?  ________</a:t>
            </a:r>
          </a:p>
          <a:p>
            <a:pPr algn="l">
              <a:spcAft>
                <a:spcPts val="1000"/>
              </a:spcAft>
            </a:pPr>
            <a:r>
              <a:rPr sz="1600" b="1">
                <a:solidFill>
                  <a:srgbClr val="0E7C7B"/>
                </a:solidFill>
                <a:latin typeface="Avenir Next"/>
              </a:rPr>
              <a:t>(b)  </a:t>
            </a:r>
            <a:r>
              <a:rPr sz="1600" b="0">
                <a:solidFill>
                  <a:srgbClr val="1B2025"/>
                </a:solidFill>
                <a:latin typeface="Avenir Next"/>
              </a:rPr>
              <a:t>PR point:  recall =</a:t>
            </a:r>
            <a:r>
              <a:rPr sz="1600" b="1">
                <a:solidFill>
                  <a:srgbClr val="0E7C7B"/>
                </a:solidFill>
                <a:latin typeface="Avenir Next"/>
              </a:rPr>
              <a:t>  ________</a:t>
            </a:r>
            <a:r>
              <a:rPr sz="1600" b="0">
                <a:solidFill>
                  <a:srgbClr val="1B2025"/>
                </a:solidFill>
                <a:latin typeface="Avenir Next"/>
              </a:rPr>
              <a:t>     precision =  ________     chance baseline = prevalence =  ________</a:t>
            </a:r>
          </a:p>
          <a:p>
            <a:pPr algn="l">
              <a:spcAft>
                <a:spcPts val="1000"/>
              </a:spcAft>
            </a:pPr>
            <a:r>
              <a:rPr sz="1600" b="1">
                <a:solidFill>
                  <a:srgbClr val="0E7C7B"/>
                </a:solidFill>
                <a:latin typeface="Avenir Next"/>
              </a:rPr>
              <a:t>(c)  </a:t>
            </a:r>
            <a:r>
              <a:rPr sz="1600" b="0">
                <a:solidFill>
                  <a:srgbClr val="1B2025"/>
                </a:solidFill>
                <a:latin typeface="Avenir Next"/>
              </a:rPr>
              <a:t>To report this screen across ALL thresholds, would you trust the AUROC or the AUPRC (PR curve) — and why?</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
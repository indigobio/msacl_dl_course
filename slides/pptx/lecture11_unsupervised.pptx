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the two latent pictures (Q1), the four-way paradigm match (Q2), the reconstruction-error compute (Q3), and the DINO/contrastive safe-vs-corrupt augmentation call (Q4). Lab 4 next hour builds a VAE on real spectra, so everything here is the on-ramp.</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the rest are read-the-picture you-dos.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Q3 (the same MSE-then-threshold skill, new numbers; this is the hour's compute beat and it assesses the reconstruction-error outcome). Work it exactly: bin 1, 0.1 − 0.1 = 0, squared 0; bin 2, 0.8 − 0.5 = 0.3, squared 0.09; bin 3, 0.2 − 0.2 = 0, squared 0. Sum of squared errors = 0.09; MSE = 0.09 / 3 = 0.03. Decision against the stated threshold 0.01: 0.03 &gt; 0.01 → ANOMALY, flag the run. Every number is exact and identical to the Quiz 11 Q3 figure and answer key. Contrast it with the I-do: same formula, but this run's single big mismatch (0.8 measured vs 0.5 rebuilt) pushes the error over the line. Take the MSE from the floor, confirm the call,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 payoff and the clearest proof the cloud is smooth. Take two real spectra, A and B; encode each to its latent code; then walk a straight line between those two codes and decode a handful of stops along the way. The decoded spectra MORPH continuously — peaks slide in m/z and trade height as you move from A to B — a smooth interpolation, not an abrupt switch. The teaching point: this is only possible because the VAE's latent cloud is gap-free, so every intermediate point on the line is a valid, plausible spectrum. Try the same walk in a plain autoencoder's latent space and somewhere in the middle you cross an empty gap the decoder was never trained on, and out comes garbage. This is exactly the Lab 4 "fun payoff" cell — sample latent points and interpolate between two spectra — so it's a direct preview. Next slide the room makes the AE-vs-VAE identification itself (Quiz 11 Q1).</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Q1 (tell an AE latent from a VAE latent in a picture — the VAE outcome, assessed). Answer: PICTURE B is the VAE. One-sentence justification (any equivalent): B is one smooth, organized, gap-free cloud where every point decodes to a plausible spectrum, whereas Picture A is scattered islands with big empty gaps that would decode to garbage — the autoencoder. Run the 💬 pair prompt from the outcomes: which map would you trust to flag a NOVEL contaminant? The VAE cloud (B) — a genuinely new spectrum lands OUTSIDE the tidy cloud (high reconstruction error, easy to flag), while the AE's gaps make "far from training data" ambiguous. Both pictures are reproduced verbatim on the Quiz 11 sheet, so the room answers straight off this slide. Take one answer with its reason, then have them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chart the Q2 four-way match is answerable from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matches four scenarios off this same chart next slide (Quiz 11 Q2).</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Q2 (match four lab scenarios to the four paradigms; each used once). Straight off the chart: (a) 3,000 spectra each carrying an S/R label, train a classifier → SUPERVISED (labels in hand, learn input→label). (b) 50,000 unlabeled QC runs, flag the abnormal ones → UNSUPERVISED (no labels; an autoencoder's reconstruction error scores anomalies — today's first half). (c) pretrain on millions of UNLABELED spectra by masking peaks and predicting them, then fine-tune on your few labels → SELF-SUPERVISED (the data labels itself via a pretext task). (d) 100 labeled + 10,000 unlabeled, use the model to label the rest and retrain → SEMI-SUPERVISED (pseudo-labeling, the middle path). Each paradigm used exactly once; identical to the Quiz 11 Q2 key. Take one match from the floor, confirm against the chart, then have them fill Q2 — that's all four Quiz 11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11 outcomes, each already exercised this hour and tied to a Quiz 11 item: the autoencoder + reconstruction-error compute (Q3), the AE-vs-VAE latent picture (Q1), the four-paradigm match (Q2), and the self-supervised safe-vs-corrupt augmentation decide (Q4). The sheet was done across the hour, not as an end block — a distributed worksheet. Frame the takeaway: most lab data is unlabeled, and you now have a menu for it — reconstruct to denoise or flag anomalies, learn a smooth latent to sample and interpolate, let the data label itself to pretrain a body, or bridge a few labels to many with pseudo-labeling. Keep the sheet as the on-ramp to Lab 4.</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Autoencoders — compress → reconstruct; reconstruction error as an anomaly / QC score</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VAEs, intuitively — points vs. clouds; sample and interpolate; tell an AE latent from a VAE latent</a:t>
            </a:r>
            <a:r>
              <a:rPr sz="2100" b="0" i="0">
                <a:solidFill>
                  <a:srgbClr val="8A9099"/>
                </a:solidFill>
                <a:latin typeface="Menlo"/>
              </a:rPr>
              <a:t>   · 16 min</a:t>
            </a:r>
          </a:p>
          <a:p>
            <a:pPr>
              <a:spcAft>
                <a:spcPts val="1800"/>
              </a:spcAft>
            </a:pPr>
            <a:r>
              <a:rPr sz="2600" b="1" i="0">
                <a:solidFill>
                  <a:srgbClr val="0E7C7B"/>
                </a:solidFill>
                <a:latin typeface="Avenir Next"/>
              </a:rPr>
              <a:t>•  </a:t>
            </a:r>
            <a:r>
              <a:rPr sz="2600" b="0" i="0">
                <a:solidFill>
                  <a:srgbClr val="1B2025"/>
                </a:solidFill>
                <a:latin typeface="Avenir Next"/>
              </a:rPr>
              <a:t>Self-supervised — the data labels itself: masking (BERT), contrastive, DINO</a:t>
            </a:r>
            <a:r>
              <a:rPr sz="2100" b="0" i="0">
                <a:solidFill>
                  <a:srgbClr val="8A9099"/>
                </a:solidFill>
                <a:latin typeface="Menlo"/>
              </a:rPr>
              <a:t>   · 17 min</a:t>
            </a:r>
          </a:p>
          <a:p>
            <a:pPr>
              <a:spcAft>
                <a:spcPts val="1800"/>
              </a:spcAft>
            </a:pPr>
            <a:r>
              <a:rPr sz="2600" b="1" i="0">
                <a:solidFill>
                  <a:srgbClr val="0E7C7B"/>
                </a:solidFill>
                <a:latin typeface="Avenir Next"/>
              </a:rPr>
              <a:t>•  </a:t>
            </a:r>
            <a:r>
              <a:rPr sz="2600" b="0" i="0">
                <a:solidFill>
                  <a:srgbClr val="1B2025"/>
                </a:solidFill>
                <a:latin typeface="Avenir Next"/>
              </a:rPr>
              <a:t>Semi-supervised in one slide — pseudo-labeling, the 10,000 + 100 middle path; then Quiz 11</a:t>
            </a:r>
            <a:r>
              <a:rPr sz="2100" b="0" i="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2"/>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2"/>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AS A QC ALARM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Rebuild it badly → flag it</a:t>
            </a:r>
          </a:p>
        </p:txBody>
      </p:sp>
      <p:pic>
        <p:nvPicPr>
          <p:cNvPr id="5" name="Picture 4" descr="fig_anomaly_overlay.png"/>
          <p:cNvPicPr>
            <a:picLocks noChangeAspect="1"/>
          </p:cNvPicPr>
          <p:nvPr/>
        </p:nvPicPr>
        <p:blipFill>
          <a:blip r:embed="rId2"/>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2"/>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compute the error, make the call</a:t>
            </a:r>
          </a:p>
        </p:txBody>
      </p:sp>
      <p:pic>
        <p:nvPicPr>
          <p:cNvPr id="5" name="Picture 4" descr="fig_recon_error_youdo.png"/>
          <p:cNvPicPr>
            <a:picLocks noChangeAspect="1"/>
          </p:cNvPicPr>
          <p:nvPr/>
        </p:nvPicPr>
        <p:blipFill>
          <a:blip r:embed="rId2"/>
          <a:stretch>
            <a:fillRect/>
          </a:stretch>
        </p:blipFill>
        <p:spPr>
          <a:xfrm>
            <a:off x="1820259" y="1828800"/>
            <a:ext cx="8521002" cy="3877055"/>
          </a:xfrm>
          <a:prstGeom prst="rect">
            <a:avLst/>
          </a:prstGeom>
        </p:spPr>
      </p:pic>
      <p:sp>
        <p:nvSpPr>
          <p:cNvPr id="6" name="Rectangle 5"/>
          <p:cNvSpPr/>
          <p:nvPr/>
        </p:nvSpPr>
        <p:spPr>
          <a:xfrm>
            <a:off x="548640" y="5797295"/>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Q3. Same formula, new numbers: x = (0.1, 0.8, 0.2), x̂ = (0.1, 0.5, 0.2), threshold 0.01. Compute each squared error, then the MSE, then decide: normal or anomaly? Worked answer in the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2"/>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2"/>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INTERPOLATION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Walk a line → one spectrum morphs into another</a:t>
            </a:r>
          </a:p>
        </p:txBody>
      </p:sp>
      <p:pic>
        <p:nvPicPr>
          <p:cNvPr id="5" name="Picture 4" descr="fig_latent_interp.png"/>
          <p:cNvPicPr>
            <a:picLocks noChangeAspect="1"/>
          </p:cNvPicPr>
          <p:nvPr/>
        </p:nvPicPr>
        <p:blipFill>
          <a:blip r:embed="rId2"/>
          <a:stretch>
            <a:fillRect/>
          </a:stretch>
        </p:blipFill>
        <p:spPr>
          <a:xfrm>
            <a:off x="3050827" y="1828800"/>
            <a:ext cx="605986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Pick two real spectra, A and B, find their latent codes, and walk a straight line between them. Decoding each stop gives a smooth MORPH — peaks slide and swap height from A into B. This only works because the VAE cloud is gap-free: every stop on the line is a valid, plausible spectrum. An AE's gaps would decode to garbage partway across.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picture is the VAE?</a:t>
            </a:r>
          </a:p>
        </p:txBody>
      </p:sp>
      <p:pic>
        <p:nvPicPr>
          <p:cNvPr id="5" name="Picture 4" descr="fig_latent_ab_quiz.png"/>
          <p:cNvPicPr>
            <a:picLocks noChangeAspect="1"/>
          </p:cNvPicPr>
          <p:nvPr/>
        </p:nvPicPr>
        <p:blipFill>
          <a:blip r:embed="rId2"/>
          <a:stretch>
            <a:fillRect/>
          </a:stretch>
        </p:blipFill>
        <p:spPr>
          <a:xfrm>
            <a:off x="1963667" y="1828800"/>
            <a:ext cx="8234186"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Q1. Two latent maps of the same spectra. Which one is the VAE — and justify in ONE sentence. 💬 With your neighbor: which map would you trust to flag a NOVEL contaminant, and why? Worked answer in the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MASKING (BERT)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Masking: hide a piece, predict it</a:t>
            </a:r>
          </a:p>
        </p:txBody>
      </p:sp>
      <p:pic>
        <p:nvPicPr>
          <p:cNvPr id="5" name="Picture 4" descr="fig_masking.png"/>
          <p:cNvPicPr>
            <a:picLocks noChangeAspect="1"/>
          </p:cNvPicPr>
          <p:nvPr/>
        </p:nvPicPr>
        <p:blipFill>
          <a:blip r:embed="rId2"/>
          <a:stretch>
            <a:fillRect/>
          </a:stretch>
        </p:blipFill>
        <p:spPr>
          <a:xfrm>
            <a:off x="1587012" y="1828800"/>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Contrastive: two views should land together</a:t>
            </a:r>
          </a:p>
        </p:txBody>
      </p:sp>
      <p:pic>
        <p:nvPicPr>
          <p:cNvPr id="5" name="Picture 4" descr="fig_contrastive.png"/>
          <p:cNvPicPr>
            <a:picLocks noChangeAspect="1"/>
          </p:cNvPicPr>
          <p:nvPr/>
        </p:nvPicPr>
        <p:blipFill>
          <a:blip r:embed="rId2"/>
          <a:stretch>
            <a:fillRect/>
          </a:stretch>
        </p:blipFill>
        <p:spPr>
          <a:xfrm>
            <a:off x="1922167" y="1828800"/>
            <a:ext cx="831718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2"/>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2"/>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2"/>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2"/>
          <a:stretch>
            <a:fillRect/>
          </a:stretch>
        </p:blipFill>
        <p:spPr>
          <a:xfrm>
            <a:off x="2612872" y="182880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Match the DATA YOU HAVE to a paradigm. SUPERVISED: many labeled → learn input→label. UNSUPERVISED: no labels → find structure / score anomalies (autoencoder QC). SELF-SUPERVISED: no labels, the data labels itself → pretext task pretrains a body (mask &amp; predict). SEMI-SUPERVISED: few labeled + many unlabeled → pseudo-label the rest.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match four scenarios</a:t>
            </a:r>
          </a:p>
        </p:txBody>
      </p:sp>
      <p:pic>
        <p:nvPicPr>
          <p:cNvPr id="5" name="Picture 4" descr="fig_paradigm_youdo.png"/>
          <p:cNvPicPr>
            <a:picLocks noChangeAspect="1"/>
          </p:cNvPicPr>
          <p:nvPr/>
        </p:nvPicPr>
        <p:blipFill>
          <a:blip r:embed="rId2"/>
          <a:stretch>
            <a:fillRect/>
          </a:stretch>
        </p:blipFill>
        <p:spPr>
          <a:xfrm>
            <a:off x="2612872" y="1828800"/>
            <a:ext cx="693577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Q2. Match each scenario to ONE paradigm (each used once): (a) 3,000 spectra each labeled S/R, train a classifier; (b) 50,000 unlabeled runs, flag the abnormal ones; (c) pretrain on millions of unlabeled spectra by masking peaks, then fine-tune; (d) 100 labeled + 10,000 unlabeled, label the rest and retrain. Worked answer in the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611880"/>
          </a:xfrm>
          <a:prstGeom prst="rect">
            <a:avLst/>
          </a:prstGeom>
          <a:noFill/>
        </p:spPr>
        <p:txBody>
          <a:bodyPr wrap="square" anchor="t">
            <a:spAutoFit/>
          </a:bodyPr>
          <a:lstStyle/>
          <a:p>
            <a:pPr>
              <a:spcAft>
                <a:spcPts val="1800"/>
              </a:spcAft>
            </a:pPr>
            <a:r>
              <a:rPr sz="1900" b="1" i="0">
                <a:solidFill>
                  <a:srgbClr val="0E7C7B"/>
                </a:solidFill>
                <a:latin typeface="Avenir Next"/>
              </a:rPr>
              <a:t>•  </a:t>
            </a:r>
            <a:r>
              <a:rPr sz="1900" b="0" i="0">
                <a:solidFill>
                  <a:srgbClr val="1B2025"/>
                </a:solidFill>
                <a:latin typeface="Avenir Next"/>
              </a:rPr>
              <a:t>Explain an autoencoder (compress → reconstruct) and its uses: denoising, dimensionality reduction, anomaly/QC detection</a:t>
            </a:r>
          </a:p>
          <a:p>
            <a:pPr>
              <a:spcAft>
                <a:spcPts val="1800"/>
              </a:spcAft>
            </a:pPr>
            <a:r>
              <a:rPr sz="1900" b="1" i="0">
                <a:solidFill>
                  <a:srgbClr val="0E7C7B"/>
                </a:solidFill>
                <a:latin typeface="Avenir Next"/>
              </a:rPr>
              <a:t>•  </a:t>
            </a:r>
            <a:r>
              <a:rPr sz="1900" b="0" i="0">
                <a:solidFill>
                  <a:srgbClr val="1B2025"/>
                </a:solidFill>
                <a:latin typeface="Avenir Next"/>
              </a:rPr>
              <a:t>Compute a reconstruction error (MSE) and turn it into a normal-vs-anomaly QC call against a threshold (Quiz 11 Q3)</a:t>
            </a:r>
          </a:p>
          <a:p>
            <a:pPr>
              <a:spcAft>
                <a:spcPts val="1800"/>
              </a:spcAft>
            </a:pPr>
            <a:r>
              <a:rPr sz="1900" b="1" i="0">
                <a:solidFill>
                  <a:srgbClr val="0E7C7B"/>
                </a:solidFill>
                <a:latin typeface="Avenir Next"/>
              </a:rPr>
              <a:t>•  </a:t>
            </a:r>
            <a:r>
              <a:rPr sz="1900" b="0" i="0">
                <a:solidFill>
                  <a:srgbClr val="1B2025"/>
                </a:solidFill>
                <a:latin typeface="Avenir Next"/>
              </a:rPr>
              <a:t>Tell an AE latent from a VAE latent in a picture, and say why a VAE can sample and interpolate (Quiz 11 Q1)</a:t>
            </a:r>
          </a:p>
          <a:p>
            <a:pPr>
              <a:spcAft>
                <a:spcPts val="1800"/>
              </a:spcAft>
            </a:pPr>
            <a:r>
              <a:rPr sz="1900" b="1" i="0">
                <a:solidFill>
                  <a:srgbClr val="0E7C7B"/>
                </a:solidFill>
                <a:latin typeface="Avenir Next"/>
              </a:rPr>
              <a:t>•  </a:t>
            </a:r>
            <a:r>
              <a:rPr sz="1900" b="0" i="0">
                <a:solidFill>
                  <a:srgbClr val="1B2025"/>
                </a:solidFill>
                <a:latin typeface="Avenir Next"/>
              </a:rPr>
              <a:t>Name the four paradigms, and spot which augmentation would corrupt self-supervised pretraining — augmentations must preserve the biology (Quiz 11 Q2 &amp; Q4)</a:t>
            </a:r>
          </a:p>
        </p:txBody>
      </p:sp>
      <p:sp>
        <p:nvSpPr>
          <p:cNvPr id="6" name="Rectangle 5"/>
          <p:cNvSpPr/>
          <p:nvPr/>
        </p:nvSpPr>
        <p:spPr>
          <a:xfrm>
            <a:off x="548640" y="55839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11 live — the reconstruction-error compute (Q3), the two latent pictures (Q1), the four-way paradigm match (Q2), and the safe-vs-corrupt augmentation call (Q4). Keep the sheet — Lab 4 builds a VAE on real spectra.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
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86" r:id="rId31"/>
    <p:sldId id="265" r:id="rId11"/>
    <p:sldId id="278" r:id="rId12"/>
    <p:sldId id="279" r:id="rId13"/>
    <p:sldId id="267" r:id="rId14"/>
    <p:sldId id="268" r:id="rId15"/>
    <p:sldId id="269" r:id="rId16"/>
    <p:sldId id="270" r:id="rId17"/>
    <p:sldId id="285" r:id="rId30"/>
    <p:sldId id="272" r:id="rId18"/>
    <p:sldId id="273" r:id="rId19"/>
    <p:sldId id="284" r:id="rId29"/>
    <p:sldId id="281" r:id="rId20"/>
    <p:sldId id="282" r:id="rId21"/>
    <p:sldId id="283" r:id="rId28"/>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five items and we hit all five live — context is the values (Q1), the encoder's K,V is the cross-attention context (Q2), match data to a tokenization strategy (Q3), the fine-tune-vs-scratch call (Q4), and one diffusion step in the primer that closes the hour (Q5).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Q3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you-do for the diffusion mechanic — the same two steps as the I-do with new numbers, and it IS Quiz 8 Q5, so point at the sheet and give them two minutes. GIVEN: clean patch x₀ = (1, −1, 0.5, 0), the noise actually added ε = (0, 0.5, −0.5, 1), the model's guess ε̂ = (0.2, 0.4, −0.3, 0.7), at the same noise level as the I-do (√ᾱ = 0.8, √(1−ᾱ) = 0.6). STEP 1, make the noisy patch element by element with x_t = 0.8·x₀ + 0.6·ε: 0.8(1)+0.6(0) = 0.8; 0.8(−1)+0.6(0.5) = −0.8+0.3 = −0.5; 0.8(0.5)+0.6(−0.5) = 0.4−0.3 = 0.1; 0.8(0)+0.6(1) = 0.6. So x_t = (0.8, −0.5, 0.1, 0.6). STEP 2, score the guess: the errors are ε̂ − ε = (0.2, −0.1, 0.2, −0.3), the squares are 0.04, 0.01, 0.04, 0.09, their sum is 0.18, and MSE = 0.18/4 = 0.045. Those are exactly the Quiz 8 Q5 answers for (a) and (b), so they can fill both straight off this slide. Q5(c) is the one-liner to take out loud — which HALF of diffusion is LEARNED? REMOVING the noise. Adding it is a fixed recipe with no weights in it at all, so the network's only job is to predict (and therefore subtract) the noise; and because we ADDED that noise ourselves we already know the right answer, which is why no human labels are needed. Close by naming the payoff: the line behind this arithmetic, loss = F.mse_loss(noise_pred, noise), is Blank 2 of Lab 3 word for word.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8 Q4, straight after the borrow-a-body I-do. Worked answer: (a) Fine-tune — freeze the pretrained body, bolt on a small new classification head, and train mostly that head on the 800 labels (optionally unfreeze a little of the top with a much smaller learning rate). (b) 800 labels are far too few to train a transformer's millions of weights from scratch — it would overfit or collapse toward the majority class — whereas the pretrained body already learned general spectral features from the 2 million spectra, so you only need to fit a small head, which 800 labels can do well. (Either reason earns full credit.)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8 Q3, straight after the decision chart. Worked answer: (a) Patches + linear projection (ViT-style) — a 2D image is cut into equal patches, each projected to a token vector. (b) CNN front-end — a dense, evenly-sampled 1D signal is best condensed by a small 1D CNN that emits token embeddings (local peak-shape detection first, then the transformer mixes globally). (c) Peak-as-token — a sparse peak list is already a natural set of tokens; each peak becomes one token carrying its m/z and intensity, exactly how Casanovo reads a spectrum.</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8 Q1 and Q2, both problems on the slide. Q1 worked answer: (a) The value. The query and keys only decide how much of each token to take; the values are the content that is actually blended into the output, so the “context” a token ends up with is a weighted sum of values. (b) Peak 2 — its weight 0.7 is larger than all the others combined, so it dominates the blend. Weights are just the mixing proportions.  Q2 worked answer: (a) Computed once and held fixed for the whole decode — it is the model's context / memory of the spectrum. Every residue the decoder writes queries the same encoder K,V, which is how each output token can look back at the whole spectrum. (b) The remaining residues would be sequenced against the wrong spectrum, giving a wrong / incoherent peptide — because the encoder's K,V is the context the output is grounded in. Change the context and you change what the decoder is “reading.”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989328"/>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810512"/>
            <a:ext cx="10789920" cy="5001768"/>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sz="1300" b="1" i="0">
                <a:solidFill>
                  <a:srgbClr val="8A9099"/>
                </a:solidFill>
                <a:latin typeface="Menlo"/>
              </a:rPr>
              <a:t>ENCODER + DECODER · ZOOMED IN</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is next → Quiz 8, Q1–Q2. which of Q/K/V carries the content? · is the encoder's K,V fixed or recomputed each step — and what if you swap in a different spectrum's K,V halfway through?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sz="1300" b="1" i="0">
                <a:solidFill>
                  <a:srgbClr val="8A9099"/>
                </a:solidFill>
                <a:latin typeface="Menlo"/>
              </a:rPr>
              <a:t>ENCODER + DECODER · STEP BY STEP · 1 OF 2</a:t>
            </a:r>
          </a:p>
        </p:txBody>
      </p:sp>
      <p:sp>
        <p:nvSpPr>
          <p:cNvPr id="6" name="TextBox 5"/>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1 (jalammar.github.io/illustrated-transformer/) · © the author; all rights reserved, not for redistribution</a:t>
            </a:r>
          </a:p>
        </p:txBody>
      </p:sp>
    </p:spTree>
    <p:extLst>
      <p:ext uri="{BB962C8B-B14F-4D97-AF65-F5344CB8AC3E}">
        <p14:creationId xmlns:p14="http://schemas.microsoft.com/office/powerpoint/2010/main" val="3676425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sz="1300" b="1" i="0">
                <a:solidFill>
                  <a:srgbClr val="8A9099"/>
                </a:solidFill>
                <a:latin typeface="Menlo"/>
              </a:rPr>
              <a:t>ENCODER + DECODER · STEP BY STEP · 2 OF 2</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
        <p:nvSpPr>
          <p:cNvPr id="8" name="TextBox 7"/>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2: the encoder’s K/V feed every decoder step (jalammar.github.io/illustrated-transformer/) · © the author; all rights reserved, not for redistribution</a:t>
            </a:r>
          </a:p>
        </p:txBody>
      </p:sp>
    </p:spTree>
    <p:extLst>
      <p:ext uri="{BB962C8B-B14F-4D97-AF65-F5344CB8AC3E}">
        <p14:creationId xmlns:p14="http://schemas.microsoft.com/office/powerpoint/2010/main" val="126534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654048"/>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Q3: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925157"/>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3 OF 3 · YOUR TURN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one diffusion step, new numbers</a:t>
            </a:r>
          </a:p>
        </p:txBody>
      </p:sp>
      <p:pic>
        <p:nvPicPr>
          <p:cNvPr id="7" name="Picture 6" descr="fig_diffusion_youdo.png"/>
          <p:cNvPicPr>
            <a:picLocks noChangeAspect="1"/>
          </p:cNvPicPr>
          <p:nvPr/>
        </p:nvPicPr>
        <p:blipFill>
          <a:blip r:embed="rId2"/>
          <a:stretch>
            <a:fillRect/>
          </a:stretch>
        </p:blipFill>
        <p:spPr>
          <a:xfrm>
            <a:off x="2286000" y="1828800"/>
            <a:ext cx="7616952"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Your turn → Quiz 8, Q5. Clean patch x₀ = (1, −1, 0.5, 0); the noise you added ε = (0, 0.5, −0.5, 1); the model's guess ε̂ = (0.2, 0.4, −0.3, 0.7); same noise level, √ᾱ = 0.8 and √(1−ᾱ) = 0.6. (a) Fill in x_t = 0.8·x₀ + 0.6·ε. (b) Score the guess with MSE.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fine-tune, or train from scratch?</a:t>
            </a:r>
          </a:p>
        </p:txBody>
      </p:sp>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8, Q4. 800 labeled spectra, and a transformer someone pretrained on 2 million spectra. Train from scratch, or fine-tune — and in one sentence, why? Worked answer in the notes.</a:t>
            </a:r>
          </a:p>
        </p:txBody>
      </p:sp>
      <p:sp>
        <p:nvSpPr>
          <p:cNvPr id="7" name="Rounded Rectangle 6"/>
          <p:cNvSpPr/>
          <p:nvPr/>
        </p:nvSpPr>
        <p:spPr>
          <a:xfrm>
            <a:off x="548640" y="1888800"/>
            <a:ext cx="5143500" cy="115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888800"/>
            <a:ext cx="4960620" cy="1150000"/>
          </a:xfrm>
          <a:prstGeom prst="rect">
            <a:avLst/>
          </a:prstGeom>
          <a:noFill/>
        </p:spPr>
        <p:txBody>
          <a:bodyPr wrap="square" lIns="45720" rIns="45720" tIns="27432" bIns="27432" anchor="ctr">
            <a:spAutoFit/>
          </a:bodyPr>
          <a:lstStyle/>
          <a:p>
            <a:pPr algn="ctr">
              <a:spcAft>
                <a:spcPts val="400"/>
              </a:spcAft>
            </a:pPr>
            <a:r>
              <a:rPr sz="1500" b="1">
                <a:solidFill>
                  <a:srgbClr val="3D444C"/>
                </a:solidFill>
                <a:latin typeface="Avenir Next"/>
              </a:rPr>
              <a:t>You have</a:t>
            </a:r>
          </a:p>
          <a:p>
            <a:pPr algn="ctr">
              <a:spcAft>
                <a:spcPts val="400"/>
              </a:spcAft>
            </a:pPr>
            <a:r>
              <a:rPr sz="2000" b="1">
                <a:solidFill>
                  <a:srgbClr val="1B2025"/>
                </a:solidFill>
                <a:latin typeface="Avenir Next"/>
              </a:rPr>
              <a:t>800 labeled spectra for a new MS assay</a:t>
            </a:r>
          </a:p>
        </p:txBody>
      </p:sp>
      <p:sp>
        <p:nvSpPr>
          <p:cNvPr id="9" name="Rounded Rectangle 8"/>
          <p:cNvSpPr/>
          <p:nvPr/>
        </p:nvSpPr>
        <p:spPr>
          <a:xfrm>
            <a:off x="5920740" y="1888800"/>
            <a:ext cx="5143500" cy="115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12180" y="1888800"/>
            <a:ext cx="4960620" cy="1150000"/>
          </a:xfrm>
          <a:prstGeom prst="rect">
            <a:avLst/>
          </a:prstGeom>
          <a:noFill/>
        </p:spPr>
        <p:txBody>
          <a:bodyPr wrap="square" lIns="45720" rIns="45720" tIns="27432" bIns="27432" anchor="ctr">
            <a:spAutoFit/>
          </a:bodyPr>
          <a:lstStyle/>
          <a:p>
            <a:pPr algn="ctr">
              <a:spcAft>
                <a:spcPts val="400"/>
              </a:spcAft>
            </a:pPr>
            <a:r>
              <a:rPr sz="1500" b="1">
                <a:solidFill>
                  <a:srgbClr val="3D444C"/>
                </a:solidFill>
                <a:latin typeface="Avenir Next"/>
              </a:rPr>
              <a:t>You can borrow</a:t>
            </a:r>
          </a:p>
          <a:p>
            <a:pPr algn="ctr">
              <a:spcAft>
                <a:spcPts val="400"/>
              </a:spcAft>
            </a:pPr>
            <a:r>
              <a:rPr sz="2000" b="1">
                <a:solidFill>
                  <a:srgbClr val="1B2025"/>
                </a:solidFill>
                <a:latin typeface="Avenir Next"/>
              </a:rPr>
              <a:t>a transformer pretrained on 2 million spectra</a:t>
            </a:r>
          </a:p>
        </p:txBody>
      </p:sp>
      <p:sp>
        <p:nvSpPr>
          <p:cNvPr id="11" name="TextBox 10"/>
          <p:cNvSpPr txBox="1"/>
          <p:nvPr/>
        </p:nvSpPr>
        <p:spPr>
          <a:xfrm>
            <a:off x="548640" y="3288800"/>
            <a:ext cx="10515600" cy="1600000"/>
          </a:xfrm>
          <a:prstGeom prst="rect">
            <a:avLst/>
          </a:prstGeom>
          <a:noFill/>
        </p:spPr>
        <p:txBody>
          <a:bodyPr wrap="square" lIns="45720" rIns="45720" tIns="27432" bIns="27432" anchor="t">
            <a:spAutoFit/>
          </a:bodyPr>
          <a:lstStyle/>
          <a:p>
            <a:pPr algn="l">
              <a:spcAft>
                <a:spcPts val="800"/>
              </a:spcAft>
            </a:pPr>
            <a:r>
              <a:rPr sz="1700" b="0">
                <a:solidFill>
                  <a:srgbClr val="1B2025"/>
                </a:solidFill>
                <a:latin typeface="Avenir Next"/>
              </a:rPr>
              <a:t>You need a classifier for the new assay.</a:t>
            </a:r>
          </a:p>
          <a:p>
            <a:pPr algn="l">
              <a:spcAft>
                <a:spcPts val="800"/>
              </a:spcAft>
            </a:pPr>
            <a:r>
              <a:rPr sz="1700" b="1">
                <a:solidFill>
                  <a:srgbClr val="0E7C7B"/>
                </a:solidFill>
                <a:latin typeface="Avenir Next"/>
              </a:rPr>
              <a:t>(a)  </a:t>
            </a:r>
            <a:r>
              <a:rPr sz="1700" b="0">
                <a:solidFill>
                  <a:srgbClr val="1B2025"/>
                </a:solidFill>
                <a:latin typeface="Avenir Next"/>
              </a:rPr>
              <a:t>Would you train a new model from scratch on your 800 spectra, or fine-tune the pretrained one?</a:t>
            </a:r>
            <a:r>
              <a:rPr sz="1700" b="1">
                <a:solidFill>
                  <a:srgbClr val="0E7C7B"/>
                </a:solidFill>
                <a:latin typeface="Avenir Next"/>
              </a:rPr>
              <a:t>  ________</a:t>
            </a:r>
          </a:p>
          <a:p>
            <a:pPr algn="l">
              <a:spcAft>
                <a:spcPts val="800"/>
              </a:spcAft>
            </a:pPr>
            <a:r>
              <a:rPr sz="1700" b="1">
                <a:solidFill>
                  <a:srgbClr val="0E7C7B"/>
                </a:solidFill>
                <a:latin typeface="Avenir Next"/>
              </a:rPr>
              <a:t>(b)  </a:t>
            </a:r>
            <a:r>
              <a:rPr sz="1700" b="0">
                <a:solidFill>
                  <a:srgbClr val="1B2025"/>
                </a:solidFill>
                <a:latin typeface="Avenir Next"/>
              </a:rPr>
              <a:t>In one sentence, why?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match each data type to a tokenizer</a:t>
            </a:r>
          </a:p>
        </p:txBody>
      </p:sp>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8, Q3. A transformer eats a sequence of vectors, so MS data must become tokens. Match each data type to the ONE strategy that fits it best (each used once), using the decision chart. Worked answer in the notes.</a:t>
            </a:r>
          </a:p>
        </p:txBody>
      </p:sp>
      <p:sp>
        <p:nvSpPr>
          <p:cNvPr id="7" name="Rounded Rectangle 6"/>
          <p:cNvSpPr/>
          <p:nvPr/>
        </p:nvSpPr>
        <p:spPr>
          <a:xfrm>
            <a:off x="548640" y="1888800"/>
            <a:ext cx="10515600" cy="64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888800"/>
            <a:ext cx="10332720" cy="640000"/>
          </a:xfrm>
          <a:prstGeom prst="rect">
            <a:avLst/>
          </a:prstGeom>
          <a:noFill/>
        </p:spPr>
        <p:txBody>
          <a:bodyPr wrap="square" lIns="45720" rIns="45720" tIns="27432" bIns="27432" anchor="ctr">
            <a:spAutoFit/>
          </a:bodyPr>
          <a:lstStyle/>
          <a:p>
            <a:pPr algn="l">
              <a:spcAft>
                <a:spcPts val="400"/>
              </a:spcAft>
            </a:pPr>
            <a:r>
              <a:rPr sz="1700" b="1">
                <a:solidFill>
                  <a:srgbClr val="0E7C7B"/>
                </a:solidFill>
                <a:latin typeface="Avenir Next"/>
              </a:rPr>
              <a:t>(a)  </a:t>
            </a:r>
            <a:r>
              <a:rPr sz="1700" b="1">
                <a:solidFill>
                  <a:srgbClr val="1B2025"/>
                </a:solidFill>
                <a:latin typeface="Avenir Next"/>
              </a:rPr>
              <a:t>An imaging-MS image</a:t>
            </a:r>
            <a:r>
              <a:rPr sz="1700" b="0">
                <a:solidFill>
                  <a:srgbClr val="3D444C"/>
                </a:solidFill>
                <a:latin typeface="Avenir Next"/>
              </a:rPr>
              <a:t>  (a 2D picture, one spectrum per pixel)</a:t>
            </a:r>
            <a:r>
              <a:rPr sz="1700" b="1">
                <a:solidFill>
                  <a:srgbClr val="0E7C7B"/>
                </a:solidFill>
                <a:latin typeface="Avenir Next"/>
              </a:rPr>
              <a:t>     →  ________________</a:t>
            </a:r>
          </a:p>
        </p:txBody>
      </p:sp>
      <p:sp>
        <p:nvSpPr>
          <p:cNvPr id="9" name="Rounded Rectangle 8"/>
          <p:cNvSpPr/>
          <p:nvPr/>
        </p:nvSpPr>
        <p:spPr>
          <a:xfrm>
            <a:off x="548640" y="2638800"/>
            <a:ext cx="10515600" cy="64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638800"/>
            <a:ext cx="10332720" cy="640000"/>
          </a:xfrm>
          <a:prstGeom prst="rect">
            <a:avLst/>
          </a:prstGeom>
          <a:noFill/>
        </p:spPr>
        <p:txBody>
          <a:bodyPr wrap="square" lIns="45720" rIns="45720" tIns="27432" bIns="27432" anchor="ctr">
            <a:spAutoFit/>
          </a:bodyPr>
          <a:lstStyle/>
          <a:p>
            <a:pPr algn="l">
              <a:spcAft>
                <a:spcPts val="400"/>
              </a:spcAft>
            </a:pPr>
            <a:r>
              <a:rPr sz="1700" b="1">
                <a:solidFill>
                  <a:srgbClr val="0E7C7B"/>
                </a:solidFill>
                <a:latin typeface="Avenir Next"/>
              </a:rPr>
              <a:t>(b)  </a:t>
            </a:r>
            <a:r>
              <a:rPr sz="1700" b="1">
                <a:solidFill>
                  <a:srgbClr val="1B2025"/>
                </a:solidFill>
                <a:latin typeface="Avenir Next"/>
              </a:rPr>
              <a:t>A raw binned spectrum</a:t>
            </a:r>
            <a:r>
              <a:rPr sz="1700" b="0">
                <a:solidFill>
                  <a:srgbClr val="3D444C"/>
                </a:solidFill>
                <a:latin typeface="Avenir Next"/>
              </a:rPr>
              <a:t>  (a dense 1D vector of ~6,000 intensities)</a:t>
            </a:r>
            <a:r>
              <a:rPr sz="1700" b="1">
                <a:solidFill>
                  <a:srgbClr val="0E7C7B"/>
                </a:solidFill>
                <a:latin typeface="Avenir Next"/>
              </a:rPr>
              <a:t>     →  ________________</a:t>
            </a:r>
          </a:p>
        </p:txBody>
      </p:sp>
      <p:sp>
        <p:nvSpPr>
          <p:cNvPr id="11" name="Rounded Rectangle 10"/>
          <p:cNvSpPr/>
          <p:nvPr/>
        </p:nvSpPr>
        <p:spPr>
          <a:xfrm>
            <a:off x="548640" y="3388800"/>
            <a:ext cx="10515600" cy="64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0080" y="3388800"/>
            <a:ext cx="10332720" cy="640000"/>
          </a:xfrm>
          <a:prstGeom prst="rect">
            <a:avLst/>
          </a:prstGeom>
          <a:noFill/>
        </p:spPr>
        <p:txBody>
          <a:bodyPr wrap="square" lIns="45720" rIns="45720" tIns="27432" bIns="27432" anchor="ctr">
            <a:spAutoFit/>
          </a:bodyPr>
          <a:lstStyle/>
          <a:p>
            <a:pPr algn="l">
              <a:spcAft>
                <a:spcPts val="400"/>
              </a:spcAft>
            </a:pPr>
            <a:r>
              <a:rPr sz="1700" b="1">
                <a:solidFill>
                  <a:srgbClr val="0E7C7B"/>
                </a:solidFill>
                <a:latin typeface="Avenir Next"/>
              </a:rPr>
              <a:t>(c)  </a:t>
            </a:r>
            <a:r>
              <a:rPr sz="1700" b="1">
                <a:solidFill>
                  <a:srgbClr val="1B2025"/>
                </a:solidFill>
                <a:latin typeface="Avenir Next"/>
              </a:rPr>
              <a:t>A peak list</a:t>
            </a:r>
            <a:r>
              <a:rPr sz="1700" b="0">
                <a:solidFill>
                  <a:srgbClr val="3D444C"/>
                </a:solidFill>
                <a:latin typeface="Avenir Next"/>
              </a:rPr>
              <a:t>  (a sparse set of m/z + intensity peaks)</a:t>
            </a:r>
            <a:r>
              <a:rPr sz="1700" b="1">
                <a:solidFill>
                  <a:srgbClr val="0E7C7B"/>
                </a:solidFill>
                <a:latin typeface="Avenir Next"/>
              </a:rPr>
              <a:t>     →  ________________</a:t>
            </a:r>
          </a:p>
        </p:txBody>
      </p:sp>
      <p:sp>
        <p:nvSpPr>
          <p:cNvPr id="13" name="TextBox 12"/>
          <p:cNvSpPr txBox="1"/>
          <p:nvPr/>
        </p:nvSpPr>
        <p:spPr>
          <a:xfrm>
            <a:off x="548640" y="4198800"/>
            <a:ext cx="1379440" cy="330000"/>
          </a:xfrm>
          <a:prstGeom prst="rect">
            <a:avLst/>
          </a:prstGeom>
          <a:noFill/>
        </p:spPr>
        <p:txBody>
          <a:bodyPr wrap="square" lIns="45720" rIns="45720" tIns="27432" bIns="27432" anchor="ctr">
            <a:spAutoFit/>
          </a:bodyPr>
          <a:lstStyle/>
          <a:p>
            <a:pPr algn="l">
              <a:spcAft>
                <a:spcPts val="400"/>
              </a:spcAft>
            </a:pPr>
            <a:r>
              <a:rPr sz="1400" b="1">
                <a:solidFill>
                  <a:srgbClr val="3D444C"/>
                </a:solidFill>
                <a:latin typeface="Avenir Next"/>
              </a:rPr>
              <a:t>Word bank:</a:t>
            </a:r>
          </a:p>
        </p:txBody>
      </p:sp>
      <p:sp>
        <p:nvSpPr>
          <p:cNvPr id="14" name="Rounded Rectangle 13"/>
          <p:cNvSpPr/>
          <p:nvPr/>
        </p:nvSpPr>
        <p:spPr>
          <a:xfrm>
            <a:off x="2065240" y="4198800"/>
            <a:ext cx="4647849"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chunk into patches + linear projection (ViT)</a:t>
            </a:r>
          </a:p>
        </p:txBody>
      </p:sp>
      <p:sp>
        <p:nvSpPr>
          <p:cNvPr id="15" name="Rounded Rectangle 14"/>
          <p:cNvSpPr/>
          <p:nvPr/>
        </p:nvSpPr>
        <p:spPr>
          <a:xfrm>
            <a:off x="6850249" y="4198800"/>
            <a:ext cx="1475596"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CNN front-end</a:t>
            </a:r>
          </a:p>
        </p:txBody>
      </p:sp>
      <p:sp>
        <p:nvSpPr>
          <p:cNvPr id="16" name="Rounded Rectangle 15"/>
          <p:cNvSpPr/>
          <p:nvPr/>
        </p:nvSpPr>
        <p:spPr>
          <a:xfrm>
            <a:off x="8463005" y="4198800"/>
            <a:ext cx="2601234"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peak-as-token (Casanovo)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YOUR TURN (YOU-DO =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what carries the context?</a:t>
            </a:r>
          </a:p>
        </p:txBody>
      </p:sp>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8, Q1–Q2. Q1: which of Q/K/V carries the content, and which peak dominates the blend? Q2: is the encoder’s K,V fixed or recomputed each step — and what if you swap in another spectrum’s K,V? Worked answers in the notes.</a:t>
            </a:r>
          </a:p>
        </p:txBody>
      </p:sp>
      <p:sp>
        <p:nvSpPr>
          <p:cNvPr id="7" name="Rounded Rectangle 6"/>
          <p:cNvSpPr/>
          <p:nvPr/>
        </p:nvSpPr>
        <p:spPr>
          <a:xfrm>
            <a:off x="548640" y="1868800"/>
            <a:ext cx="5143500" cy="311468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920740" y="1868800"/>
            <a:ext cx="5143500" cy="311468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 y="1918800"/>
            <a:ext cx="4960620" cy="3014680"/>
          </a:xfrm>
          <a:prstGeom prst="rect">
            <a:avLst/>
          </a:prstGeom>
          <a:noFill/>
        </p:spPr>
        <p:txBody>
          <a:bodyPr wrap="square" lIns="45720" rIns="45720" tIns="27432" bIns="27432" anchor="t">
            <a:spAutoFit/>
          </a:bodyPr>
          <a:lstStyle/>
          <a:p>
            <a:pPr algn="l">
              <a:spcAft>
                <a:spcPts val="800"/>
              </a:spcAft>
            </a:pPr>
            <a:r>
              <a:rPr sz="1600" b="1">
                <a:solidFill>
                  <a:srgbClr val="0E7C7B"/>
                </a:solidFill>
                <a:latin typeface="Avenir Next"/>
              </a:rPr>
              <a:t>Q1 · Context is a blend of values</a:t>
            </a:r>
          </a:p>
          <a:p>
            <a:pPr algn="l">
              <a:spcAft>
                <a:spcPts val="800"/>
              </a:spcAft>
            </a:pPr>
            <a:r>
              <a:rPr sz="1500" b="1">
                <a:solidFill>
                  <a:srgbClr val="0E7C7B"/>
                </a:solidFill>
                <a:latin typeface="Avenir Next"/>
              </a:rPr>
              <a:t>(a)  </a:t>
            </a:r>
            <a:r>
              <a:rPr sz="1500" b="0">
                <a:solidFill>
                  <a:srgbClr val="1B2025"/>
                </a:solidFill>
                <a:latin typeface="Avenir Next"/>
              </a:rPr>
              <a:t>Which of query, key or value carries the content that ends up in a token’s output — its context?</a:t>
            </a:r>
            <a:r>
              <a:rPr sz="1500" b="1">
                <a:solidFill>
                  <a:srgbClr val="0E7C7B"/>
                </a:solidFill>
                <a:latin typeface="Avenir Next"/>
              </a:rPr>
              <a:t>  ________</a:t>
            </a:r>
          </a:p>
          <a:p>
            <a:pPr algn="l">
              <a:spcAft>
                <a:spcPts val="800"/>
              </a:spcAft>
            </a:pPr>
            <a:r>
              <a:rPr sz="1500" b="1">
                <a:solidFill>
                  <a:srgbClr val="0E7C7B"/>
                </a:solidFill>
                <a:latin typeface="Avenir Next"/>
              </a:rPr>
              <a:t>(b)  </a:t>
            </a:r>
            <a:r>
              <a:rPr sz="1500" b="0">
                <a:solidFill>
                  <a:srgbClr val="1B2025"/>
                </a:solidFill>
                <a:latin typeface="Avenir Next"/>
              </a:rPr>
              <a:t>A peak attends over four peaks with weights 0.1, 0.7, 0.15, 0.05. Its new context vector is built mostly from which peak’s value?</a:t>
            </a:r>
            <a:r>
              <a:rPr sz="1500" b="1">
                <a:solidFill>
                  <a:srgbClr val="0E7C7B"/>
                </a:solidFill>
                <a:latin typeface="Avenir Next"/>
              </a:rPr>
              <a:t>  ________</a:t>
            </a:r>
          </a:p>
        </p:txBody>
      </p:sp>
      <p:sp>
        <p:nvSpPr>
          <p:cNvPr id="10" name="TextBox 9"/>
          <p:cNvSpPr txBox="1"/>
          <p:nvPr/>
        </p:nvSpPr>
        <p:spPr>
          <a:xfrm>
            <a:off x="6012180" y="1918800"/>
            <a:ext cx="4960620" cy="3014680"/>
          </a:xfrm>
          <a:prstGeom prst="rect">
            <a:avLst/>
          </a:prstGeom>
          <a:noFill/>
        </p:spPr>
        <p:txBody>
          <a:bodyPr wrap="square" lIns="45720" rIns="45720" tIns="27432" bIns="27432" anchor="t">
            <a:spAutoFit/>
          </a:bodyPr>
          <a:lstStyle/>
          <a:p>
            <a:pPr algn="l">
              <a:spcAft>
                <a:spcPts val="800"/>
              </a:spcAft>
            </a:pPr>
            <a:r>
              <a:rPr sz="1600" b="1">
                <a:solidFill>
                  <a:srgbClr val="0E7C7B"/>
                </a:solidFill>
                <a:latin typeface="Avenir Next"/>
              </a:rPr>
              <a:t>Q2 · The encoder’s K,V is the context</a:t>
            </a:r>
          </a:p>
          <a:p>
            <a:pPr algn="l">
              <a:spcAft>
                <a:spcPts val="800"/>
              </a:spcAft>
            </a:pPr>
            <a:r>
              <a:rPr sz="1500" b="0">
                <a:solidFill>
                  <a:srgbClr val="1B2025"/>
                </a:solidFill>
                <a:latin typeface="Avenir Next"/>
              </a:rPr>
              <a:t>Casanovo (spectrum in, peptide out): the decoder writes one residue at a time, each step querying the encoder’s K,V.</a:t>
            </a:r>
          </a:p>
          <a:p>
            <a:pPr algn="l">
              <a:spcAft>
                <a:spcPts val="800"/>
              </a:spcAft>
            </a:pPr>
            <a:r>
              <a:rPr sz="1500" b="1">
                <a:solidFill>
                  <a:srgbClr val="0E7C7B"/>
                </a:solidFill>
                <a:latin typeface="Avenir Next"/>
              </a:rPr>
              <a:t>(a)  </a:t>
            </a:r>
            <a:r>
              <a:rPr sz="1500" b="0">
                <a:solidFill>
                  <a:srgbClr val="1B2025"/>
                </a:solidFill>
                <a:latin typeface="Avenir Next"/>
              </a:rPr>
              <a:t>As it writes residue 1, then 2, then 3 …, is the encoder’s K,V recomputed every step, or computed once and held fixed? What does it represent?</a:t>
            </a:r>
          </a:p>
          <a:p>
            <a:pPr algn="l">
              <a:spcAft>
                <a:spcPts val="800"/>
              </a:spcAft>
            </a:pPr>
            <a:r>
              <a:rPr sz="1500" b="1">
                <a:solidFill>
                  <a:srgbClr val="0E7C7B"/>
                </a:solidFill>
                <a:latin typeface="Avenir Next"/>
              </a:rPr>
              <a:t>(b)  </a:t>
            </a:r>
            <a:r>
              <a:rPr sz="1500" b="0">
                <a:solidFill>
                  <a:srgbClr val="1B2025"/>
                </a:solidFill>
                <a:latin typeface="Avenir Next"/>
              </a:rPr>
              <a:t>Halfway through, you swap in the K,V from a different patient’s spectrum. What happens to the rest of the peptide, and why?</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
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4"/>
  </p:notesMasterIdLst>
  <p:sldIdLst>
    <p:sldId id="256" r:id="rId2"/>
    <p:sldId id="279" r:id="rId3"/>
    <p:sldId id="257" r:id="rId4"/>
    <p:sldId id="258" r:id="rId5"/>
    <p:sldId id="259" r:id="rId6"/>
    <p:sldId id="260" r:id="rId7"/>
    <p:sldId id="262" r:id="rId8"/>
    <p:sldId id="263" r:id="rId9"/>
    <p:sldId id="264" r:id="rId10"/>
    <p:sldId id="280" r:id="rId11"/>
    <p:sldId id="281" r:id="rId12"/>
    <p:sldId id="265" r:id="rId13"/>
    <p:sldId id="267" r:id="rId14"/>
    <p:sldId id="268" r:id="rId15"/>
    <p:sldId id="269" r:id="rId16"/>
    <p:sldId id="270" r:id="rId17"/>
    <p:sldId id="271" r:id="rId18"/>
    <p:sldId id="272" r:id="rId19"/>
    <p:sldId id="273" r:id="rId20"/>
    <p:sldId id="274" r:id="rId21"/>
    <p:sldId id="275"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75"/>
  </p:normalViewPr>
  <p:slideViewPr>
    <p:cSldViewPr snapToGrid="0" snapToObjects="1">
      <p:cViewPr varScale="1">
        <p:scale>
          <a:sx n="104" d="100"/>
          <a:sy n="104" d="100"/>
        </p:scale>
        <p:origin x="232" y="5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019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Sunday morning, hour one — the very first hour of the course. Welcome them and set the contract for all 15 hours: intuition first, mass spec always, a little arithmetic by hand because most of you are PhDs and numbers make it click. Promise of THIS hour: you will compute a neuron by hand, multiply a weight matrix by an input vector by hand, and say in one sentence how deep learning differs from the machine learning you may already use. Nothing today needs math beyond multiply-and-add. This hour is interactive: every worked example (I-do) is followed by one you do yourself (you-do) — and each you-do IS a Quiz 1 question, so by the recap you have already worked the whole quiz. Hand out Quiz 1 now, blank; they fill it as we go.</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contract for the whole course; stating it lowers anxiety for the least code-comfortable people in the room. "Fundamental math" = intuition and arithmetic, no proofs. "Architectures" is the tour ahead (Lectures 5-8). "Good, bad, ugly" is the honesty promise — where DL fails, when a simpler tool wins (Lecture 10). Read the goal line slowly: apply, and judge — the two verbs the whole course serves.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roadmap framed as the single driving question each segment answers — problem-driven, so every hour has a clear "why." You do not need to memorise this; just notice every lecture is one question, and today we answer the first. Labs turn each block hands-on in Colab, fill-in-the-blank with instant checks — never build a network from scratch.</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line each — the point is breadth, not depth. AlphaFold: a decades-old folding problem cracked by a deep network; Nobel in Chemistry 2024. AlphaGo: more board positions than atoms in the universe. ChatGPT &amp; LLMs: the same neurons-stacked-deep idea, scaled to the internet. Self-driving cars: perception from raw camera pixels in real time. Kept famous and general so nobody feels this is niche. Punchline to say aloud: every one of these is the same handful of ideas we begin assembling this hour. This is a single composite of four separately-licensed images (credits in the caption).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spine of the whole field — read the five parts aloud. Contrast with ordinary software: normally YOU write the rules (if peak-area &gt; threshold, flag it); in ML you show examples and the machine writes the rule itself (part 1). Part 5 is the one clinicians must never forget: performance is only real on data the model has NOT seen — hammered in Lecture 10 with external validation. Next slide is a 60-second do-it-together to pin down the boundary before we go further.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Icebreaker — let them laugh, the room relaxes. A linear regression IS a fitted statistical model; calling it "AI" changes nothing about the maths. But there is a real gradient: statistics → ML → deep learning → the loose umbrella "AI" tends toward larger models that engineer fewer of their own features on messier data. Fix one relationship in their heads: deep learning is a subset of ML, not a competitor to 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Define "feature" carefully — the vocabulary word of the section, it recurs all week. Use the everyday cat task so nobody needs domain knowledge. A human expert decides what to measure and feeds a handful of numbers to a lightweight model. Strength: interpretable, data-thrifty. Ceiling: miss a discriminating cue and it is invisible to the model. That ceiling is what deep learning lifts — next slide.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pivot of the lecture, and the live version of Quiz 1 Q4. The feature-engineering step disappears INTO the network — it learns what to measure and how to decide, jointly, from raw pixels. That is the one-sentence outcome for Lecture 1: learned features vs. hand-engineered features. Honest trade-off: DL removes feature-guessing but demands far more data and compute and gives up interpretability (theme of Lecture 10). PAIR (assessed) — this is Quiz 1 Q4: in Pipeline A a technician computes the peak area at m/z 2415 and the 2415/4100 ratio, then feeds those two numbers to logistic regression (hand-engineered); in Pipeline B the raw 6,000-bin spectrum goes straight into a network that grows its own "peak-ish here" detector (learned). Harvest 2-3 answers aloud — peak area, isotope ratio, retention time, S/N, adduct pattern — every one is a hand-engineered feature a network could learn from the raw spectrum.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left to right. Inputs are numbers (say two peak intensities). Each is multiplied by its own weight — how much this neuron cares about that input; weights are what training learns. Add the results plus a bias (a constant nudge) to get z. Then the activation f bends z into the output. Without the bend, stacking neurons collapses back to one big weighted sum (a single line); the bend is what lets networks model curves.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 Q1 — an apply/decide item, NOT naming. Three tasks: (i) which activation belongs on the final neuron of a resistant-vs-susceptible classifier? Answer: (a) the SIGMOID — it is the only curve whose output is squeezed into (0, 1), so it reads as a probability; ReLU is unbounded above and Linear is unbounded both ways, so neither can be a probability. (ii) ReLU(−3) = max(0, −3) = 0 — the neuron is silent (the on/off idea again). (iii) sigmoid(0) = 1/(1+e^0) = 0.5 — maximally uncertain, a coin flip. The point: shape → range → job. Poll the room on (i) before revealing, then have them fill Q1 on the sheet.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done aloud and slowly — the first hand-computation of the course. z is the dot product of weights and inputs, plus bias: 2·3=6, −1·2=−2, +1 → z=5. Then bend: ReLU leaves 5 alone (positive passes); sigmoid would map 5 to about 0.99, a confident yes. Note the schematic: inputs → weighted edges → Σ (the sum, z) → activation (the bend) → output y. Next slide you run the SAME machine on different numbers — and this time the sum comes out negative. That is Quiz 1 Q2.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 Q2 (same schematic, different numbers — and the sum lands negative on purpose). Worked answer: z = (0.5·2) + (−1·3) + 1 = 1 − 3 + 1 = −1. ReLU(−1) = max(0, −1) = 0 — the neuron stays SILENT. This is the on/off behaviour that, times millions of neurons, is how a network routes information: a negative weighted sum is clamped to zero and that neuron contributes nothing. Ask a couple of pairs for their z before revealing, then have them fill Q2 on the sheet.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Frame first: each ROW of W is one neuron's weight list; the input x is the same three numbers for both neurons (three peak intensities: 2, 1, 0). Running the layer is the matrix–vector product W·x. The one gotcha is the shape rule: the column count (3) must equal the number of inputs (3); the row count (2) sets how many outputs. Compute row 1 live — take row 1 of W, pair term-by-term with x, multiply, add: 1·2=2, 0·1=0, 2·0=0; sum = 2. Say "dot product" once. One row left — they do it next, and it is Quiz 1 Q3.</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 Q3 (the second row of the same matrix — different numbers from row 1, so genuine practice). Row 2 (−1, 3, 1) dotted with (2, 1, 0): (−1)(2) + (3)(1) + (1)(0) = −2 + 3 + 0 = 1. So Wx = (2, 1). Land it: a 2×3 matrix times a length-3 vector gives a length-2 output — one number per neuron, a full forward pass, and a fresh two-number representation that simply becomes the input to the next layer. Have them fill Q3 on the sheet.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reassuring theorem, shown not stated: a network with enough neurons can approximate essentially any function. Each ReLU contributes one bend (the faint amber lines); summed, the bends chase the wiggly black target (teal dashed). The takeaway is intuition, not a proof: more neurons → more bends → more shape. This is WHY the non-linear bend from the last few slides matters — without it every stack collapses to a single straight line and no amount of depth would help. No math required; just "bends add up."</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read straight off the diagram (same 2→2→1 node layout as the you-do next slide, every weight and bias now printed on the figure). Feed x = (2, 1) into layer 1: hidden neuron 1 = (1)(2) + (−1)(1) + 0 = 1 → ReLU 1; hidden neuron 2 = (0)(2) + (1)(1) + 0 = 1 → ReLU 1. Both neurons fire, so hidden h = (1, 1) — a fresh representation, and a layer's output is just the next layer's input. Layer 2 reads h like any input, with weights W2 = (2, 1) and bias b2 = −1: y = (2)(1) + (1)(1) − 1 = 2. That is all "deep" means — multiply, add, bend, pass it on; stack the same move and depth builds the hierarchy on the next two slides. Soft callback: layer 1 is the same multiply-add-bend the room just ran on the matrix–vector slides, now feeding a second layer that reads the hidden vector — we do NOT claim the hidden layer just copies the input; here it recomputes to (1, 1). Next slide you take a fresh (2, 1) through your own two layers, with different weights — that is Quiz 1 Q6.</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 Q6 (same input → hidden(ReLU) → output shape as the I-do, taking the (2, 1) you just computed forward as the input). Given x = (2, 1); W1 = [[1, −1], [−1, 1]], b1 = (0, −4); W2 = (3, 2), b2 = −1. Layer 1: row 1 = (1)(2) + (−1)(1) + 0 = 1 → ReLU 1; row 2 = (−1)(2) + (1)(1) + (−4) = −5 → ReLU 0. Hidden h = (1, 0) — the second neuron is silent again. Layer 2: y = (3)(1) + (2)(0) − 1 = 2. Ask a pair for their hidden vector before revealing y, then have them fill Q6 on the sheet.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loop opened at the start. This is DEPTH, not parallel filters: each layer takes the previous layer's output and builds something more abstract — pixels → edges → parts → whole → label. Early layers see fragments, deep layers see meaning. Crucial honesty: this hierarchy is LEARNED, not designed — it echoes the engineered-vs-learned pivot and previews Lecture 5, where a network's first layer literally becomes edge and peak detectors. The composite here is one cat photo (CC BY-SA 3.0) abstracted left-to-right at successive layers.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hour with the Quiz 1 Q5 reflection as a think-pair-share, then widen it to the room. Full-credit Q5 answers capture "learned features from raw data" vs. "human-engineered features first." After harvesting a sentence or two, push the problem-driven follow-up that seeds Lab 1 and the Segment 1 discussion: what data in YOUR lab could train a network, and would it likely beat the methods you rely on today? Harvest a few aloud — peak area, isotope ratio, retention time, S/N, a QC rule — each a hand-engineered feature a network could learn. Gain (patterns you never thought to measure) vs. risk (more data, less interpretability, validation burden — Lecture 10). Bridge to Lecture 2: today we assumed the weights; next hour we learn where they come from.</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286000"/>
            <a:ext cx="11091672" cy="1371600"/>
          </a:xfrm>
        </p:spPr>
        <p:txBody>
          <a:bodyPr wrap="square" anchor="t"/>
          <a:lstStyle>
            <a:lvl1pPr marL="0" indent="0" algn="l">
              <a:buNone/>
              <a:defRPr sz="4400" b="1">
                <a:solidFill>
                  <a:schemeClr val="tx1"/>
                </a:solidFill>
                <a:latin typeface="+mn-lt"/>
              </a:defRPr>
            </a:lvl1pPr>
          </a:lstStyle>
          <a:p>
            <a:r>
              <a:rPr lang="en-US"/>
              <a:t>Click to edit Master title style</a:t>
            </a:r>
          </a:p>
        </p:txBody>
      </p:sp>
      <p:sp>
        <p:nvSpPr>
          <p:cNvPr id="3" name="Subtitle 2"/>
          <p:cNvSpPr>
            <a:spLocks noGrp="1"/>
          </p:cNvSpPr>
          <p:nvPr>
            <p:ph type="subTitle" idx="1"/>
          </p:nvPr>
        </p:nvSpPr>
        <p:spPr>
          <a:xfrm>
            <a:off x="548640" y="3840480"/>
            <a:ext cx="11091672" cy="914400"/>
          </a:xfrm>
        </p:spPr>
        <p:txBody>
          <a:bodyPr wrap="square" anchor="t"/>
          <a:lstStyle>
            <a:lvl1pPr marL="0" indent="0" algn="l">
              <a:buNone/>
              <a:defRPr sz="2200">
                <a:solidFill>
                  <a:schemeClr val="accent1"/>
                </a:solidFill>
                <a:latin typeface="+mn-lt"/>
              </a:defRPr>
            </a:lvl1pPr>
          </a:lstStyle>
          <a:p>
            <a:r>
              <a:rPr lang="en-US"/>
              <a:t>Click to add a one-line subtitle</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
        <p:nvSpPr>
          <p:cNvPr id="5" name="Amber bar"/>
          <p:cNvSpPr/>
          <p:nvPr/>
        </p:nvSpPr>
        <p:spPr>
          <a:xfrm>
            <a:off x="548640" y="2057400"/>
            <a:ext cx="1280160" cy="54864"/>
          </a:xfrm>
          <a:prstGeom prst="rect">
            <a:avLst/>
          </a:prstGeom>
          <a:solidFill>
            <a:schemeClr val="accent2"/>
          </a:solidFill>
          <a:ln>
            <a:noFill/>
          </a:ln>
        </p:spPr>
        <p:txBody>
          <a:bodyPr/>
          <a:lstStyle/>
          <a:p>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idx="1"/>
          </p:nvPr>
        </p:nvSpPr>
        <p:spPr>
          <a:xfrm>
            <a:off x="548640" y="1920240"/>
            <a:ext cx="11091672" cy="4434840"/>
          </a:xfrm>
        </p:spPr>
        <p:txBody>
          <a:bodyPr wrap="square"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sz="half" idx="1"/>
          </p:nvPr>
        </p:nvSpPr>
        <p:spPr>
          <a:xfrm>
            <a:off x="548640"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1928"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782244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Screenshot +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lvl1pPr algn="l">
              <a:defRPr sz="2000" b="1"/>
            </a:lvl1pPr>
          </a:lstStyle>
          <a:p>
            <a:r>
              <a:rPr lang="en-US"/>
              <a:t>Click to edit Master title style</a:t>
            </a:r>
          </a:p>
        </p:txBody>
      </p:sp>
      <p:sp>
        <p:nvSpPr>
          <p:cNvPr id="3" name="Picture Placeholder 2"/>
          <p:cNvSpPr>
            <a:spLocks noGrp="1"/>
          </p:cNvSpPr>
          <p:nvPr>
            <p:ph type="pic" idx="1"/>
          </p:nvPr>
        </p:nvSpPr>
        <p:spPr>
          <a:xfrm>
            <a:off x="548640" y="1828800"/>
            <a:ext cx="11091672" cy="3977639"/>
          </a:xfrm>
        </p:spPr>
        <p:txBody>
          <a:bodyPr wrap="square"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548640" y="5943600"/>
            <a:ext cx="11091672" cy="457200"/>
          </a:xfrm>
        </p:spPr>
        <p:txBody>
          <a:bodyPr wrap="square" anchor="t"/>
          <a:lstStyle>
            <a:lvl1pPr marL="0" indent="0" algn="ctr">
              <a:buNone/>
              <a:defRPr sz="1300">
                <a:solidFill>
                  <a:schemeClr val="accent4"/>
                </a:solidFill>
                <a:latin typeface="+mn-lt"/>
              </a:defRPr>
            </a:lvl1pPr>
          </a:lstStyle>
          <a:p>
            <a:r>
              <a:rPr lang="en-US"/>
              <a:t>Source · license — click to add caption</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3889236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727027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SACL DS301">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1672" cy="1005840"/>
          </a:xfrm>
          <a:prstGeom prst="rect">
            <a:avLst/>
          </a:prstGeom>
        </p:spPr>
        <p:txBody>
          <a:bodyPr vert="horz" wrap="square"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548640" y="1920240"/>
            <a:ext cx="11091672" cy="4434840"/>
          </a:xfrm>
          <a:prstGeom prst="rect">
            <a:avLst/>
          </a:prstGeom>
        </p:spPr>
        <p:txBody>
          <a:bodyPr vert="horz" wrap="square"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4" r:id="rId5"/>
    <p:sldLayoutId id="2147483655" r:id="rId6"/>
  </p:sldLayoutIdLst>
  <p:txStyles>
    <p:titleStyle>
      <a:lvl1pPr marL="0" indent="0">
        <a:buNone/>
        <a:defRPr sz="3400" b="1">
          <a:solidFill>
            <a:schemeClr val="tx1"/>
          </a:solidFill>
          <a:latin typeface="+mn-lt"/>
        </a:defRPr>
      </a:lvl1pPr>
    </p:titleStyle>
    <p:bodyStyle>
      <a:lvl1pPr marL="274638" indent="-274638">
        <a:spcAft>
          <a:spcPts val="1800"/>
        </a:spcAft>
        <a:buClr>
          <a:schemeClr val="accent1"/>
        </a:buClr>
        <a:buFont typeface="Arial"/>
        <a:buChar char="•"/>
        <a:defRPr sz="2600">
          <a:solidFill>
            <a:schemeClr val="tx1"/>
          </a:solidFill>
          <a:latin typeface="+mn-lt"/>
        </a:defRPr>
      </a:lvl1pPr>
      <a:lvl2pPr marL="549275" indent="-274638">
        <a:spcAft>
          <a:spcPts val="1400"/>
        </a:spcAft>
        <a:buNone/>
        <a:defRPr sz="2100">
          <a:solidFill>
            <a:schemeClr val="accent4"/>
          </a:solidFill>
          <a:latin typeface="+mn-lt"/>
        </a:defRPr>
      </a:lvl2pPr>
      <a:lvl3pPr marL="823913" indent="-274638">
        <a:spcAft>
          <a:spcPts val="1200"/>
        </a:spcAft>
        <a:buClr>
          <a:schemeClr val="accent4"/>
        </a:buClr>
        <a:buFont typeface="Arial"/>
        <a:buChar char="–"/>
        <a:defRPr sz="1800">
          <a:solidFill>
            <a:schemeClr val="tx2"/>
          </a:solidFill>
          <a:latin typeface="+mn-lt"/>
        </a:defRPr>
      </a:lvl3pPr>
    </p:bodyStyle>
    <p:otherStyle>
      <a:lvl1pPr marL="0" indent="0">
        <a:buNone/>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hyperlink" Target="http://bayes.cs.ucla.edu/jp_home.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1 · LECTURE 1</a:t>
            </a:r>
          </a:p>
        </p:txBody>
      </p:sp>
      <p:sp>
        <p:nvSpPr>
          <p:cNvPr id="4" name="TextBox 3"/>
          <p:cNvSpPr txBox="1"/>
          <p:nvPr/>
        </p:nvSpPr>
        <p:spPr>
          <a:xfrm>
            <a:off x="548640" y="2194560"/>
            <a:ext cx="11064240" cy="2011680"/>
          </a:xfrm>
          <a:prstGeom prst="rect">
            <a:avLst/>
          </a:prstGeom>
          <a:noFill/>
        </p:spPr>
        <p:txBody>
          <a:bodyPr wrap="square" anchor="ctr">
            <a:spAutoFit/>
          </a:bodyPr>
          <a:lstStyle/>
          <a:p>
            <a:r>
              <a:rPr sz="4400" b="1" i="0">
                <a:solidFill>
                  <a:srgbClr val="1B2025"/>
                </a:solidFill>
                <a:latin typeface="Avenir Next"/>
              </a:rPr>
              <a:t>What is deep learning?</a:t>
            </a:r>
          </a:p>
          <a:p>
            <a:pPr>
              <a:spcBef>
                <a:spcPts val="1600"/>
              </a:spcBef>
            </a:pPr>
            <a:r>
              <a:rPr sz="2200" b="0" i="0">
                <a:solidFill>
                  <a:srgbClr val="0E7C7B"/>
                </a:solidFill>
                <a:latin typeface="Avenir Next"/>
              </a:rPr>
              <a:t>A neuron is multiply–add–bend · stack them deep · something remarkable happens</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39476-CDB4-2339-1615-29A021A4B3E7}"/>
              </a:ext>
            </a:extLst>
          </p:cNvPr>
          <p:cNvSpPr>
            <a:spLocks noGrp="1"/>
          </p:cNvSpPr>
          <p:nvPr>
            <p:ph type="title"/>
          </p:nvPr>
        </p:nvSpPr>
        <p:spPr/>
        <p:txBody>
          <a:bodyPr/>
          <a:lstStyle/>
          <a:p>
            <a:r>
              <a:rPr lang="en-US" dirty="0"/>
              <a:t>Lixing (lee-shin)</a:t>
            </a:r>
          </a:p>
        </p:txBody>
      </p:sp>
      <p:sp>
        <p:nvSpPr>
          <p:cNvPr id="3" name="Content Placeholder 2">
            <a:extLst>
              <a:ext uri="{FF2B5EF4-FFF2-40B4-BE49-F238E27FC236}">
                <a16:creationId xmlns:a16="http://schemas.microsoft.com/office/drawing/2014/main" id="{0A302995-DA61-29C2-C25F-38FB65CCA92E}"/>
              </a:ext>
            </a:extLst>
          </p:cNvPr>
          <p:cNvSpPr>
            <a:spLocks noGrp="1"/>
          </p:cNvSpPr>
          <p:nvPr>
            <p:ph idx="1"/>
          </p:nvPr>
        </p:nvSpPr>
        <p:spPr>
          <a:xfrm>
            <a:off x="548640" y="1920240"/>
            <a:ext cx="8706571" cy="3165307"/>
          </a:xfrm>
        </p:spPr>
        <p:txBody>
          <a:bodyPr/>
          <a:lstStyle/>
          <a:p>
            <a:r>
              <a:rPr lang="en-US" dirty="0"/>
              <a:t>Ph.D. in Computer Science </a:t>
            </a:r>
          </a:p>
          <a:p>
            <a:r>
              <a:rPr lang="en-US" dirty="0"/>
              <a:t>(2018-2026) Associated Professor at Rose-Hulman Institute of Technology</a:t>
            </a:r>
          </a:p>
          <a:p>
            <a:r>
              <a:rPr lang="en-US" dirty="0"/>
              <a:t>(2026-present) Research Advisor at Indigo </a:t>
            </a:r>
            <a:r>
              <a:rPr lang="en-US" dirty="0" err="1"/>
              <a:t>BioAutomation</a:t>
            </a:r>
            <a:r>
              <a:rPr lang="en-US" dirty="0"/>
              <a:t> Inc.</a:t>
            </a:r>
          </a:p>
          <a:p>
            <a:endParaRPr lang="en-US" dirty="0"/>
          </a:p>
        </p:txBody>
      </p:sp>
      <p:sp>
        <p:nvSpPr>
          <p:cNvPr id="4" name="Text Placeholder 3">
            <a:extLst>
              <a:ext uri="{FF2B5EF4-FFF2-40B4-BE49-F238E27FC236}">
                <a16:creationId xmlns:a16="http://schemas.microsoft.com/office/drawing/2014/main" id="{6FC5C988-DDFA-EF32-89C0-B6D5D34AD6C6}"/>
              </a:ext>
            </a:extLst>
          </p:cNvPr>
          <p:cNvSpPr>
            <a:spLocks noGrp="1"/>
          </p:cNvSpPr>
          <p:nvPr>
            <p:ph type="body" sz="quarter" idx="13"/>
          </p:nvPr>
        </p:nvSpPr>
        <p:spPr/>
        <p:txBody>
          <a:bodyPr/>
          <a:lstStyle/>
          <a:p>
            <a:r>
              <a:rPr sz="1300" b="1" i="0">
                <a:solidFill>
                  <a:srgbClr val="8A9099"/>
                </a:solidFill>
                <a:latin typeface="Menlo"/>
              </a:rPr>
              <a:t>LECTURE 1 · YOUR INSTRUCTOR</a:t>
            </a:r>
          </a:p>
        </p:txBody>
      </p:sp>
      <p:pic>
        <p:nvPicPr>
          <p:cNvPr id="5" name="Picture 4" descr="Logos | University Branding | On Message | University of Notre Dame">
            <a:extLst>
              <a:ext uri="{FF2B5EF4-FFF2-40B4-BE49-F238E27FC236}">
                <a16:creationId xmlns:a16="http://schemas.microsoft.com/office/drawing/2014/main" id="{8EDF8188-D23E-FF0A-C28C-1345ABCCD4A5}"/>
              </a:ext>
            </a:extLst>
          </p:cNvPr>
          <p:cNvPicPr>
            <a:picLocks noChangeAspect="1"/>
          </p:cNvPicPr>
          <p:nvPr/>
        </p:nvPicPr>
        <p:blipFill>
          <a:blip r:embed="rId2"/>
          <a:stretch>
            <a:fillRect/>
          </a:stretch>
        </p:blipFill>
        <p:spPr>
          <a:xfrm>
            <a:off x="8404315" y="1783080"/>
            <a:ext cx="2278380" cy="1188720"/>
          </a:xfrm>
          <a:prstGeom prst="rect">
            <a:avLst/>
          </a:prstGeom>
        </p:spPr>
      </p:pic>
      <p:pic>
        <p:nvPicPr>
          <p:cNvPr id="6" name="Picture 5" descr="Rosie The Mascot - Rose-Hulman Institute of Technology">
            <a:extLst>
              <a:ext uri="{FF2B5EF4-FFF2-40B4-BE49-F238E27FC236}">
                <a16:creationId xmlns:a16="http://schemas.microsoft.com/office/drawing/2014/main" id="{C0F20FA4-B3A2-549D-DD57-60BECF20850B}"/>
              </a:ext>
            </a:extLst>
          </p:cNvPr>
          <p:cNvPicPr>
            <a:picLocks noChangeAspect="1"/>
          </p:cNvPicPr>
          <p:nvPr/>
        </p:nvPicPr>
        <p:blipFill>
          <a:blip r:embed="rId3"/>
          <a:stretch>
            <a:fillRect/>
          </a:stretch>
        </p:blipFill>
        <p:spPr>
          <a:xfrm>
            <a:off x="8404315" y="3022652"/>
            <a:ext cx="2778824" cy="1320799"/>
          </a:xfrm>
          <a:prstGeom prst="rect">
            <a:avLst/>
          </a:prstGeom>
        </p:spPr>
      </p:pic>
      <p:pic>
        <p:nvPicPr>
          <p:cNvPr id="7" name="Picture 6" descr="Indigo BioAutomation - 2026 Company Profile, Team, Funding, Competitors &amp; Financials - Tracxn">
            <a:extLst>
              <a:ext uri="{FF2B5EF4-FFF2-40B4-BE49-F238E27FC236}">
                <a16:creationId xmlns:a16="http://schemas.microsoft.com/office/drawing/2014/main" id="{1B546D17-A204-CB8E-873D-BDDEC733F099}"/>
              </a:ext>
            </a:extLst>
          </p:cNvPr>
          <p:cNvPicPr>
            <a:picLocks noChangeAspect="1"/>
          </p:cNvPicPr>
          <p:nvPr/>
        </p:nvPicPr>
        <p:blipFill>
          <a:blip r:embed="rId4"/>
          <a:stretch>
            <a:fillRect/>
          </a:stretch>
        </p:blipFill>
        <p:spPr>
          <a:xfrm>
            <a:off x="8404315" y="4902407"/>
            <a:ext cx="2590800" cy="774700"/>
          </a:xfrm>
          <a:prstGeom prst="rect">
            <a:avLst/>
          </a:prstGeom>
        </p:spPr>
      </p:pic>
      <p:sp>
        <p:nvSpPr>
          <p:cNvPr id="8" name="TextBox 7">
            <a:extLst>
              <a:ext uri="{FF2B5EF4-FFF2-40B4-BE49-F238E27FC236}">
                <a16:creationId xmlns:a16="http://schemas.microsoft.com/office/drawing/2014/main" id="{197C44C5-6107-9050-9410-4C0B2E214CEE}"/>
              </a:ext>
            </a:extLst>
          </p:cNvPr>
          <p:cNvSpPr txBox="1"/>
          <p:nvPr/>
        </p:nvSpPr>
        <p:spPr>
          <a:xfrm>
            <a:off x="672208" y="5140411"/>
            <a:ext cx="6544137" cy="1207008"/>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2400" dirty="0"/>
              <a:t>Can you briefly introduce yourself? Tell us about your expectation of this course?</a:t>
            </a:r>
          </a:p>
        </p:txBody>
      </p:sp>
    </p:spTree>
    <p:extLst>
      <p:ext uri="{BB962C8B-B14F-4D97-AF65-F5344CB8AC3E}">
        <p14:creationId xmlns:p14="http://schemas.microsoft.com/office/powerpoint/2010/main" val="108276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 · THE CONTRACT</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What these 15 hours give you</a:t>
            </a:r>
          </a:p>
        </p:txBody>
      </p:sp>
      <p:sp>
        <p:nvSpPr>
          <p:cNvPr id="5" name="TextBox 4"/>
          <p:cNvSpPr txBox="1"/>
          <p:nvPr/>
        </p:nvSpPr>
        <p:spPr>
          <a:xfrm>
            <a:off x="548640" y="1920240"/>
            <a:ext cx="10789920" cy="3063239"/>
          </a:xfrm>
          <a:prstGeom prst="rect">
            <a:avLst/>
          </a:prstGeom>
          <a:noFill/>
        </p:spPr>
        <p:txBody>
          <a:bodyPr wrap="square" anchor="t">
            <a:spAutoFit/>
          </a:bodyPr>
          <a:lstStyle/>
          <a:p>
            <a:pPr>
              <a:spcAft>
                <a:spcPts val="1800"/>
              </a:spcAft>
            </a:pPr>
            <a:r>
              <a:rPr sz="2400" b="1" i="0" dirty="0">
                <a:solidFill>
                  <a:srgbClr val="0E7C7B"/>
                </a:solidFill>
                <a:latin typeface="Avenir Next"/>
              </a:rPr>
              <a:t>•  </a:t>
            </a:r>
            <a:r>
              <a:rPr sz="2400" b="0" i="0" dirty="0">
                <a:solidFill>
                  <a:srgbClr val="1B2025"/>
                </a:solidFill>
                <a:latin typeface="Avenir Next"/>
              </a:rPr>
              <a:t>The fundamental math — intuition and arithmetic, no calculus</a:t>
            </a:r>
          </a:p>
          <a:p>
            <a:pPr>
              <a:spcAft>
                <a:spcPts val="1800"/>
              </a:spcAft>
            </a:pPr>
            <a:r>
              <a:rPr sz="2400" b="1" i="0" dirty="0">
                <a:solidFill>
                  <a:srgbClr val="0E7C7B"/>
                </a:solidFill>
                <a:latin typeface="Avenir Next"/>
              </a:rPr>
              <a:t>•  </a:t>
            </a:r>
            <a:r>
              <a:rPr sz="2400" b="0" i="0" dirty="0">
                <a:solidFill>
                  <a:srgbClr val="1B2025"/>
                </a:solidFill>
                <a:latin typeface="Avenir Next"/>
              </a:rPr>
              <a:t>The popular architectures — MLP, CNN, RNN, Transformer</a:t>
            </a:r>
          </a:p>
          <a:p>
            <a:pPr>
              <a:spcAft>
                <a:spcPts val="1800"/>
              </a:spcAft>
            </a:pPr>
            <a:r>
              <a:rPr sz="2400" b="1" i="0" dirty="0">
                <a:solidFill>
                  <a:srgbClr val="0E7C7B"/>
                </a:solidFill>
                <a:latin typeface="Avenir Next"/>
              </a:rPr>
              <a:t>•  </a:t>
            </a:r>
            <a:r>
              <a:rPr sz="2400" b="0" i="0" dirty="0">
                <a:solidFill>
                  <a:srgbClr val="1B2025"/>
                </a:solidFill>
                <a:latin typeface="Avenir Next"/>
              </a:rPr>
              <a:t>The learning paradigms — supervised and self-supervised</a:t>
            </a:r>
          </a:p>
          <a:p>
            <a:pPr>
              <a:spcAft>
                <a:spcPts val="1800"/>
              </a:spcAft>
            </a:pPr>
            <a:r>
              <a:rPr sz="2400" b="1" i="0" dirty="0">
                <a:solidFill>
                  <a:srgbClr val="0E7C7B"/>
                </a:solidFill>
                <a:latin typeface="Avenir Next"/>
              </a:rPr>
              <a:t>•  </a:t>
            </a:r>
            <a:r>
              <a:rPr sz="2400" b="0" i="0" dirty="0">
                <a:solidFill>
                  <a:srgbClr val="1B2025"/>
                </a:solidFill>
                <a:latin typeface="Avenir Next"/>
              </a:rPr>
              <a:t>Hands-on training on real data by filling in </a:t>
            </a:r>
            <a:r>
              <a:rPr sz="2400" b="0" i="0" dirty="0" err="1">
                <a:solidFill>
                  <a:srgbClr val="1B2025"/>
                </a:solidFill>
                <a:latin typeface="Avenir Next"/>
              </a:rPr>
              <a:t>Colab</a:t>
            </a:r>
            <a:r>
              <a:rPr sz="2400" b="0" i="0" dirty="0">
                <a:solidFill>
                  <a:srgbClr val="1B2025"/>
                </a:solidFill>
                <a:latin typeface="Avenir Next"/>
              </a:rPr>
              <a:t> blanks</a:t>
            </a:r>
          </a:p>
          <a:p>
            <a:pPr>
              <a:spcAft>
                <a:spcPts val="1800"/>
              </a:spcAft>
            </a:pPr>
            <a:r>
              <a:rPr sz="2400" b="1" i="0" dirty="0">
                <a:solidFill>
                  <a:srgbClr val="0E7C7B"/>
                </a:solidFill>
                <a:latin typeface="Avenir Next"/>
              </a:rPr>
              <a:t>•  </a:t>
            </a:r>
            <a:r>
              <a:rPr sz="2400" b="0" i="0" dirty="0">
                <a:solidFill>
                  <a:srgbClr val="1B2025"/>
                </a:solidFill>
                <a:latin typeface="Avenir Next"/>
              </a:rPr>
              <a:t>Judgment: the good, the bad, and the ugly of deep learning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 · THE ROADMAP</a:t>
            </a:r>
          </a:p>
        </p:txBody>
      </p:sp>
      <p:sp>
        <p:nvSpPr>
          <p:cNvPr id="4" name="TextBox 3"/>
          <p:cNvSpPr txBox="1"/>
          <p:nvPr/>
        </p:nvSpPr>
        <p:spPr>
          <a:xfrm>
            <a:off x="548640" y="731520"/>
            <a:ext cx="11064240" cy="1146048"/>
          </a:xfrm>
          <a:prstGeom prst="rect">
            <a:avLst/>
          </a:prstGeom>
          <a:noFill/>
        </p:spPr>
        <p:txBody>
          <a:bodyPr wrap="square" anchor="t">
            <a:spAutoFit/>
          </a:bodyPr>
          <a:lstStyle/>
          <a:p>
            <a:r>
              <a:rPr sz="3400" b="1" i="0" dirty="0">
                <a:solidFill>
                  <a:srgbClr val="1B2025"/>
                </a:solidFill>
                <a:latin typeface="Avenir Next"/>
              </a:rPr>
              <a:t>The course, one question per </a:t>
            </a:r>
            <a:r>
              <a:rPr lang="en-US" sz="3400" b="1" i="0" dirty="0">
                <a:solidFill>
                  <a:srgbClr val="1B2025"/>
                </a:solidFill>
                <a:latin typeface="Avenir Next"/>
              </a:rPr>
              <a:t>segment (3 hours)</a:t>
            </a:r>
            <a:endParaRPr sz="3400" b="1" i="0" dirty="0">
              <a:solidFill>
                <a:srgbClr val="1B2025"/>
              </a:solidFill>
              <a:latin typeface="Avenir Next"/>
            </a:endParaRPr>
          </a:p>
        </p:txBody>
      </p:sp>
      <p:sp>
        <p:nvSpPr>
          <p:cNvPr id="5" name="TextBox 4"/>
          <p:cNvSpPr txBox="1"/>
          <p:nvPr/>
        </p:nvSpPr>
        <p:spPr>
          <a:xfrm>
            <a:off x="548640" y="1932432"/>
            <a:ext cx="10789920" cy="3407664"/>
          </a:xfrm>
          <a:prstGeom prst="rect">
            <a:avLst/>
          </a:prstGeom>
          <a:noFill/>
        </p:spPr>
        <p:txBody>
          <a:bodyPr wrap="square" anchor="t">
            <a:spAutoFit/>
          </a:bodyPr>
          <a:lstStyle/>
          <a:p>
            <a:pPr marL="457200" indent="-457200">
              <a:spcAft>
                <a:spcPts val="1800"/>
              </a:spcAft>
              <a:buFont typeface="+mj-lt"/>
              <a:buAutoNum type="arabicPeriod"/>
            </a:pPr>
            <a:r>
              <a:rPr lang="en-US" sz="2100" b="0" i="0" dirty="0">
                <a:solidFill>
                  <a:srgbClr val="1B2025"/>
                </a:solidFill>
                <a:latin typeface="Avenir Next"/>
              </a:rPr>
              <a:t>(Sun AM) </a:t>
            </a:r>
            <a:r>
              <a:rPr sz="2100" b="0" i="0" dirty="0">
                <a:solidFill>
                  <a:srgbClr val="1B2025"/>
                </a:solidFill>
                <a:latin typeface="Avenir Next"/>
              </a:rPr>
              <a:t>Foundations — what a neuron computes and how it learns</a:t>
            </a:r>
            <a:endParaRPr lang="en-US" sz="2300" b="0" i="0" dirty="0">
              <a:solidFill>
                <a:srgbClr val="1B2025"/>
              </a:solidFill>
              <a:latin typeface="Avenir Next"/>
            </a:endParaRPr>
          </a:p>
          <a:p>
            <a:pPr marL="457200" indent="-457200">
              <a:spcAft>
                <a:spcPts val="1800"/>
              </a:spcAft>
              <a:buFont typeface="+mj-lt"/>
              <a:buAutoNum type="arabicPeriod"/>
            </a:pPr>
            <a:r>
              <a:rPr lang="en-US" sz="2100" b="0" i="0" dirty="0">
                <a:solidFill>
                  <a:srgbClr val="1B2025"/>
                </a:solidFill>
                <a:latin typeface="Avenir Next"/>
              </a:rPr>
              <a:t>(Sun PM) </a:t>
            </a:r>
            <a:r>
              <a:rPr sz="2100" b="0" i="0" dirty="0">
                <a:solidFill>
                  <a:srgbClr val="1B2025"/>
                </a:solidFill>
                <a:latin typeface="Avenir Next"/>
              </a:rPr>
              <a:t>Training &amp; CNNs — what makes training work; patterns in spectra</a:t>
            </a:r>
          </a:p>
          <a:p>
            <a:pPr marL="457200" indent="-457200">
              <a:spcAft>
                <a:spcPts val="1800"/>
              </a:spcAft>
              <a:buFont typeface="+mj-lt"/>
              <a:buAutoNum type="arabicPeriod"/>
            </a:pPr>
            <a:r>
              <a:rPr lang="en-US" sz="2100" b="0" i="0" dirty="0">
                <a:solidFill>
                  <a:srgbClr val="1B2025"/>
                </a:solidFill>
                <a:latin typeface="Avenir Next"/>
              </a:rPr>
              <a:t>(Mon AM) </a:t>
            </a:r>
            <a:r>
              <a:rPr sz="2100" b="0" i="0" dirty="0">
                <a:solidFill>
                  <a:srgbClr val="1B2025"/>
                </a:solidFill>
                <a:latin typeface="Avenir Next"/>
              </a:rPr>
              <a:t>Sequences &amp; Transformers — why order matters; what is attention</a:t>
            </a:r>
          </a:p>
          <a:p>
            <a:pPr marL="457200" indent="-457200">
              <a:spcAft>
                <a:spcPts val="1800"/>
              </a:spcAft>
              <a:buFont typeface="+mj-lt"/>
              <a:buAutoNum type="arabicPeriod"/>
            </a:pPr>
            <a:r>
              <a:rPr lang="en-US" sz="2100" b="0" i="0" dirty="0">
                <a:solidFill>
                  <a:srgbClr val="1B2025"/>
                </a:solidFill>
                <a:latin typeface="Avenir Next"/>
              </a:rPr>
              <a:t>(Mon PM) </a:t>
            </a:r>
            <a:r>
              <a:rPr sz="2100" b="0" i="0" dirty="0">
                <a:solidFill>
                  <a:srgbClr val="1B2025"/>
                </a:solidFill>
                <a:latin typeface="Avenir Next"/>
              </a:rPr>
              <a:t>Learning without labels — which representation; when NOT to use DL</a:t>
            </a:r>
          </a:p>
          <a:p>
            <a:pPr marL="457200" indent="-457200">
              <a:spcAft>
                <a:spcPts val="1800"/>
              </a:spcAft>
              <a:buFont typeface="+mj-lt"/>
              <a:buAutoNum type="arabicPeriod"/>
            </a:pPr>
            <a:r>
              <a:rPr lang="en-US" sz="2100" b="0" i="0" dirty="0">
                <a:solidFill>
                  <a:srgbClr val="1B2025"/>
                </a:solidFill>
                <a:latin typeface="Avenir Next"/>
              </a:rPr>
              <a:t>(Tue AM) </a:t>
            </a:r>
            <a:r>
              <a:rPr sz="2100" b="0" i="0" dirty="0">
                <a:solidFill>
                  <a:srgbClr val="1B2025"/>
                </a:solidFill>
                <a:latin typeface="Avenir Next"/>
              </a:rPr>
              <a:t>Frontier &amp; Capstone — LLMs, agents, build-and-defend a project</a:t>
            </a:r>
          </a:p>
        </p:txBody>
      </p:sp>
      <p:sp>
        <p:nvSpPr>
          <p:cNvPr id="6" name="Rectangle 5"/>
          <p:cNvSpPr/>
          <p:nvPr/>
        </p:nvSpPr>
        <p:spPr>
          <a:xfrm>
            <a:off x="548640" y="5394960"/>
            <a:ext cx="10515600" cy="914400"/>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US" sz="1700" b="0" i="0" u="sng" dirty="0">
                <a:solidFill>
                  <a:srgbClr val="3D444C"/>
                </a:solidFill>
                <a:latin typeface="Avenir Next"/>
              </a:rPr>
              <a:t>Every lecture </a:t>
            </a:r>
            <a:r>
              <a:rPr lang="en-US" sz="1700" b="0" i="0" dirty="0">
                <a:solidFill>
                  <a:srgbClr val="3D444C"/>
                </a:solidFill>
                <a:latin typeface="Avenir Next"/>
              </a:rPr>
              <a:t>(1 hour) has a </a:t>
            </a:r>
            <a:r>
              <a:rPr lang="en-US" sz="1700" b="1" i="0" dirty="0">
                <a:solidFill>
                  <a:srgbClr val="3D444C"/>
                </a:solidFill>
                <a:latin typeface="Avenir Next"/>
              </a:rPr>
              <a:t>paper quiz/worksheet. </a:t>
            </a:r>
          </a:p>
          <a:p>
            <a:pPr algn="ctr"/>
            <a:r>
              <a:rPr lang="en-US" sz="1700" b="0" i="0" u="sng" dirty="0">
                <a:solidFill>
                  <a:srgbClr val="3D444C"/>
                </a:solidFill>
                <a:latin typeface="Avenir Next"/>
              </a:rPr>
              <a:t>The third hour </a:t>
            </a:r>
            <a:r>
              <a:rPr lang="en-US" sz="1700" b="0" i="0" dirty="0">
                <a:solidFill>
                  <a:srgbClr val="3D444C"/>
                </a:solidFill>
                <a:latin typeface="Avenir Next"/>
              </a:rPr>
              <a:t>of </a:t>
            </a:r>
            <a:r>
              <a:rPr lang="en-US" sz="1700" dirty="0">
                <a:solidFill>
                  <a:srgbClr val="3D444C"/>
                </a:solidFill>
                <a:latin typeface="Avenir Next"/>
              </a:rPr>
              <a:t>e</a:t>
            </a:r>
            <a:r>
              <a:rPr sz="1700" b="0" i="0" dirty="0">
                <a:solidFill>
                  <a:srgbClr val="3D444C"/>
                </a:solidFill>
                <a:latin typeface="Avenir Next"/>
              </a:rPr>
              <a:t>very segment </a:t>
            </a:r>
            <a:r>
              <a:rPr lang="en-US" sz="1700" b="0" i="0" dirty="0">
                <a:solidFill>
                  <a:srgbClr val="3D444C"/>
                </a:solidFill>
                <a:latin typeface="Avenir Next"/>
              </a:rPr>
              <a:t>is a</a:t>
            </a:r>
            <a:r>
              <a:rPr sz="1700" b="0" i="0" dirty="0">
                <a:solidFill>
                  <a:srgbClr val="3D444C"/>
                </a:solidFill>
                <a:latin typeface="Avenir Next"/>
              </a:rPr>
              <a:t> </a:t>
            </a:r>
            <a:r>
              <a:rPr sz="1700" b="1" i="0" dirty="0" err="1">
                <a:solidFill>
                  <a:srgbClr val="3D444C"/>
                </a:solidFill>
                <a:latin typeface="Avenir Next"/>
              </a:rPr>
              <a:t>Colab</a:t>
            </a:r>
            <a:r>
              <a:rPr lang="en-US" sz="1700" b="1" i="0" dirty="0">
                <a:solidFill>
                  <a:srgbClr val="3D444C"/>
                </a:solidFill>
                <a:latin typeface="Avenir Next"/>
              </a:rPr>
              <a:t>-based </a:t>
            </a:r>
            <a:r>
              <a:rPr lang="en-US" sz="1700" b="1" i="0" dirty="0" err="1">
                <a:solidFill>
                  <a:srgbClr val="3D444C"/>
                </a:solidFill>
                <a:latin typeface="Avenir Next"/>
              </a:rPr>
              <a:t>Pytorch</a:t>
            </a:r>
            <a:r>
              <a:rPr lang="en-US" sz="1700" b="1" i="0" dirty="0">
                <a:solidFill>
                  <a:srgbClr val="3D444C"/>
                </a:solidFill>
                <a:latin typeface="Avenir Next"/>
              </a:rPr>
              <a:t> hands-on</a:t>
            </a:r>
            <a:r>
              <a:rPr sz="1700" b="1" i="0" dirty="0">
                <a:solidFill>
                  <a:srgbClr val="3D444C"/>
                </a:solidFill>
                <a:latin typeface="Avenir Next"/>
              </a:rPr>
              <a:t> lab</a:t>
            </a:r>
            <a:r>
              <a:rPr sz="1700" b="0" i="0" dirty="0">
                <a:solidFill>
                  <a:srgbClr val="3D444C"/>
                </a:solidFill>
                <a:latin typeface="Avenir Nex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20040"/>
            <a:ext cx="10972800" cy="365760"/>
          </a:xfrm>
          <a:prstGeom prst="rect">
            <a:avLst/>
          </a:prstGeom>
          <a:noFill/>
        </p:spPr>
        <p:txBody>
          <a:bodyPr wrap="square" anchor="t">
            <a:spAutoFit/>
          </a:bodyPr>
          <a:lstStyle/>
          <a:p>
            <a:r>
              <a:rPr sz="1300" b="1" i="0" dirty="0">
                <a:solidFill>
                  <a:srgbClr val="8A9099"/>
                </a:solidFill>
                <a:latin typeface="Menlo"/>
              </a:rPr>
              <a:t>WHY THIS MATTERS · FOUR YOU ALREADY KNOW</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dirty="0">
                <a:solidFill>
                  <a:srgbClr val="1B2025"/>
                </a:solidFill>
                <a:latin typeface="Avenir Next"/>
              </a:rPr>
              <a:t>Deep learning is already in your world</a:t>
            </a:r>
          </a:p>
        </p:txBody>
      </p:sp>
      <p:pic>
        <p:nvPicPr>
          <p:cNvPr id="5" name="Picture 4" descr="hook_4panel.png"/>
          <p:cNvPicPr>
            <a:picLocks noChangeAspect="1"/>
          </p:cNvPicPr>
          <p:nvPr/>
        </p:nvPicPr>
        <p:blipFill>
          <a:blip r:embed="rId3"/>
          <a:stretch>
            <a:fillRect/>
          </a:stretch>
        </p:blipFill>
        <p:spPr>
          <a:xfrm>
            <a:off x="3405765" y="1828800"/>
            <a:ext cx="5349989" cy="3931919"/>
          </a:xfrm>
          <a:prstGeom prst="rect">
            <a:avLst/>
          </a:prstGeom>
        </p:spPr>
      </p:pic>
      <p:sp>
        <p:nvSpPr>
          <p:cNvPr id="6" name="TextBox 5"/>
          <p:cNvSpPr txBox="1"/>
          <p:nvPr/>
        </p:nvSpPr>
        <p:spPr>
          <a:xfrm>
            <a:off x="548640" y="5504688"/>
            <a:ext cx="11064240" cy="411480"/>
          </a:xfrm>
          <a:prstGeom prst="rect">
            <a:avLst/>
          </a:prstGeom>
          <a:noFill/>
        </p:spPr>
        <p:txBody>
          <a:bodyPr wrap="square" anchor="t">
            <a:spAutoFit/>
          </a:bodyPr>
          <a:lstStyle/>
          <a:p>
            <a:pPr algn="ctr"/>
            <a:r>
              <a:rPr sz="1200" b="0" i="1">
                <a:solidFill>
                  <a:srgbClr val="8A9099"/>
                </a:solidFill>
                <a:latin typeface="Avenir Next"/>
              </a:rPr>
              <a:t>AlphaFold DB (CC0) · Go board: Xchen27 (CC BY-SA 3.0) · ChatGPT: Mattoutankamon (CC BY-SA 4.0) · Waymo car: Grendelkhan (CC BY-SA 4.0)</a:t>
            </a:r>
          </a:p>
        </p:txBody>
      </p:sp>
      <p:sp>
        <p:nvSpPr>
          <p:cNvPr id="7" name="TextBox 6">
            <a:extLst>
              <a:ext uri="{FF2B5EF4-FFF2-40B4-BE49-F238E27FC236}">
                <a16:creationId xmlns:a16="http://schemas.microsoft.com/office/drawing/2014/main" id="{E32BBCEB-7858-E7C2-5687-BA8082E7C522}"/>
              </a:ext>
            </a:extLst>
          </p:cNvPr>
          <p:cNvSpPr txBox="1"/>
          <p:nvPr/>
        </p:nvSpPr>
        <p:spPr>
          <a:xfrm>
            <a:off x="2693773" y="5971032"/>
            <a:ext cx="6993924" cy="841248"/>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2400" dirty="0"/>
              <a:t>Do you know any other DL-based solutions?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WHAT ML IS · THE WORKING DEFINITION</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First — what is machine learning?</a:t>
            </a:r>
          </a:p>
        </p:txBody>
      </p:sp>
      <p:sp>
        <p:nvSpPr>
          <p:cNvPr id="6" name="Rectangle 5"/>
          <p:cNvSpPr/>
          <p:nvPr/>
        </p:nvSpPr>
        <p:spPr>
          <a:xfrm>
            <a:off x="789596" y="1783080"/>
            <a:ext cx="10490888" cy="3600760"/>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4000" b="0" i="0" dirty="0">
                <a:solidFill>
                  <a:srgbClr val="3D444C"/>
                </a:solidFill>
                <a:latin typeface="Avenir Next"/>
              </a:rPr>
              <a:t>ML learns </a:t>
            </a:r>
            <a:r>
              <a:rPr sz="4000" b="0" i="0" dirty="0">
                <a:solidFill>
                  <a:srgbClr val="FF0000"/>
                </a:solidFill>
                <a:latin typeface="Avenir Next"/>
              </a:rPr>
              <a:t>complex</a:t>
            </a:r>
            <a:r>
              <a:rPr sz="4000" b="0" i="0" dirty="0">
                <a:solidFill>
                  <a:srgbClr val="3D444C"/>
                </a:solidFill>
                <a:latin typeface="Avenir Next"/>
              </a:rPr>
              <a:t> patterns from </a:t>
            </a:r>
            <a:r>
              <a:rPr sz="4000" b="0" i="0" dirty="0">
                <a:solidFill>
                  <a:schemeClr val="accent3"/>
                </a:solidFill>
                <a:latin typeface="Avenir Next"/>
              </a:rPr>
              <a:t>existing data</a:t>
            </a:r>
            <a:r>
              <a:rPr sz="4000" b="0" i="0" dirty="0">
                <a:solidFill>
                  <a:srgbClr val="3D444C"/>
                </a:solidFill>
                <a:latin typeface="Avenir Next"/>
              </a:rPr>
              <a:t> to make </a:t>
            </a:r>
            <a:r>
              <a:rPr sz="4000" b="0" i="0" dirty="0">
                <a:solidFill>
                  <a:srgbClr val="00B050"/>
                </a:solidFill>
                <a:latin typeface="Avenir Next"/>
              </a:rPr>
              <a:t>predictions</a:t>
            </a:r>
            <a:r>
              <a:rPr sz="4000" b="0" i="0" dirty="0">
                <a:solidFill>
                  <a:srgbClr val="3D444C"/>
                </a:solidFill>
                <a:latin typeface="Avenir Next"/>
              </a:rPr>
              <a:t> on </a:t>
            </a:r>
            <a:r>
              <a:rPr sz="4000" b="0" i="0" dirty="0">
                <a:solidFill>
                  <a:srgbClr val="00B0F0"/>
                </a:solidFill>
                <a:latin typeface="Avenir Next"/>
              </a:rPr>
              <a:t>unseen data</a:t>
            </a:r>
            <a:r>
              <a:rPr sz="4000" b="0" i="0" dirty="0">
                <a:solidFill>
                  <a:srgbClr val="3D444C"/>
                </a:solidFill>
                <a:latin typeface="Avenir Next"/>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20040"/>
            <a:ext cx="10972800" cy="292388"/>
          </a:xfrm>
          <a:prstGeom prst="rect">
            <a:avLst/>
          </a:prstGeom>
          <a:noFill/>
        </p:spPr>
        <p:txBody>
          <a:bodyPr wrap="square" anchor="t">
            <a:spAutoFit/>
          </a:bodyPr>
          <a:lstStyle/>
          <a:p>
            <a:r>
              <a:rPr sz="1300" b="1" i="0">
                <a:solidFill>
                  <a:srgbClr val="8A9099"/>
                </a:solidFill>
                <a:latin typeface="Menlo"/>
              </a:rPr>
              <a:t>WHAT AI IS · THE BIGGER PICTURE</a:t>
            </a:r>
          </a:p>
        </p:txBody>
      </p:sp>
      <p:sp>
        <p:nvSpPr>
          <p:cNvPr id="4" name="TextBox 3"/>
          <p:cNvSpPr txBox="1"/>
          <p:nvPr/>
        </p:nvSpPr>
        <p:spPr>
          <a:xfrm>
            <a:off x="548640" y="731520"/>
            <a:ext cx="11064240" cy="615553"/>
          </a:xfrm>
          <a:prstGeom prst="rect">
            <a:avLst/>
          </a:prstGeom>
          <a:noFill/>
        </p:spPr>
        <p:txBody>
          <a:bodyPr wrap="square" anchor="t">
            <a:spAutoFit/>
          </a:bodyPr>
          <a:lstStyle/>
          <a:p>
            <a:r>
              <a:rPr lang="en-US" sz="3400" b="1" i="0" dirty="0">
                <a:solidFill>
                  <a:srgbClr val="1B2025"/>
                </a:solidFill>
                <a:latin typeface="Avenir Next"/>
              </a:rPr>
              <a:t>What is AI then?</a:t>
            </a:r>
            <a:endParaRPr sz="3400" b="1" i="0" dirty="0">
              <a:solidFill>
                <a:srgbClr val="1B2025"/>
              </a:solidFill>
              <a:latin typeface="Avenir Next"/>
            </a:endParaRPr>
          </a:p>
        </p:txBody>
      </p:sp>
      <p:pic>
        <p:nvPicPr>
          <p:cNvPr id="5" name="Picture 4" descr="ai_statistics_meme.png"/>
          <p:cNvPicPr>
            <a:picLocks noChangeAspect="1"/>
          </p:cNvPicPr>
          <p:nvPr/>
        </p:nvPicPr>
        <p:blipFill>
          <a:blip r:embed="rId3"/>
          <a:stretch>
            <a:fillRect/>
          </a:stretch>
        </p:blipFill>
        <p:spPr>
          <a:xfrm>
            <a:off x="831610" y="1466165"/>
            <a:ext cx="4728930" cy="4728930"/>
          </a:xfrm>
          <a:prstGeom prst="rect">
            <a:avLst/>
          </a:prstGeom>
        </p:spPr>
      </p:pic>
      <p:sp>
        <p:nvSpPr>
          <p:cNvPr id="9" name="TextBox 8">
            <a:extLst>
              <a:ext uri="{FF2B5EF4-FFF2-40B4-BE49-F238E27FC236}">
                <a16:creationId xmlns:a16="http://schemas.microsoft.com/office/drawing/2014/main" id="{DE653767-BAC1-DE9D-A50F-CA79D5F3E6CB}"/>
              </a:ext>
            </a:extLst>
          </p:cNvPr>
          <p:cNvSpPr txBox="1"/>
          <p:nvPr/>
        </p:nvSpPr>
        <p:spPr>
          <a:xfrm>
            <a:off x="5684107" y="2570205"/>
            <a:ext cx="6376087" cy="3096768"/>
          </a:xfrm>
          <a:prstGeom prst="rect">
            <a:avLst/>
          </a:prstGeom>
          <a:noFill/>
        </p:spPr>
        <p:txBody>
          <a:bodyPr wrap="square" rtlCol="0">
            <a:spAutoFit/>
          </a:bodyPr>
          <a:lstStyle/>
          <a:p>
            <a:r>
              <a:rPr lang="en-US" sz="2800" dirty="0">
                <a:solidFill>
                  <a:srgbClr val="FF3800"/>
                </a:solidFill>
                <a:hlinkClick r:id="rId4"/>
              </a:rPr>
              <a:t>Judea Pearl,</a:t>
            </a:r>
            <a:r>
              <a:rPr lang="en-US" sz="2800" dirty="0">
                <a:solidFill>
                  <a:srgbClr val="404040"/>
                </a:solidFill>
              </a:rPr>
              <a:t> a winner of the Turing Award (the “Nobel Prize of computing”), has argued that, </a:t>
            </a:r>
          </a:p>
          <a:p>
            <a:r>
              <a:rPr lang="en-US" sz="2800" b="1" i="1" dirty="0">
                <a:solidFill>
                  <a:srgbClr val="404040"/>
                </a:solidFill>
              </a:rPr>
              <a:t>“All the impressive achievements of deep learning amount to just </a:t>
            </a:r>
            <a:r>
              <a:rPr lang="en-US" sz="2800" b="1" i="1" u="sng" dirty="0">
                <a:solidFill>
                  <a:srgbClr val="404040"/>
                </a:solidFill>
              </a:rPr>
              <a:t>curve fitting</a:t>
            </a:r>
            <a:r>
              <a:rPr lang="en-US" sz="2800" b="1" i="1" dirty="0">
                <a:solidFill>
                  <a:srgbClr val="404040"/>
                </a:solidFill>
              </a:rPr>
              <a:t>.” </a:t>
            </a:r>
            <a:endParaRPr lang="en-US" sz="2800" b="1" i="1"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ENGINEERED VS. LEARNED · CLASSIC ML</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Classic ML: you hand-build the features</a:t>
            </a:r>
          </a:p>
        </p:txBody>
      </p:sp>
      <p:pic>
        <p:nvPicPr>
          <p:cNvPr id="5" name="Picture 4" descr="cat.jpg"/>
          <p:cNvPicPr>
            <a:picLocks noChangeAspect="1"/>
          </p:cNvPicPr>
          <p:nvPr/>
        </p:nvPicPr>
        <p:blipFill>
          <a:blip r:embed="rId3"/>
          <a:stretch>
            <a:fillRect/>
          </a:stretch>
        </p:blipFill>
        <p:spPr>
          <a:xfrm>
            <a:off x="2151453" y="1965960"/>
            <a:ext cx="2189334" cy="2926080"/>
          </a:xfrm>
          <a:prstGeom prst="rect">
            <a:avLst/>
          </a:prstGeom>
        </p:spPr>
      </p:pic>
      <p:sp>
        <p:nvSpPr>
          <p:cNvPr id="6" name="TextBox 5"/>
          <p:cNvSpPr txBox="1"/>
          <p:nvPr/>
        </p:nvSpPr>
        <p:spPr>
          <a:xfrm>
            <a:off x="548640" y="4946904"/>
            <a:ext cx="5394960" cy="411480"/>
          </a:xfrm>
          <a:prstGeom prst="rect">
            <a:avLst/>
          </a:prstGeom>
          <a:noFill/>
        </p:spPr>
        <p:txBody>
          <a:bodyPr wrap="square" anchor="t">
            <a:spAutoFit/>
          </a:bodyPr>
          <a:lstStyle/>
          <a:p>
            <a:pPr algn="ctr"/>
            <a:r>
              <a:rPr sz="1200" b="0" i="1">
                <a:solidFill>
                  <a:srgbClr val="8A9099"/>
                </a:solidFill>
                <a:latin typeface="Avenir Next"/>
              </a:rPr>
              <a:t>cat · Alvesgaspar, Wikimedia Commons, CC BY-SA 3.0</a:t>
            </a:r>
          </a:p>
        </p:txBody>
      </p:sp>
      <p:sp>
        <p:nvSpPr>
          <p:cNvPr id="7" name="TextBox 6"/>
          <p:cNvSpPr txBox="1"/>
          <p:nvPr/>
        </p:nvSpPr>
        <p:spPr>
          <a:xfrm>
            <a:off x="6309360" y="2011680"/>
            <a:ext cx="5394960" cy="2154436"/>
          </a:xfrm>
          <a:prstGeom prst="rect">
            <a:avLst/>
          </a:prstGeom>
          <a:noFill/>
        </p:spPr>
        <p:txBody>
          <a:bodyPr wrap="square" anchor="t">
            <a:spAutoFit/>
          </a:bodyPr>
          <a:lstStyle/>
          <a:p>
            <a:pPr>
              <a:spcAft>
                <a:spcPts val="1200"/>
              </a:spcAft>
            </a:pPr>
            <a:r>
              <a:rPr sz="1900" b="0" i="0" dirty="0">
                <a:solidFill>
                  <a:srgbClr val="1B2025"/>
                </a:solidFill>
                <a:latin typeface="Avenir Next"/>
              </a:rPr>
              <a:t>Classic ML: a human picks what to measure — ear shape, whisker length, edge count — then a light model decides.</a:t>
            </a:r>
          </a:p>
          <a:p>
            <a:pPr>
              <a:spcAft>
                <a:spcPts val="1200"/>
              </a:spcAft>
            </a:pPr>
            <a:r>
              <a:rPr sz="1900" b="0" i="0" dirty="0">
                <a:solidFill>
                  <a:srgbClr val="1B2025"/>
                </a:solidFill>
                <a:latin typeface="Avenir Next"/>
              </a:rPr>
              <a:t>Strength: interpretable, data-thrifty. </a:t>
            </a:r>
            <a:endParaRPr lang="en-US" sz="1900" b="0" i="0" dirty="0">
              <a:solidFill>
                <a:srgbClr val="1B2025"/>
              </a:solidFill>
              <a:latin typeface="Avenir Next"/>
            </a:endParaRPr>
          </a:p>
          <a:p>
            <a:pPr>
              <a:spcAft>
                <a:spcPts val="1200"/>
              </a:spcAft>
            </a:pPr>
            <a:r>
              <a:rPr sz="1900" b="0" i="0" dirty="0">
                <a:solidFill>
                  <a:srgbClr val="1B2025"/>
                </a:solidFill>
                <a:latin typeface="Avenir Next"/>
              </a:rPr>
              <a:t>Ceiling: only as good as the features you thought to compute.</a:t>
            </a:r>
          </a:p>
        </p:txBody>
      </p:sp>
      <p:sp>
        <p:nvSpPr>
          <p:cNvPr id="8" name="Rectangle 7"/>
          <p:cNvSpPr/>
          <p:nvPr/>
        </p:nvSpPr>
        <p:spPr>
          <a:xfrm>
            <a:off x="6248400" y="4690872"/>
            <a:ext cx="5394960" cy="92354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US" sz="2400" b="0" i="0" dirty="0">
                <a:solidFill>
                  <a:srgbClr val="3D444C"/>
                </a:solidFill>
                <a:latin typeface="Avenir Next"/>
              </a:rPr>
              <a:t>What Classic ML approaches your lab/work is doing?</a:t>
            </a:r>
            <a:endParaRPr sz="2400" b="0" i="0" dirty="0">
              <a:solidFill>
                <a:srgbClr val="3D444C"/>
              </a:solidFill>
              <a:latin typeface="Avenir Nex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ENGINEERED VS. LEARNED · DEEP LEARNING (PAIR)</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Deep learning: the network learns the features</a:t>
            </a:r>
          </a:p>
        </p:txBody>
      </p:sp>
      <p:sp>
        <p:nvSpPr>
          <p:cNvPr id="5" name="TextBox 4"/>
          <p:cNvSpPr txBox="1"/>
          <p:nvPr/>
        </p:nvSpPr>
        <p:spPr>
          <a:xfrm>
            <a:off x="548640" y="1920240"/>
            <a:ext cx="10789920" cy="2785378"/>
          </a:xfrm>
          <a:prstGeom prst="rect">
            <a:avLst/>
          </a:prstGeom>
          <a:noFill/>
        </p:spPr>
        <p:txBody>
          <a:bodyPr wrap="square" anchor="t">
            <a:spAutoFit/>
          </a:bodyPr>
          <a:lstStyle/>
          <a:p>
            <a:pPr>
              <a:spcAft>
                <a:spcPts val="1800"/>
              </a:spcAft>
            </a:pPr>
            <a:r>
              <a:rPr sz="2600" b="1" i="0" dirty="0">
                <a:solidFill>
                  <a:srgbClr val="0E7C7B"/>
                </a:solidFill>
                <a:latin typeface="Avenir Next"/>
              </a:rPr>
              <a:t>•  </a:t>
            </a:r>
            <a:r>
              <a:rPr sz="2600" b="0" i="0" dirty="0">
                <a:solidFill>
                  <a:srgbClr val="1B2025"/>
                </a:solidFill>
                <a:latin typeface="Avenir Next"/>
              </a:rPr>
              <a:t>hand it RAW </a:t>
            </a:r>
            <a:r>
              <a:rPr lang="en-US" sz="2600" b="0" i="0" dirty="0">
                <a:solidFill>
                  <a:srgbClr val="1B2025"/>
                </a:solidFill>
                <a:latin typeface="Avenir Next"/>
              </a:rPr>
              <a:t>input</a:t>
            </a:r>
            <a:r>
              <a:rPr sz="2600" b="0" i="0" dirty="0">
                <a:solidFill>
                  <a:srgbClr val="1B2025"/>
                </a:solidFill>
                <a:latin typeface="Avenir Next"/>
              </a:rPr>
              <a:t>, not features you chose</a:t>
            </a:r>
          </a:p>
          <a:p>
            <a:pPr>
              <a:spcAft>
                <a:spcPts val="1800"/>
              </a:spcAft>
            </a:pPr>
            <a:r>
              <a:rPr sz="2600" b="1" i="0" dirty="0">
                <a:solidFill>
                  <a:srgbClr val="0E7C7B"/>
                </a:solidFill>
                <a:latin typeface="Avenir Next"/>
              </a:rPr>
              <a:t>•  </a:t>
            </a:r>
            <a:r>
              <a:rPr sz="2600" b="0" i="0" dirty="0">
                <a:solidFill>
                  <a:srgbClr val="1B2025"/>
                </a:solidFill>
                <a:latin typeface="Avenir Next"/>
              </a:rPr>
              <a:t>It discovers the useful edges, ears, and textures by itself</a:t>
            </a:r>
          </a:p>
          <a:p>
            <a:pPr>
              <a:spcAft>
                <a:spcPts val="1800"/>
              </a:spcAft>
            </a:pPr>
            <a:r>
              <a:rPr sz="2600" b="1" i="0" dirty="0">
                <a:solidFill>
                  <a:srgbClr val="0E7C7B"/>
                </a:solidFill>
                <a:latin typeface="Avenir Next"/>
              </a:rPr>
              <a:t>•  </a:t>
            </a:r>
            <a:r>
              <a:rPr sz="2600" b="0" i="0" dirty="0">
                <a:solidFill>
                  <a:srgbClr val="1B2025"/>
                </a:solidFill>
                <a:latin typeface="Avenir Next"/>
              </a:rPr>
              <a:t>It learns the features AND the decision, together</a:t>
            </a:r>
          </a:p>
          <a:p>
            <a:pPr>
              <a:spcAft>
                <a:spcPts val="1800"/>
              </a:spcAft>
            </a:pPr>
            <a:r>
              <a:rPr sz="2600" b="1" i="0" dirty="0">
                <a:solidFill>
                  <a:srgbClr val="0E7C7B"/>
                </a:solidFill>
                <a:latin typeface="Avenir Next"/>
              </a:rPr>
              <a:t>•  </a:t>
            </a:r>
            <a:r>
              <a:rPr sz="2600" b="0" i="0" dirty="0">
                <a:solidFill>
                  <a:srgbClr val="1B2025"/>
                </a:solidFill>
                <a:latin typeface="Avenir Next"/>
              </a:rPr>
              <a:t>Trade-off: less feature-guessing, but </a:t>
            </a:r>
            <a:r>
              <a:rPr sz="2600" b="1" i="0" dirty="0">
                <a:solidFill>
                  <a:srgbClr val="1B2025"/>
                </a:solidFill>
                <a:latin typeface="Avenir Next"/>
              </a:rPr>
              <a:t>more data</a:t>
            </a:r>
            <a:r>
              <a:rPr sz="2600" b="0" i="0" dirty="0">
                <a:solidFill>
                  <a:srgbClr val="1B2025"/>
                </a:solidFill>
                <a:latin typeface="Avenir Next"/>
              </a:rPr>
              <a:t>, </a:t>
            </a:r>
            <a:r>
              <a:rPr sz="2600" b="1" i="0" dirty="0">
                <a:solidFill>
                  <a:srgbClr val="1B2025"/>
                </a:solidFill>
                <a:latin typeface="Avenir Next"/>
              </a:rPr>
              <a:t>more compute</a:t>
            </a:r>
            <a:r>
              <a:rPr sz="2600" b="0" i="0" dirty="0">
                <a:solidFill>
                  <a:srgbClr val="1B2025"/>
                </a:solidFill>
                <a:latin typeface="Avenir Next"/>
              </a:rPr>
              <a:t>, </a:t>
            </a:r>
            <a:r>
              <a:rPr sz="2600" b="1" i="0" dirty="0">
                <a:solidFill>
                  <a:srgbClr val="1B2025"/>
                </a:solidFill>
                <a:latin typeface="Avenir Next"/>
              </a:rPr>
              <a:t>less interpretability</a:t>
            </a:r>
          </a:p>
        </p:txBody>
      </p:sp>
      <p:sp>
        <p:nvSpPr>
          <p:cNvPr id="6" name="Rectangle 5"/>
          <p:cNvSpPr/>
          <p:nvPr/>
        </p:nvSpPr>
        <p:spPr>
          <a:xfrm>
            <a:off x="685800" y="5923416"/>
            <a:ext cx="10515600" cy="914400"/>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E09E2F"/>
                </a:solidFill>
                <a:latin typeface="Menlo"/>
              </a:rPr>
              <a:t>PAIR · </a:t>
            </a:r>
            <a:r>
              <a:rPr sz="1700" b="0" i="0" dirty="0">
                <a:solidFill>
                  <a:srgbClr val="3D444C"/>
                </a:solidFill>
                <a:latin typeface="Avenir Next"/>
              </a:rPr>
              <a:t>Pair → Quiz 1, Q4 (MALDI Pipeline A vs. B). Name one hand-engineered feature your lab already computes. Turn to a </a:t>
            </a:r>
            <a:r>
              <a:rPr sz="1700" b="0" i="0" dirty="0" err="1">
                <a:solidFill>
                  <a:srgbClr val="3D444C"/>
                </a:solidFill>
                <a:latin typeface="Avenir Next"/>
              </a:rPr>
              <a:t>neighbour</a:t>
            </a:r>
            <a:r>
              <a:rPr sz="1700" b="0" i="0" dirty="0">
                <a:solidFill>
                  <a:srgbClr val="3D444C"/>
                </a:solidFill>
                <a:latin typeface="Avenir Next"/>
              </a:rPr>
              <a:t>, </a:t>
            </a:r>
            <a:r>
              <a:rPr lang="en-US" sz="1700" b="0" i="0" dirty="0">
                <a:solidFill>
                  <a:srgbClr val="3D444C"/>
                </a:solidFill>
                <a:latin typeface="Avenir Next"/>
              </a:rPr>
              <a:t>1</a:t>
            </a:r>
            <a:r>
              <a:rPr sz="1700" b="0" i="0" dirty="0">
                <a:solidFill>
                  <a:srgbClr val="3D444C"/>
                </a:solidFill>
                <a:latin typeface="Avenir Next"/>
              </a:rPr>
              <a:t> minutes.</a:t>
            </a:r>
          </a:p>
        </p:txBody>
      </p:sp>
      <p:sp>
        <p:nvSpPr>
          <p:cNvPr id="7" name="TextBox 6">
            <a:extLst>
              <a:ext uri="{FF2B5EF4-FFF2-40B4-BE49-F238E27FC236}">
                <a16:creationId xmlns:a16="http://schemas.microsoft.com/office/drawing/2014/main" id="{ECE133FF-0D02-77F2-0B23-E81C7ADC3420}"/>
              </a:ext>
            </a:extLst>
          </p:cNvPr>
          <p:cNvSpPr txBox="1"/>
          <p:nvPr/>
        </p:nvSpPr>
        <p:spPr>
          <a:xfrm>
            <a:off x="1515657" y="4821256"/>
            <a:ext cx="8855886" cy="1015663"/>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sz="2400" b="1" dirty="0"/>
              <a:t>You need a huge rocket engine, and you need a lot of fuel.</a:t>
            </a:r>
            <a:br>
              <a:rPr lang="en-US" dirty="0"/>
            </a:br>
            <a:br>
              <a:rPr lang="en-US" dirty="0"/>
            </a:br>
            <a:r>
              <a:rPr lang="en-US" dirty="0"/>
              <a:t>— Andrew Ng (Founder of Coursera, Standford Prof, Google Brain)</a:t>
            </a:r>
          </a:p>
        </p:txBody>
      </p:sp>
      <p:pic>
        <p:nvPicPr>
          <p:cNvPr id="2" name="Picture 1" descr="cat.jpg">
            <a:extLst>
              <a:ext uri="{FF2B5EF4-FFF2-40B4-BE49-F238E27FC236}">
                <a16:creationId xmlns:a16="http://schemas.microsoft.com/office/drawing/2014/main" id="{19DFA121-74FE-0673-DC14-E3BEFAF4E282}"/>
              </a:ext>
            </a:extLst>
          </p:cNvPr>
          <p:cNvPicPr>
            <a:picLocks noChangeAspect="1"/>
          </p:cNvPicPr>
          <p:nvPr/>
        </p:nvPicPr>
        <p:blipFill>
          <a:blip r:embed="rId3"/>
          <a:stretch>
            <a:fillRect/>
          </a:stretch>
        </p:blipFill>
        <p:spPr>
          <a:xfrm>
            <a:off x="9695770" y="1370372"/>
            <a:ext cx="1642790" cy="21956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B81F4-B2FF-068C-190A-C106497FA303}"/>
              </a:ext>
            </a:extLst>
          </p:cNvPr>
          <p:cNvSpPr>
            <a:spLocks noGrp="1"/>
          </p:cNvSpPr>
          <p:nvPr>
            <p:ph type="ctrTitle"/>
          </p:nvPr>
        </p:nvSpPr>
        <p:spPr/>
        <p:txBody>
          <a:bodyPr/>
          <a:lstStyle/>
          <a:p>
            <a:r>
              <a:rPr lang="en-US" dirty="0"/>
              <a:t>Theory Fundamentals</a:t>
            </a:r>
          </a:p>
        </p:txBody>
      </p:sp>
      <p:sp>
        <p:nvSpPr>
          <p:cNvPr id="3" name="Subtitle 2">
            <a:extLst>
              <a:ext uri="{FF2B5EF4-FFF2-40B4-BE49-F238E27FC236}">
                <a16:creationId xmlns:a16="http://schemas.microsoft.com/office/drawing/2014/main" id="{7A9C44CD-5B94-8AE3-FEDD-36103A713499}"/>
              </a:ext>
            </a:extLst>
          </p:cNvPr>
          <p:cNvSpPr>
            <a:spLocks noGrp="1"/>
          </p:cNvSpPr>
          <p:nvPr>
            <p:ph type="subTitle" idx="1"/>
          </p:nvPr>
        </p:nvSpPr>
        <p:spPr/>
        <p:txBody>
          <a:bodyPr/>
          <a:lstStyle/>
          <a:p>
            <a:r>
              <a:rPr lang="en-US" dirty="0"/>
              <a:t>The “simple” math behind the neural networks</a:t>
            </a:r>
          </a:p>
        </p:txBody>
      </p:sp>
      <p:sp>
        <p:nvSpPr>
          <p:cNvPr id="4" name="Text Placeholder 3">
            <a:extLst>
              <a:ext uri="{FF2B5EF4-FFF2-40B4-BE49-F238E27FC236}">
                <a16:creationId xmlns:a16="http://schemas.microsoft.com/office/drawing/2014/main" id="{6ABB0AFC-E766-C851-5E5A-57A0340DDFF0}"/>
              </a:ext>
            </a:extLst>
          </p:cNvPr>
          <p:cNvSpPr>
            <a:spLocks noGrp="1"/>
          </p:cNvSpPr>
          <p:nvPr>
            <p:ph type="body" sz="quarter" idx="13"/>
          </p:nvPr>
        </p:nvSpPr>
        <p:spPr/>
        <p:txBody>
          <a:bodyPr/>
          <a:lstStyle/>
          <a:p>
            <a:r>
              <a:rPr sz="1300" b="1" i="0">
                <a:solidFill>
                  <a:srgbClr val="8A9099"/>
                </a:solidFill>
                <a:latin typeface="Menlo"/>
              </a:rPr>
              <a:t>LECTURE 1 · THEORY FUNDAMENTALS</a:t>
            </a:r>
          </a:p>
        </p:txBody>
      </p:sp>
    </p:spTree>
    <p:extLst>
      <p:ext uri="{BB962C8B-B14F-4D97-AF65-F5344CB8AC3E}">
        <p14:creationId xmlns:p14="http://schemas.microsoft.com/office/powerpoint/2010/main" val="3712791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4CEE6-6646-5540-BB09-6449CC7486C3}"/>
              </a:ext>
            </a:extLst>
          </p:cNvPr>
          <p:cNvSpPr>
            <a:spLocks noGrp="1"/>
          </p:cNvSpPr>
          <p:nvPr>
            <p:ph type="title"/>
          </p:nvPr>
        </p:nvSpPr>
        <p:spPr/>
        <p:txBody>
          <a:bodyPr/>
          <a:lstStyle/>
          <a:p>
            <a:r>
              <a:rPr lang="en-US" dirty="0"/>
              <a:t>Perceptron</a:t>
            </a:r>
          </a:p>
        </p:txBody>
      </p:sp>
      <p:pic>
        <p:nvPicPr>
          <p:cNvPr id="5" name="Content Placeholder 4" descr="The Concept of Artificial Neurons (Perceptrons) in Neural Networks |  Towards Data Science">
            <a:extLst>
              <a:ext uri="{FF2B5EF4-FFF2-40B4-BE49-F238E27FC236}">
                <a16:creationId xmlns:a16="http://schemas.microsoft.com/office/drawing/2014/main" id="{EDEFEAB7-D53E-C831-0C26-E977BF18E1E1}"/>
              </a:ext>
            </a:extLst>
          </p:cNvPr>
          <p:cNvPicPr>
            <a:picLocks noGrp="1" noChangeAspect="1"/>
          </p:cNvPicPr>
          <p:nvPr>
            <p:ph idx="1"/>
          </p:nvPr>
        </p:nvPicPr>
        <p:blipFill>
          <a:blip r:embed="rId2"/>
          <a:stretch>
            <a:fillRect/>
          </a:stretch>
        </p:blipFill>
        <p:spPr>
          <a:xfrm>
            <a:off x="1603460" y="1783080"/>
            <a:ext cx="9207500" cy="3949700"/>
          </a:xfrm>
          <a:prstGeom prst="rect">
            <a:avLst/>
          </a:prstGeom>
        </p:spPr>
      </p:pic>
      <p:sp>
        <p:nvSpPr>
          <p:cNvPr id="4" name="Text Placeholder 3">
            <a:extLst>
              <a:ext uri="{FF2B5EF4-FFF2-40B4-BE49-F238E27FC236}">
                <a16:creationId xmlns:a16="http://schemas.microsoft.com/office/drawing/2014/main" id="{D75019A2-99F0-5F27-EBC9-57A9FE1DB483}"/>
              </a:ext>
            </a:extLst>
          </p:cNvPr>
          <p:cNvSpPr>
            <a:spLocks noGrp="1"/>
          </p:cNvSpPr>
          <p:nvPr>
            <p:ph type="body" sz="quarter" idx="13"/>
          </p:nvPr>
        </p:nvSpPr>
        <p:spPr/>
        <p:txBody>
          <a:bodyPr/>
          <a:lstStyle/>
          <a:p>
            <a:r>
              <a:rPr sz="1300" b="1" i="0">
                <a:solidFill>
                  <a:srgbClr val="8A9099"/>
                </a:solidFill>
                <a:latin typeface="Menlo"/>
              </a:rPr>
              <a:t>THE NEURON · THE PERCEPTRON</a:t>
            </a:r>
          </a:p>
        </p:txBody>
      </p:sp>
    </p:spTree>
    <p:extLst>
      <p:ext uri="{BB962C8B-B14F-4D97-AF65-F5344CB8AC3E}">
        <p14:creationId xmlns:p14="http://schemas.microsoft.com/office/powerpoint/2010/main" val="1588248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THE NEURON · ANATOMY</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 neuron: weighted sum → bias → activation → output</a:t>
            </a:r>
          </a:p>
        </p:txBody>
      </p:sp>
      <p:sp>
        <p:nvSpPr>
          <p:cNvPr id="5" name="Rounded Rectangle 4"/>
          <p:cNvSpPr/>
          <p:nvPr/>
        </p:nvSpPr>
        <p:spPr>
          <a:xfrm>
            <a:off x="548640" y="2743200"/>
            <a:ext cx="2594610" cy="1371600"/>
          </a:xfrm>
          <a:prstGeom prst="roundRect">
            <a:avLst/>
          </a:prstGeom>
          <a:solidFill>
            <a:srgbClr val="FFFFFF"/>
          </a:solidFill>
          <a:ln w="1905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dirty="0">
                <a:solidFill>
                  <a:srgbClr val="1B2025"/>
                </a:solidFill>
                <a:latin typeface="Avenir Next"/>
              </a:rPr>
              <a:t>inputs</a:t>
            </a:r>
          </a:p>
          <a:p>
            <a:pPr algn="ctr"/>
            <a:r>
              <a:rPr sz="1200" b="0" i="0" dirty="0">
                <a:solidFill>
                  <a:srgbClr val="8A9099"/>
                </a:solidFill>
                <a:latin typeface="Avenir Next"/>
              </a:rPr>
              <a:t>x1, x2 (two numbers)</a:t>
            </a:r>
          </a:p>
        </p:txBody>
      </p:sp>
      <p:cxnSp>
        <p:nvCxnSpPr>
          <p:cNvPr id="6" name="Connector 5"/>
          <p:cNvCxnSpPr/>
          <p:nvPr/>
        </p:nvCxnSpPr>
        <p:spPr>
          <a:xfrm>
            <a:off x="314325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1850" y="2743200"/>
            <a:ext cx="2594610" cy="1371600"/>
          </a:xfrm>
          <a:prstGeom prst="roundRect">
            <a:avLst/>
          </a:prstGeom>
          <a:solidFill>
            <a:srgbClr val="FFFFFF"/>
          </a:solidFill>
          <a:ln w="3175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dirty="0">
                <a:solidFill>
                  <a:srgbClr val="0E7C7B"/>
                </a:solidFill>
                <a:latin typeface="Avenir Next"/>
              </a:rPr>
              <a:t>weighted sum</a:t>
            </a:r>
          </a:p>
          <a:p>
            <a:pPr algn="ctr"/>
            <a:r>
              <a:rPr sz="1200" b="0" i="0" dirty="0">
                <a:solidFill>
                  <a:srgbClr val="8A9099"/>
                </a:solidFill>
                <a:latin typeface="Avenir Next"/>
              </a:rPr>
              <a:t>w1·x1 + w2·x2 + b</a:t>
            </a:r>
          </a:p>
        </p:txBody>
      </p:sp>
      <p:cxnSp>
        <p:nvCxnSpPr>
          <p:cNvPr id="8" name="Connector 7"/>
          <p:cNvCxnSpPr/>
          <p:nvPr/>
        </p:nvCxnSpPr>
        <p:spPr>
          <a:xfrm>
            <a:off x="596646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95060" y="2743200"/>
            <a:ext cx="2594610" cy="1371600"/>
          </a:xfrm>
          <a:prstGeom prst="roundRect">
            <a:avLst/>
          </a:prstGeom>
          <a:solidFill>
            <a:srgbClr val="FFFFFF"/>
          </a:solidFill>
          <a:ln w="3175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E09E2F"/>
                </a:solidFill>
                <a:latin typeface="Avenir Next"/>
              </a:rPr>
              <a:t>activation</a:t>
            </a:r>
          </a:p>
          <a:p>
            <a:pPr algn="ctr"/>
            <a:r>
              <a:rPr sz="1200" b="0" i="0">
                <a:solidFill>
                  <a:srgbClr val="8A9099"/>
                </a:solidFill>
                <a:latin typeface="Avenir Next"/>
              </a:rPr>
              <a:t>bend f(z)</a:t>
            </a:r>
          </a:p>
        </p:txBody>
      </p:sp>
      <p:cxnSp>
        <p:nvCxnSpPr>
          <p:cNvPr id="10" name="Connector 9"/>
          <p:cNvCxnSpPr/>
          <p:nvPr/>
        </p:nvCxnSpPr>
        <p:spPr>
          <a:xfrm>
            <a:off x="878967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018270" y="2743200"/>
            <a:ext cx="2594610" cy="1371600"/>
          </a:xfrm>
          <a:prstGeom prst="roundRect">
            <a:avLst/>
          </a:prstGeom>
          <a:solidFill>
            <a:srgbClr val="FFFFFF"/>
          </a:solidFill>
          <a:ln w="1905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1B2025"/>
                </a:solidFill>
                <a:latin typeface="Avenir Next"/>
              </a:rPr>
              <a:t>output</a:t>
            </a:r>
          </a:p>
          <a:p>
            <a:pPr algn="ctr"/>
            <a:r>
              <a:rPr sz="1200" b="0" i="0">
                <a:solidFill>
                  <a:srgbClr val="8A9099"/>
                </a:solidFill>
                <a:latin typeface="Avenir Next"/>
              </a:rPr>
              <a:t>y</a:t>
            </a:r>
          </a:p>
        </p:txBody>
      </p:sp>
      <p:sp>
        <p:nvSpPr>
          <p:cNvPr id="12" name="Rectangle 11"/>
          <p:cNvSpPr/>
          <p:nvPr/>
        </p:nvSpPr>
        <p:spPr>
          <a:xfrm>
            <a:off x="548640" y="4937760"/>
            <a:ext cx="10515600" cy="914400"/>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US" sz="1700" b="0" i="0" u="sng" dirty="0">
                <a:solidFill>
                  <a:srgbClr val="3D444C"/>
                </a:solidFill>
                <a:latin typeface="Avenir Next"/>
              </a:rPr>
              <a:t>Weight and Bias will transform the feature; </a:t>
            </a:r>
          </a:p>
          <a:p>
            <a:pPr algn="ctr"/>
            <a:r>
              <a:rPr lang="en-US" sz="1700" b="0" i="0" u="sng" dirty="0">
                <a:solidFill>
                  <a:srgbClr val="3D444C"/>
                </a:solidFill>
                <a:latin typeface="Avenir Next"/>
              </a:rPr>
              <a:t>Activation will make it non-linear.</a:t>
            </a:r>
          </a:p>
          <a:p>
            <a:pPr algn="ctr"/>
            <a:r>
              <a:rPr sz="1700" b="0" i="0" dirty="0">
                <a:solidFill>
                  <a:srgbClr val="3D444C"/>
                </a:solidFill>
                <a:latin typeface="Avenir Next"/>
              </a:rPr>
              <a:t>(Lecture 2</a:t>
            </a:r>
            <a:r>
              <a:rPr lang="en-US" sz="1700" b="0" i="0" dirty="0">
                <a:solidFill>
                  <a:srgbClr val="3D444C"/>
                </a:solidFill>
                <a:latin typeface="Avenir Next"/>
              </a:rPr>
              <a:t> will cover the training of the parameters</a:t>
            </a:r>
            <a:r>
              <a:rPr sz="1700" b="0" i="0" dirty="0">
                <a:solidFill>
                  <a:srgbClr val="3D444C"/>
                </a:solidFill>
                <a:latin typeface="Avenir Nex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THE NEURON · YOUR TURN (YOU-DO)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Pick the activation — then compute one</a:t>
            </a:r>
          </a:p>
        </p:txBody>
      </p:sp>
      <p:pic>
        <p:nvPicPr>
          <p:cNvPr id="5" name="Picture 4" descr="fig_activation_apply.png"/>
          <p:cNvPicPr>
            <a:picLocks noChangeAspect="1"/>
          </p:cNvPicPr>
          <p:nvPr/>
        </p:nvPicPr>
        <p:blipFill>
          <a:blip r:embed="rId3"/>
          <a:stretch>
            <a:fillRect/>
          </a:stretch>
        </p:blipFill>
        <p:spPr>
          <a:xfrm>
            <a:off x="2615426" y="1828800"/>
            <a:ext cx="6930667" cy="3200400"/>
          </a:xfrm>
          <a:prstGeom prst="rect">
            <a:avLst/>
          </a:prstGeom>
        </p:spPr>
      </p:pic>
      <p:sp>
        <p:nvSpPr>
          <p:cNvPr id="6" name="Rectangle 5"/>
          <p:cNvSpPr/>
          <p:nvPr/>
        </p:nvSpPr>
        <p:spPr>
          <a:xfrm>
            <a:off x="548640" y="512064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E09E2F"/>
                </a:solidFill>
                <a:latin typeface="Menlo"/>
              </a:rPr>
              <a:t>CHECKPOINT · </a:t>
            </a:r>
            <a:r>
              <a:rPr sz="1700" b="0" i="0" dirty="0">
                <a:solidFill>
                  <a:srgbClr val="3D444C"/>
                </a:solidFill>
                <a:latin typeface="Avenir Next"/>
              </a:rPr>
              <a:t>Your turn → Quiz 1, Q1. Your MRSA classifier's FINAL neuron must output a 0–1 probability of resistant: which curve goes there? Then compute </a:t>
            </a:r>
            <a:r>
              <a:rPr sz="1700" b="0" i="0" dirty="0" err="1">
                <a:solidFill>
                  <a:srgbClr val="3D444C"/>
                </a:solidFill>
                <a:latin typeface="Avenir Next"/>
              </a:rPr>
              <a:t>ReLU</a:t>
            </a:r>
            <a:r>
              <a:rPr sz="1700" b="0" i="0" dirty="0">
                <a:solidFill>
                  <a:srgbClr val="3D444C"/>
                </a:solidFill>
                <a:latin typeface="Avenir Next"/>
              </a:rPr>
              <a:t>(−3) and sigmoid(0). 90 seconds — answers in the notes.</a:t>
            </a:r>
          </a:p>
        </p:txBody>
      </p:sp>
      <p:pic>
        <p:nvPicPr>
          <p:cNvPr id="8" name="Picture 7">
            <a:extLst>
              <a:ext uri="{FF2B5EF4-FFF2-40B4-BE49-F238E27FC236}">
                <a16:creationId xmlns:a16="http://schemas.microsoft.com/office/drawing/2014/main" id="{465D6ED3-634A-F903-7717-84A81FB5DE82}"/>
              </a:ext>
            </a:extLst>
          </p:cNvPr>
          <p:cNvPicPr>
            <a:picLocks noChangeAspect="1"/>
          </p:cNvPicPr>
          <p:nvPr/>
        </p:nvPicPr>
        <p:blipFill>
          <a:blip r:embed="rId4"/>
          <a:stretch>
            <a:fillRect/>
          </a:stretch>
        </p:blipFill>
        <p:spPr>
          <a:xfrm>
            <a:off x="5134609" y="4069080"/>
            <a:ext cx="1892300" cy="622300"/>
          </a:xfrm>
          <a:prstGeom prst="rect">
            <a:avLst/>
          </a:prstGeom>
        </p:spPr>
      </p:pic>
      <p:pic>
        <p:nvPicPr>
          <p:cNvPr id="9" name="Picture 8">
            <a:extLst>
              <a:ext uri="{FF2B5EF4-FFF2-40B4-BE49-F238E27FC236}">
                <a16:creationId xmlns:a16="http://schemas.microsoft.com/office/drawing/2014/main" id="{87324E66-9E65-D8C9-831B-13C62CEFA181}"/>
              </a:ext>
            </a:extLst>
          </p:cNvPr>
          <p:cNvPicPr>
            <a:picLocks noChangeAspect="1"/>
          </p:cNvPicPr>
          <p:nvPr/>
        </p:nvPicPr>
        <p:blipFill>
          <a:blip r:embed="rId5"/>
          <a:stretch>
            <a:fillRect/>
          </a:stretch>
        </p:blipFill>
        <p:spPr>
          <a:xfrm>
            <a:off x="850125" y="3262802"/>
            <a:ext cx="1765300" cy="800100"/>
          </a:xfrm>
          <a:prstGeom prst="rect">
            <a:avLst/>
          </a:prstGeom>
        </p:spPr>
      </p:pic>
      <p:sp>
        <p:nvSpPr>
          <p:cNvPr id="10" name="TextBox 9">
            <a:extLst>
              <a:ext uri="{FF2B5EF4-FFF2-40B4-BE49-F238E27FC236}">
                <a16:creationId xmlns:a16="http://schemas.microsoft.com/office/drawing/2014/main" id="{8294DB0D-1FA3-E6D3-A294-ADBF92C8F843}"/>
              </a:ext>
            </a:extLst>
          </p:cNvPr>
          <p:cNvSpPr txBox="1"/>
          <p:nvPr/>
        </p:nvSpPr>
        <p:spPr>
          <a:xfrm>
            <a:off x="7819044" y="2964759"/>
            <a:ext cx="1238457" cy="1200329"/>
          </a:xfrm>
          <a:prstGeom prst="rect">
            <a:avLst/>
          </a:prstGeom>
          <a:noFill/>
        </p:spPr>
        <p:txBody>
          <a:bodyPr wrap="square" rtlCol="0">
            <a:spAutoFit/>
          </a:bodyPr>
          <a:lstStyle/>
          <a:p>
            <a:r>
              <a:rPr lang="en-US" sz="72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THE NEURON · WORKED BY HAND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One neuron, real numbers</a:t>
            </a:r>
          </a:p>
        </p:txBody>
      </p:sp>
      <p:pic>
        <p:nvPicPr>
          <p:cNvPr id="5" name="Picture 4" descr="fig_neuron_ido.png"/>
          <p:cNvPicPr>
            <a:picLocks noChangeAspect="1"/>
          </p:cNvPicPr>
          <p:nvPr/>
        </p:nvPicPr>
        <p:blipFill>
          <a:blip r:embed="rId3"/>
          <a:stretch>
            <a:fillRect/>
          </a:stretch>
        </p:blipFill>
        <p:spPr>
          <a:xfrm>
            <a:off x="2632553" y="1828800"/>
            <a:ext cx="6896413" cy="3200400"/>
          </a:xfrm>
          <a:prstGeom prst="rect">
            <a:avLst/>
          </a:prstGeom>
        </p:spPr>
      </p:pic>
      <p:sp>
        <p:nvSpPr>
          <p:cNvPr id="6" name="Rectangle 5"/>
          <p:cNvSpPr/>
          <p:nvPr/>
        </p:nvSpPr>
        <p:spPr>
          <a:xfrm>
            <a:off x="548640" y="5120640"/>
            <a:ext cx="10515600" cy="914400"/>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US" sz="1200" b="1" i="0" dirty="0">
                <a:solidFill>
                  <a:srgbClr val="0E7C7B"/>
                </a:solidFill>
                <a:latin typeface="Menlo"/>
              </a:rPr>
              <a:t>Math</a:t>
            </a:r>
            <a:r>
              <a:rPr sz="1200" b="1" i="0" dirty="0">
                <a:solidFill>
                  <a:srgbClr val="0E7C7B"/>
                </a:solidFill>
                <a:latin typeface="Menlo"/>
              </a:rPr>
              <a:t>· </a:t>
            </a:r>
            <a:r>
              <a:rPr sz="1700" b="0" i="0" dirty="0">
                <a:solidFill>
                  <a:srgbClr val="3D444C"/>
                </a:solidFill>
                <a:latin typeface="Avenir Next"/>
              </a:rPr>
              <a:t>z = (2·3) + (−1·2) + 1 = 5, so </a:t>
            </a:r>
            <a:r>
              <a:rPr sz="1700" b="0" i="0" dirty="0" err="1">
                <a:solidFill>
                  <a:srgbClr val="3D444C"/>
                </a:solidFill>
                <a:latin typeface="Avenir Next"/>
              </a:rPr>
              <a:t>ReLU</a:t>
            </a:r>
            <a:r>
              <a:rPr sz="1700" b="0" i="0" dirty="0">
                <a:solidFill>
                  <a:srgbClr val="3D444C"/>
                </a:solidFill>
                <a:latin typeface="Avenir Next"/>
              </a:rPr>
              <a:t>(5) = 5 — the neuron fires. Read x as two peak intensities: this neuron likes input 1 and distrusts input 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THE NEURON · YOUR TURN (YOU-DO)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neuron — compute it</a:t>
            </a:r>
          </a:p>
        </p:txBody>
      </p:sp>
      <p:pic>
        <p:nvPicPr>
          <p:cNvPr id="5" name="Picture 4" descr="fig_neuron_youdo.png"/>
          <p:cNvPicPr>
            <a:picLocks noChangeAspect="1"/>
          </p:cNvPicPr>
          <p:nvPr/>
        </p:nvPicPr>
        <p:blipFill>
          <a:blip r:embed="rId3"/>
          <a:stretch>
            <a:fillRect/>
          </a:stretch>
        </p:blipFill>
        <p:spPr>
          <a:xfrm>
            <a:off x="2632553" y="1828800"/>
            <a:ext cx="6896413" cy="3200400"/>
          </a:xfrm>
          <a:prstGeom prst="rect">
            <a:avLst/>
          </a:prstGeom>
        </p:spPr>
      </p:pic>
      <p:sp>
        <p:nvSpPr>
          <p:cNvPr id="6" name="Rectangle 5"/>
          <p:cNvSpPr/>
          <p:nvPr/>
        </p:nvSpPr>
        <p:spPr>
          <a:xfrm>
            <a:off x="548640" y="5120640"/>
            <a:ext cx="10515600" cy="914400"/>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 Q2. Compute z = w·x + b, then apply ReLU. 90 seconds with a neighbour — worked answer in the notes.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STACKING · A LAYER IS A MATRIX, ROW 1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Two neurons, three inputs — row 1</a:t>
            </a:r>
          </a:p>
        </p:txBody>
      </p:sp>
      <p:pic>
        <p:nvPicPr>
          <p:cNvPr id="5" name="Picture 4" descr="fig_matvec_row1.png"/>
          <p:cNvPicPr>
            <a:picLocks noChangeAspect="1"/>
          </p:cNvPicPr>
          <p:nvPr/>
        </p:nvPicPr>
        <p:blipFill>
          <a:blip r:embed="rId3"/>
          <a:stretch>
            <a:fillRect/>
          </a:stretch>
        </p:blipFill>
        <p:spPr>
          <a:xfrm>
            <a:off x="1573154" y="1828800"/>
            <a:ext cx="9015211" cy="3200400"/>
          </a:xfrm>
          <a:prstGeom prst="rect">
            <a:avLst/>
          </a:prstGeom>
        </p:spPr>
      </p:pic>
      <p:sp>
        <p:nvSpPr>
          <p:cNvPr id="6" name="Rectangle 5"/>
          <p:cNvSpPr/>
          <p:nvPr/>
        </p:nvSpPr>
        <p:spPr>
          <a:xfrm>
            <a:off x="548640" y="5120640"/>
            <a:ext cx="10515600" cy="914400"/>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Each ROW of W is one neuron; running the layer is W·x. Shapes must click: 3 inputs → 3 columns · 2 neurons → 2 rows → 2 outputs. Row 1 = (1·2)+(0·1)+(2·0) = 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STACKING · YOUR TURN, ROW 2 (YOU-DO)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Row 2 — your turn, then read Wx</a:t>
            </a:r>
          </a:p>
        </p:txBody>
      </p:sp>
      <p:pic>
        <p:nvPicPr>
          <p:cNvPr id="5" name="Picture 4" descr="fig_matvec_row2.png"/>
          <p:cNvPicPr>
            <a:picLocks noChangeAspect="1"/>
          </p:cNvPicPr>
          <p:nvPr/>
        </p:nvPicPr>
        <p:blipFill>
          <a:blip r:embed="rId3"/>
          <a:stretch>
            <a:fillRect/>
          </a:stretch>
        </p:blipFill>
        <p:spPr>
          <a:xfrm>
            <a:off x="1573154" y="1828800"/>
            <a:ext cx="9015211" cy="3200400"/>
          </a:xfrm>
          <a:prstGeom prst="rect">
            <a:avLst/>
          </a:prstGeom>
        </p:spPr>
      </p:pic>
      <p:sp>
        <p:nvSpPr>
          <p:cNvPr id="6" name="Rectangle 5"/>
          <p:cNvSpPr/>
          <p:nvPr/>
        </p:nvSpPr>
        <p:spPr>
          <a:xfrm>
            <a:off x="548640" y="5120640"/>
            <a:ext cx="10515600" cy="914400"/>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 Q3. Compute row 2's dot product and read the full output Wx. Worked answer in the notes.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WHY THE BEND MATTERS · THE BIG PICTURE</a:t>
            </a:r>
          </a:p>
        </p:txBody>
      </p:sp>
      <p:sp>
        <p:nvSpPr>
          <p:cNvPr id="4" name="TextBox 3"/>
          <p:cNvSpPr txBox="1"/>
          <p:nvPr/>
        </p:nvSpPr>
        <p:spPr>
          <a:xfrm>
            <a:off x="548640" y="731520"/>
            <a:ext cx="11064240" cy="615553"/>
          </a:xfrm>
          <a:prstGeom prst="rect">
            <a:avLst/>
          </a:prstGeom>
          <a:noFill/>
        </p:spPr>
        <p:txBody>
          <a:bodyPr wrap="square" anchor="t">
            <a:spAutoFit/>
          </a:bodyPr>
          <a:lstStyle/>
          <a:p>
            <a:r>
              <a:rPr lang="en-US" sz="3400" b="1" i="0" dirty="0">
                <a:solidFill>
                  <a:srgbClr val="1B2025"/>
                </a:solidFill>
                <a:latin typeface="Avenir Next"/>
              </a:rPr>
              <a:t>Core Belief: </a:t>
            </a:r>
            <a:r>
              <a:rPr sz="3400" b="1" i="0" dirty="0">
                <a:solidFill>
                  <a:srgbClr val="1B2025"/>
                </a:solidFill>
                <a:latin typeface="Avenir Next"/>
              </a:rPr>
              <a:t>Enough </a:t>
            </a:r>
            <a:r>
              <a:rPr lang="en-US" sz="3400" b="1" i="0" dirty="0">
                <a:solidFill>
                  <a:srgbClr val="1B2025"/>
                </a:solidFill>
                <a:latin typeface="Avenir Next"/>
              </a:rPr>
              <a:t>”layers”</a:t>
            </a:r>
            <a:r>
              <a:rPr sz="3400" b="1" i="0" dirty="0">
                <a:solidFill>
                  <a:srgbClr val="1B2025"/>
                </a:solidFill>
                <a:latin typeface="Avenir Next"/>
              </a:rPr>
              <a:t> can trace ANY curve</a:t>
            </a:r>
          </a:p>
        </p:txBody>
      </p:sp>
      <p:pic>
        <p:nvPicPr>
          <p:cNvPr id="5" name="Picture 4" descr="fig_universal_approx.png"/>
          <p:cNvPicPr>
            <a:picLocks noChangeAspect="1"/>
          </p:cNvPicPr>
          <p:nvPr/>
        </p:nvPicPr>
        <p:blipFill>
          <a:blip r:embed="rId3"/>
          <a:stretch>
            <a:fillRect/>
          </a:stretch>
        </p:blipFill>
        <p:spPr>
          <a:xfrm>
            <a:off x="3016941" y="3337560"/>
            <a:ext cx="6036197" cy="3200400"/>
          </a:xfrm>
          <a:prstGeom prst="rect">
            <a:avLst/>
          </a:prstGeom>
        </p:spPr>
      </p:pic>
      <p:sp>
        <p:nvSpPr>
          <p:cNvPr id="6" name="Rectangle 5"/>
          <p:cNvSpPr/>
          <p:nvPr/>
        </p:nvSpPr>
        <p:spPr>
          <a:xfrm>
            <a:off x="672207" y="1558804"/>
            <a:ext cx="10515600" cy="1572768"/>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2400" b="1" i="0" dirty="0">
                <a:solidFill>
                  <a:srgbClr val="00B0F0"/>
                </a:solidFill>
                <a:latin typeface="Avenir Next"/>
              </a:rPr>
              <a:t>Universal approximation</a:t>
            </a:r>
            <a:r>
              <a:rPr lang="en-US" sz="2400" b="1" i="0" dirty="0">
                <a:solidFill>
                  <a:srgbClr val="00B0F0"/>
                </a:solidFill>
                <a:latin typeface="Avenir Next"/>
              </a:rPr>
              <a:t> theorem</a:t>
            </a:r>
            <a:r>
              <a:rPr sz="2400" b="0" i="0" dirty="0">
                <a:solidFill>
                  <a:srgbClr val="3D444C"/>
                </a:solidFill>
                <a:latin typeface="Avenir Next"/>
              </a:rPr>
              <a:t>, in one picture: add up </a:t>
            </a:r>
            <a:r>
              <a:rPr sz="2400" b="0" i="0" dirty="0">
                <a:solidFill>
                  <a:srgbClr val="FF0000"/>
                </a:solidFill>
                <a:latin typeface="Avenir Next"/>
              </a:rPr>
              <a:t>enough</a:t>
            </a:r>
            <a:r>
              <a:rPr sz="2400" b="0" i="0" dirty="0">
                <a:solidFill>
                  <a:srgbClr val="3D444C"/>
                </a:solidFill>
                <a:latin typeface="Avenir Next"/>
              </a:rPr>
              <a:t> </a:t>
            </a:r>
            <a:r>
              <a:rPr lang="en-US" sz="2400" b="0" i="0" dirty="0">
                <a:solidFill>
                  <a:srgbClr val="3D444C"/>
                </a:solidFill>
                <a:latin typeface="Avenir Next"/>
              </a:rPr>
              <a:t>(multi-add-bend)</a:t>
            </a:r>
            <a:r>
              <a:rPr sz="2400" b="0" i="0" dirty="0">
                <a:solidFill>
                  <a:srgbClr val="3D444C"/>
                </a:solidFill>
                <a:latin typeface="Avenir Next"/>
              </a:rPr>
              <a:t> pieces and the network approximates </a:t>
            </a:r>
            <a:r>
              <a:rPr sz="2400" b="1" i="0" dirty="0">
                <a:solidFill>
                  <a:srgbClr val="3D444C"/>
                </a:solidFill>
                <a:latin typeface="Avenir Next"/>
              </a:rPr>
              <a:t>any shape</a:t>
            </a:r>
            <a:r>
              <a:rPr sz="2400" b="0" i="0" dirty="0">
                <a:solidFill>
                  <a:srgbClr val="3D444C"/>
                </a:solidFill>
                <a:latin typeface="Avenir Next"/>
              </a:rPr>
              <a:t>. Depth and width buy you bends — that is the whole magic.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STACKING · ONE LAYER FEEDS THE NEXT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Deep = repeat the move, feeding each layer the last</a:t>
            </a:r>
          </a:p>
        </p:txBody>
      </p:sp>
      <p:pic>
        <p:nvPicPr>
          <p:cNvPr id="5" name="Picture 4" descr="fig_twolayer_ido.png"/>
          <p:cNvPicPr>
            <a:picLocks noChangeAspect="1"/>
          </p:cNvPicPr>
          <p:nvPr/>
        </p:nvPicPr>
        <p:blipFill>
          <a:blip r:embed="rId3"/>
          <a:stretch>
            <a:fillRect/>
          </a:stretch>
        </p:blipFill>
        <p:spPr>
          <a:xfrm>
            <a:off x="2814598" y="1828800"/>
            <a:ext cx="6532323" cy="3200400"/>
          </a:xfrm>
          <a:prstGeom prst="rect">
            <a:avLst/>
          </a:prstGeom>
        </p:spPr>
      </p:pic>
      <p:sp>
        <p:nvSpPr>
          <p:cNvPr id="6" name="Rectangle 5"/>
          <p:cNvSpPr/>
          <p:nvPr/>
        </p:nvSpPr>
        <p:spPr>
          <a:xfrm>
            <a:off x="548640" y="5120640"/>
            <a:ext cx="10515600" cy="914400"/>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A layer's output is the next layer's input — stack it and you have depth.</a:t>
            </a:r>
          </a:p>
        </p:txBody>
      </p:sp>
      <p:pic>
        <p:nvPicPr>
          <p:cNvPr id="7" name="Picture 6">
            <a:extLst>
              <a:ext uri="{FF2B5EF4-FFF2-40B4-BE49-F238E27FC236}">
                <a16:creationId xmlns:a16="http://schemas.microsoft.com/office/drawing/2014/main" id="{55440B74-926C-470A-217F-401D3736D9FB}"/>
              </a:ext>
            </a:extLst>
          </p:cNvPr>
          <p:cNvPicPr>
            <a:picLocks noChangeAspect="1"/>
          </p:cNvPicPr>
          <p:nvPr/>
        </p:nvPicPr>
        <p:blipFill>
          <a:blip r:embed="rId4"/>
          <a:stretch>
            <a:fillRect/>
          </a:stretch>
        </p:blipFill>
        <p:spPr>
          <a:xfrm>
            <a:off x="193031" y="1914144"/>
            <a:ext cx="2566703" cy="1309950"/>
          </a:xfrm>
          <a:prstGeom prst="rect">
            <a:avLst/>
          </a:prstGeom>
          <a:ln>
            <a:solidFill>
              <a:schemeClr val="tx1"/>
            </a:solidFill>
          </a:ln>
        </p:spPr>
      </p:pic>
      <p:cxnSp>
        <p:nvCxnSpPr>
          <p:cNvPr id="9" name="Straight Arrow Connector 8">
            <a:extLst>
              <a:ext uri="{FF2B5EF4-FFF2-40B4-BE49-F238E27FC236}">
                <a16:creationId xmlns:a16="http://schemas.microsoft.com/office/drawing/2014/main" id="{A133478A-F178-AEAA-2ABD-A97DDF9BBB63}"/>
              </a:ext>
            </a:extLst>
          </p:cNvPr>
          <p:cNvCxnSpPr>
            <a:cxnSpLocks/>
          </p:cNvCxnSpPr>
          <p:nvPr/>
        </p:nvCxnSpPr>
        <p:spPr>
          <a:xfrm>
            <a:off x="2582562" y="2384854"/>
            <a:ext cx="1062681" cy="3707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4E46198-F4D5-2873-2D20-5EB142DD6950}"/>
              </a:ext>
            </a:extLst>
          </p:cNvPr>
          <p:cNvCxnSpPr>
            <a:cxnSpLocks/>
          </p:cNvCxnSpPr>
          <p:nvPr/>
        </p:nvCxnSpPr>
        <p:spPr>
          <a:xfrm>
            <a:off x="2582562" y="2755557"/>
            <a:ext cx="1062681" cy="12879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STACKING · YOUR TURN, TWO LAYERS (YOU-DO)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two-layer pass — compute it</a:t>
            </a:r>
          </a:p>
        </p:txBody>
      </p:sp>
      <p:pic>
        <p:nvPicPr>
          <p:cNvPr id="5" name="Picture 4" descr="fig_twolayer_youdo.png"/>
          <p:cNvPicPr>
            <a:picLocks noChangeAspect="1"/>
          </p:cNvPicPr>
          <p:nvPr/>
        </p:nvPicPr>
        <p:blipFill>
          <a:blip r:embed="rId3"/>
          <a:stretch>
            <a:fillRect/>
          </a:stretch>
        </p:blipFill>
        <p:spPr>
          <a:xfrm>
            <a:off x="2814598" y="1828800"/>
            <a:ext cx="6532323" cy="3200400"/>
          </a:xfrm>
          <a:prstGeom prst="rect">
            <a:avLst/>
          </a:prstGeom>
        </p:spPr>
      </p:pic>
      <p:sp>
        <p:nvSpPr>
          <p:cNvPr id="6" name="Rectangle 5"/>
          <p:cNvSpPr/>
          <p:nvPr/>
        </p:nvSpPr>
        <p:spPr>
          <a:xfrm>
            <a:off x="548640" y="5120640"/>
            <a:ext cx="10515600" cy="914400"/>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 Q6. Run layer 1 (W₁x + b₁, then ReLU) for the hidden vector, then layer 2 for y. Worked answer in the notes.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STACKING · WHY GO DEEP</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Depth = a hierarchy of features</a:t>
            </a:r>
          </a:p>
        </p:txBody>
      </p:sp>
      <p:pic>
        <p:nvPicPr>
          <p:cNvPr id="5" name="Picture 4" descr="cat_hierarchy.png"/>
          <p:cNvPicPr>
            <a:picLocks noChangeAspect="1"/>
          </p:cNvPicPr>
          <p:nvPr/>
        </p:nvPicPr>
        <p:blipFill>
          <a:blip r:embed="rId3"/>
          <a:stretch>
            <a:fillRect/>
          </a:stretch>
        </p:blipFill>
        <p:spPr>
          <a:xfrm>
            <a:off x="986790" y="1828800"/>
            <a:ext cx="10187940" cy="3200400"/>
          </a:xfrm>
          <a:prstGeom prst="rect">
            <a:avLst/>
          </a:prstGeom>
        </p:spPr>
      </p:pic>
      <p:sp>
        <p:nvSpPr>
          <p:cNvPr id="6" name="TextBox 5"/>
          <p:cNvSpPr txBox="1"/>
          <p:nvPr/>
        </p:nvSpPr>
        <p:spPr>
          <a:xfrm>
            <a:off x="548640" y="5084064"/>
            <a:ext cx="11064240" cy="411480"/>
          </a:xfrm>
          <a:prstGeom prst="rect">
            <a:avLst/>
          </a:prstGeom>
          <a:noFill/>
        </p:spPr>
        <p:txBody>
          <a:bodyPr wrap="square" anchor="t">
            <a:spAutoFit/>
          </a:bodyPr>
          <a:lstStyle/>
          <a:p>
            <a:pPr algn="ctr"/>
            <a:r>
              <a:rPr sz="1200" b="0" i="1">
                <a:solidFill>
                  <a:srgbClr val="8A9099"/>
                </a:solidFill>
                <a:latin typeface="Avenir Next"/>
              </a:rPr>
              <a:t>one photo, abstracted further at each layer · cat: Alvesgaspar, Wikimedia Commons, CC BY-SA 3.0</a:t>
            </a:r>
          </a:p>
        </p:txBody>
      </p:sp>
      <p:sp>
        <p:nvSpPr>
          <p:cNvPr id="7" name="Rectangle 6"/>
          <p:cNvSpPr/>
          <p:nvPr/>
        </p:nvSpPr>
        <p:spPr>
          <a:xfrm>
            <a:off x="548640" y="5586984"/>
            <a:ext cx="10515600" cy="914400"/>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dirty="0">
                <a:solidFill>
                  <a:srgbClr val="3D444C"/>
                </a:solidFill>
                <a:latin typeface="Avenir Next"/>
              </a:rPr>
              <a:t>No one told it to look at edges first — it LEARNED that edges build into parts, and parts into whole objects. That is why 'deep.'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 · DISCUSSION (PAIR)</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Full circle — and over to your lab</a:t>
            </a:r>
          </a:p>
        </p:txBody>
      </p:sp>
      <p:sp>
        <p:nvSpPr>
          <p:cNvPr id="5" name="TextBox 4"/>
          <p:cNvSpPr txBox="1"/>
          <p:nvPr/>
        </p:nvSpPr>
        <p:spPr>
          <a:xfrm>
            <a:off x="548640" y="1920240"/>
            <a:ext cx="10789920" cy="3401568"/>
          </a:xfrm>
          <a:prstGeom prst="rect">
            <a:avLst/>
          </a:prstGeom>
          <a:noFill/>
        </p:spPr>
        <p:txBody>
          <a:bodyPr wrap="square" anchor="t">
            <a:spAutoFit/>
          </a:bodyPr>
          <a:lstStyle/>
          <a:p>
            <a:pPr>
              <a:spcAft>
                <a:spcPts val="1800"/>
              </a:spcAft>
            </a:pPr>
            <a:r>
              <a:rPr sz="2600" b="1" i="0" dirty="0">
                <a:solidFill>
                  <a:srgbClr val="0E7C7B"/>
                </a:solidFill>
                <a:latin typeface="Avenir Next"/>
              </a:rPr>
              <a:t>•  </a:t>
            </a:r>
            <a:r>
              <a:rPr sz="2600" b="0" i="0" dirty="0">
                <a:solidFill>
                  <a:srgbClr val="1B2025"/>
                </a:solidFill>
                <a:latin typeface="Avenir Next"/>
              </a:rPr>
              <a:t>A neuron multiplies, adds, and bends</a:t>
            </a:r>
          </a:p>
          <a:p>
            <a:pPr>
              <a:spcAft>
                <a:spcPts val="1800"/>
              </a:spcAft>
            </a:pPr>
            <a:r>
              <a:rPr sz="2600" b="1" i="0" dirty="0">
                <a:solidFill>
                  <a:srgbClr val="0E7C7B"/>
                </a:solidFill>
                <a:latin typeface="Avenir Next"/>
              </a:rPr>
              <a:t>•  </a:t>
            </a:r>
            <a:r>
              <a:rPr sz="2600" b="0" i="0" dirty="0">
                <a:solidFill>
                  <a:srgbClr val="1B2025"/>
                </a:solidFill>
                <a:latin typeface="Avenir Next"/>
              </a:rPr>
              <a:t>Stacking layers builds a hierarchy of learned features</a:t>
            </a:r>
          </a:p>
          <a:p>
            <a:pPr>
              <a:spcAft>
                <a:spcPts val="1800"/>
              </a:spcAft>
            </a:pPr>
            <a:r>
              <a:rPr sz="2600" b="1" i="0" dirty="0">
                <a:solidFill>
                  <a:srgbClr val="0E7C7B"/>
                </a:solidFill>
                <a:latin typeface="Avenir Next"/>
              </a:rPr>
              <a:t>•  </a:t>
            </a:r>
            <a:r>
              <a:rPr sz="2600" b="0" i="0" dirty="0">
                <a:solidFill>
                  <a:srgbClr val="1B2025"/>
                </a:solidFill>
                <a:latin typeface="Avenir Next"/>
              </a:rPr>
              <a:t>💬 Your bench: name one </a:t>
            </a:r>
            <a:r>
              <a:rPr lang="en-US" sz="2600" b="0" i="0" dirty="0">
                <a:solidFill>
                  <a:srgbClr val="1B2025"/>
                </a:solidFill>
                <a:latin typeface="Avenir Next"/>
              </a:rPr>
              <a:t>task</a:t>
            </a:r>
            <a:r>
              <a:rPr sz="2600" b="0" i="0" dirty="0">
                <a:solidFill>
                  <a:srgbClr val="1B2025"/>
                </a:solidFill>
                <a:latin typeface="Avenir Next"/>
              </a:rPr>
              <a:t> a network could learn straight from YOUR raw data</a:t>
            </a:r>
          </a:p>
          <a:p>
            <a:pPr>
              <a:spcAft>
                <a:spcPts val="1800"/>
              </a:spcAft>
            </a:pPr>
            <a:r>
              <a:rPr sz="2600" b="1" i="0" dirty="0">
                <a:solidFill>
                  <a:srgbClr val="0E7C7B"/>
                </a:solidFill>
                <a:latin typeface="Avenir Next"/>
              </a:rPr>
              <a:t>•  </a:t>
            </a:r>
            <a:r>
              <a:rPr sz="2600" b="0" i="0" dirty="0">
                <a:solidFill>
                  <a:srgbClr val="1B2025"/>
                </a:solidFill>
                <a:latin typeface="Avenir Next"/>
              </a:rPr>
              <a:t>Next hour (Lecture 2): </a:t>
            </a:r>
            <a:r>
              <a:rPr lang="en-US" sz="2600" b="0" i="0" dirty="0">
                <a:solidFill>
                  <a:srgbClr val="1B2025"/>
                </a:solidFill>
                <a:latin typeface="Avenir Next"/>
              </a:rPr>
              <a:t>how to find the</a:t>
            </a:r>
            <a:r>
              <a:rPr sz="2600" b="0" i="0" dirty="0">
                <a:solidFill>
                  <a:srgbClr val="1B2025"/>
                </a:solidFill>
                <a:latin typeface="Avenir Next"/>
              </a:rPr>
              <a:t> </a:t>
            </a:r>
            <a:r>
              <a:rPr lang="en-US" sz="2600" b="0" i="0" dirty="0">
                <a:solidFill>
                  <a:srgbClr val="1B2025"/>
                </a:solidFill>
                <a:latin typeface="Avenir Next"/>
              </a:rPr>
              <a:t>best </a:t>
            </a:r>
            <a:r>
              <a:rPr sz="2600" b="0" i="0" dirty="0">
                <a:solidFill>
                  <a:srgbClr val="1B2025"/>
                </a:solidFill>
                <a:latin typeface="Avenir Next"/>
              </a:rPr>
              <a:t>weight</a:t>
            </a:r>
            <a:r>
              <a:rPr lang="en-US" sz="2600" b="0" i="0" dirty="0">
                <a:solidFill>
                  <a:srgbClr val="1B2025"/>
                </a:solidFill>
                <a:latin typeface="Avenir Next"/>
              </a:rPr>
              <a:t> setting</a:t>
            </a:r>
            <a:r>
              <a:rPr sz="2600" b="0" i="0" dirty="0">
                <a:solidFill>
                  <a:srgbClr val="1B2025"/>
                </a:solidFill>
                <a:latin typeface="Avenir Next"/>
              </a:rPr>
              <a:t>? The network learns them.</a:t>
            </a:r>
          </a:p>
        </p:txBody>
      </p:sp>
      <p:sp>
        <p:nvSpPr>
          <p:cNvPr id="6" name="Rectangle 5"/>
          <p:cNvSpPr/>
          <p:nvPr/>
        </p:nvSpPr>
        <p:spPr>
          <a:xfrm>
            <a:off x="548640" y="544068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PAIR · </a:t>
            </a:r>
            <a:r>
              <a:rPr sz="1700" b="0" i="0">
                <a:solidFill>
                  <a:srgbClr val="3D444C"/>
                </a:solidFill>
                <a:latin typeface="Avenir Next"/>
              </a:rPr>
              <a:t>Pair → Quiz 1, Q5, in one sentence: how does deep learning differ from the classic ML you use today? Then say which of YOUR lab signals a network could learn. 2 minutes.</a:t>
            </a:r>
          </a:p>
        </p:txBody>
      </p:sp>
    </p:spTree>
  </p:cSld>
  <p:clrMapOvr>
    <a:masterClrMapping/>
  </p:clrMapOvr>
</p:sld>
</file>

<file path=ppt/theme/theme1.xml><?xml version="1.0" encoding="utf-8"?>
<a:theme xmlns:a="http://schemas.openxmlformats.org/drawingml/2006/main" name="MSACL DS301">
  <a:themeElements>
    <a:clrScheme name="MSACL DS301">
      <a:dk1>
        <a:srgbClr val="1B2025"/>
      </a:dk1>
      <a:lt1>
        <a:srgbClr val="FBFBF8"/>
      </a:lt1>
      <a:dk2>
        <a:srgbClr val="3D444C"/>
      </a:dk2>
      <a:lt2>
        <a:srgbClr val="E3F0EF"/>
      </a:lt2>
      <a:accent1>
        <a:srgbClr val="0E7C7B"/>
      </a:accent1>
      <a:accent2>
        <a:srgbClr val="E09E2F"/>
      </a:accent2>
      <a:accent3>
        <a:srgbClr val="C4534F"/>
      </a:accent3>
      <a:accent4>
        <a:srgbClr val="8A9099"/>
      </a:accent4>
      <a:accent5>
        <a:srgbClr val="A9721A"/>
      </a:accent5>
      <a:accent6>
        <a:srgbClr val="D9D9D2"/>
      </a:accent6>
      <a:hlink>
        <a:srgbClr val="0E7C7B"/>
      </a:hlink>
      <a:folHlink>
        <a:srgbClr val="A9721A"/>
      </a:folHlink>
    </a:clrScheme>
    <a:fontScheme name="MSACL DS301">
      <a:majorFont>
        <a:latin typeface="Avenir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3738</Words>
  <Application>Microsoft Macintosh PowerPoint</Application>
  <PresentationFormat>Widescreen</PresentationFormat>
  <Paragraphs>124</Paragraphs>
  <Slides>22</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Avenir Next</vt:lpstr>
      <vt:lpstr>Menlo</vt:lpstr>
      <vt:lpstr>MSACL DS301</vt:lpstr>
      <vt:lpstr>PowerPoint Presentation</vt:lpstr>
      <vt:lpstr>Lixing (lee-shin)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Theory Fundamentals</vt:lpstr>
      <vt:lpstr>Perceptron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 What Is Deep Learning?</dc:title>
  <dc:subject/>
  <dc:creator/>
  <cp:keywords/>
  <dc:description>generated using python-pptx</dc:description>
  <cp:lastModifiedBy>Song, Lixing</cp:lastModifiedBy>
  <cp:revision>39</cp:revision>
  <dcterms:created xsi:type="dcterms:W3CDTF">2013-01-27T09:14:16Z</dcterms:created>
  <dcterms:modified xsi:type="dcterms:W3CDTF">2026-09-24T17:33:24Z</dcterms:modified>
  <cp:category/>
</cp:coreProperties>
</file>